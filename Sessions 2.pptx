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6" r:id="rId2"/>
    <p:sldId id="267" r:id="rId3"/>
    <p:sldId id="268" r:id="rId4"/>
    <p:sldId id="269" r:id="rId5"/>
    <p:sldId id="270" r:id="rId6"/>
    <p:sldId id="271" r:id="rId7"/>
    <p:sldId id="272" r:id="rId8"/>
    <p:sldId id="273" r:id="rId9"/>
    <p:sldId id="274" r:id="rId10"/>
    <p:sldId id="275" r:id="rId11"/>
    <p:sldId id="276" r:id="rId12"/>
    <p:sldId id="27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13" autoAdjust="0"/>
  </p:normalViewPr>
  <p:slideViewPr>
    <p:cSldViewPr snapToGrid="0">
      <p:cViewPr varScale="1">
        <p:scale>
          <a:sx n="82" d="100"/>
          <a:sy n="82" d="100"/>
        </p:scale>
        <p:origin x="171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7A23E7-5A12-420B-95F6-EFF8623B0647}" type="datetimeFigureOut">
              <a:rPr lang="en-US" smtClean="0"/>
              <a:t>5/17/2025</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64A4F2-2940-4151-AA78-9DC4C361972D}" type="slidenum">
              <a:rPr lang="en-US" smtClean="0"/>
              <a:t>‹#›</a:t>
            </a:fld>
            <a:endParaRPr lang="en-US"/>
          </a:p>
        </p:txBody>
      </p:sp>
    </p:spTree>
    <p:extLst>
      <p:ext uri="{BB962C8B-B14F-4D97-AF65-F5344CB8AC3E}">
        <p14:creationId xmlns:p14="http://schemas.microsoft.com/office/powerpoint/2010/main" val="301782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Đọc và viết </a:t>
            </a:r>
            <a:r>
              <a:rPr lang="vi-VN" dirty="0" err="1"/>
              <a:t>text</a:t>
            </a:r>
            <a:r>
              <a:rPr lang="vi-VN" dirty="0"/>
              <a:t> </a:t>
            </a:r>
            <a:r>
              <a:rPr lang="vi-VN" dirty="0" err="1"/>
              <a:t>file</a:t>
            </a:r>
            <a:r>
              <a:rPr lang="vi-VN" dirty="0"/>
              <a:t>	</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1</a:t>
            </a:fld>
            <a:endParaRPr lang="en-US"/>
          </a:p>
        </p:txBody>
      </p:sp>
    </p:spTree>
    <p:extLst>
      <p:ext uri="{BB962C8B-B14F-4D97-AF65-F5344CB8AC3E}">
        <p14:creationId xmlns:p14="http://schemas.microsoft.com/office/powerpoint/2010/main" val="1358830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Định nghĩa và mô tả việc mở và đóng các tập tin văn bản</a:t>
            </a:r>
          </a:p>
          <a:p>
            <a:endParaRPr lang="vi-VN" dirty="0"/>
          </a:p>
          <a:p>
            <a:r>
              <a:rPr lang="vi-VN" dirty="0"/>
              <a:t>Xác định và giải thích các phương pháp đọc tệp văn bản</a:t>
            </a:r>
          </a:p>
          <a:p>
            <a:endParaRPr lang="vi-VN" dirty="0"/>
          </a:p>
          <a:p>
            <a:r>
              <a:rPr lang="vi-VN" dirty="0"/>
              <a:t>Xác định và mô tả các phương pháp để ghi tệp văn bản</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2</a:t>
            </a:fld>
            <a:endParaRPr lang="en-US"/>
          </a:p>
        </p:txBody>
      </p:sp>
    </p:spTree>
    <p:extLst>
      <p:ext uri="{BB962C8B-B14F-4D97-AF65-F5344CB8AC3E}">
        <p14:creationId xmlns:p14="http://schemas.microsoft.com/office/powerpoint/2010/main" val="3218674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Hàm </a:t>
            </a:r>
            <a:r>
              <a:rPr lang="vi-VN" dirty="0" err="1"/>
              <a:t>open</a:t>
            </a:r>
            <a:r>
              <a:rPr lang="vi-VN" dirty="0"/>
              <a:t>() cho phép mở tệp ở nhiều chế độ khác nhau, chẳng hạn như đọc (r), ghi (w) và thêm (a).</a:t>
            </a:r>
          </a:p>
          <a:p>
            <a:endParaRPr lang="vi-VN" dirty="0"/>
          </a:p>
          <a:p>
            <a:r>
              <a:rPr lang="vi-VN" dirty="0"/>
              <a:t>Cú pháp:</a:t>
            </a:r>
          </a:p>
          <a:p>
            <a:endParaRPr lang="vi-VN" dirty="0"/>
          </a:p>
          <a:p>
            <a:r>
              <a:rPr lang="vi-VN" dirty="0" err="1"/>
              <a:t>file_object</a:t>
            </a:r>
            <a:r>
              <a:rPr lang="vi-VN" dirty="0"/>
              <a:t> = mở(đường dẫn tệp, chế độ)</a:t>
            </a:r>
          </a:p>
          <a:p>
            <a:endParaRPr lang="vi-VN" dirty="0"/>
          </a:p>
          <a:p>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3</a:t>
            </a:fld>
            <a:endParaRPr lang="en-US"/>
          </a:p>
        </p:txBody>
      </p:sp>
    </p:spTree>
    <p:extLst>
      <p:ext uri="{BB962C8B-B14F-4D97-AF65-F5344CB8AC3E}">
        <p14:creationId xmlns:p14="http://schemas.microsoft.com/office/powerpoint/2010/main" val="4119456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pPr>
              <a:buNone/>
            </a:pPr>
            <a:r>
              <a:rPr lang="vi-VN" b="1" dirty="0" err="1"/>
              <a:t>with</a:t>
            </a:r>
            <a:r>
              <a:rPr lang="vi-VN" dirty="0"/>
              <a:t> đảm bảo rằng tệp sẽ tự động được đóng sau khi khối lệnh bên trong hoàn thành, kể cả khi xảy ra lỗi.</a:t>
            </a:r>
          </a:p>
          <a:p>
            <a:r>
              <a:rPr lang="vi-VN" dirty="0"/>
              <a:t>Giúp tránh việc quên đóng tệp thủ công bằng </a:t>
            </a:r>
            <a:r>
              <a:rPr lang="vi-VN" b="1" dirty="0" err="1"/>
              <a:t>file.close</a:t>
            </a:r>
            <a:r>
              <a:rPr lang="vi-VN" b="1" dirty="0"/>
              <a:t>()</a:t>
            </a:r>
            <a:r>
              <a:rPr lang="vi-VN" dirty="0"/>
              <a:t>, hạn chế rò rỉ tài nguyên</a:t>
            </a:r>
          </a:p>
          <a:p>
            <a:endParaRPr lang="vi-VN" dirty="0"/>
          </a:p>
          <a:p>
            <a:r>
              <a:rPr lang="vi-VN" dirty="0"/>
              <a:t>So sánh: </a:t>
            </a:r>
            <a:r>
              <a:rPr lang="vi-VN" dirty="0" err="1"/>
              <a:t>with</a:t>
            </a:r>
            <a:r>
              <a:rPr lang="vi-VN" dirty="0"/>
              <a:t> </a:t>
            </a:r>
            <a:r>
              <a:rPr lang="vi-VN" dirty="0" err="1"/>
              <a:t>open</a:t>
            </a:r>
            <a:r>
              <a:rPr lang="vi-VN" dirty="0"/>
              <a:t> sẽ tự động đóng còn </a:t>
            </a:r>
            <a:r>
              <a:rPr lang="vi-VN" dirty="0" err="1"/>
              <a:t>open</a:t>
            </a:r>
            <a:r>
              <a:rPr lang="vi-VN" dirty="0"/>
              <a:t> </a:t>
            </a:r>
            <a:r>
              <a:rPr lang="vi-VN" dirty="0" err="1"/>
              <a:t>slide</a:t>
            </a:r>
            <a:r>
              <a:rPr lang="vi-VN" dirty="0"/>
              <a:t> trước nó sẽ phải dùng </a:t>
            </a:r>
            <a:r>
              <a:rPr lang="vi-VN" dirty="0" err="1"/>
              <a:t>file.close</a:t>
            </a:r>
            <a:r>
              <a:rPr lang="vi-VN" dirty="0"/>
              <a:t>()</a:t>
            </a:r>
          </a:p>
          <a:p>
            <a:endParaRPr lang="vi-VN"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4</a:t>
            </a:fld>
            <a:endParaRPr lang="en-US"/>
          </a:p>
        </p:txBody>
      </p:sp>
    </p:spTree>
    <p:extLst>
      <p:ext uri="{BB962C8B-B14F-4D97-AF65-F5344CB8AC3E}">
        <p14:creationId xmlns:p14="http://schemas.microsoft.com/office/powerpoint/2010/main" val="1378265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dirty="0"/>
          </a:p>
          <a:p>
            <a:r>
              <a:rPr lang="vi-VN" dirty="0"/>
              <a:t>Đối tượng tệp</a:t>
            </a:r>
          </a:p>
          <a:p>
            <a:endParaRPr lang="vi-VN" dirty="0"/>
          </a:p>
          <a:p>
            <a:r>
              <a:rPr lang="vi-VN" dirty="0"/>
              <a:t>Đối tượng đóng vai trò là công cụ mạnh mẽ để tương tác với dữ liệu được lưu trữ trong hệ thống tệp của máy tính.</a:t>
            </a:r>
          </a:p>
          <a:p>
            <a:endParaRPr lang="vi-VN" dirty="0"/>
          </a:p>
          <a:p>
            <a:r>
              <a:rPr lang="vi-VN" dirty="0"/>
              <a:t>Chúng được tạo ra bằng cách sử dụng hàm </a:t>
            </a:r>
            <a:r>
              <a:rPr lang="vi-VN" dirty="0" err="1"/>
              <a:t>open</a:t>
            </a:r>
            <a:r>
              <a:rPr lang="vi-VN" dirty="0"/>
              <a:t>(). Các chế độ phổ biến nhất của hàm </a:t>
            </a:r>
            <a:r>
              <a:rPr lang="vi-VN" dirty="0" err="1"/>
              <a:t>open</a:t>
            </a:r>
            <a:r>
              <a:rPr lang="vi-VN" dirty="0"/>
              <a:t>() như sau:</a:t>
            </a:r>
          </a:p>
          <a:p>
            <a:pPr>
              <a:buNone/>
            </a:pPr>
            <a:r>
              <a:rPr lang="vi-VN" b="1" dirty="0"/>
              <a:t>r (</a:t>
            </a:r>
            <a:r>
              <a:rPr lang="vi-VN" b="1" dirty="0" err="1"/>
              <a:t>Read</a:t>
            </a:r>
            <a:r>
              <a:rPr lang="vi-VN" b="1" dirty="0"/>
              <a:t>)</a:t>
            </a:r>
            <a:r>
              <a:rPr lang="vi-VN" dirty="0"/>
              <a:t>:</a:t>
            </a:r>
          </a:p>
          <a:p>
            <a:pPr>
              <a:buFont typeface="Arial" panose="020B0604020202020204" pitchFamily="34" charset="0"/>
              <a:buChar char="•"/>
            </a:pPr>
            <a:r>
              <a:rPr lang="vi-VN" dirty="0"/>
              <a:t>Mở tệp để đọc.</a:t>
            </a:r>
          </a:p>
          <a:p>
            <a:pPr>
              <a:buFont typeface="Arial" panose="020B0604020202020204" pitchFamily="34" charset="0"/>
              <a:buChar char="•"/>
            </a:pPr>
            <a:r>
              <a:rPr lang="vi-VN" dirty="0"/>
              <a:t>Tệp phải tồn tại, nếu không sẽ báo lỗi.</a:t>
            </a:r>
          </a:p>
          <a:p>
            <a:pPr>
              <a:buFont typeface="Arial" panose="020B0604020202020204" pitchFamily="34" charset="0"/>
              <a:buChar char="•"/>
            </a:pPr>
            <a:r>
              <a:rPr lang="vi-VN" dirty="0"/>
              <a:t>Giống như đọc một cuốn sách - chỉ xem nội dung mà không thay đổi.</a:t>
            </a:r>
          </a:p>
          <a:p>
            <a:pPr>
              <a:buNone/>
            </a:pPr>
            <a:r>
              <a:rPr lang="vi-VN" b="1" dirty="0"/>
              <a:t>w (</a:t>
            </a:r>
            <a:r>
              <a:rPr lang="vi-VN" b="1" dirty="0" err="1"/>
              <a:t>Write</a:t>
            </a:r>
            <a:r>
              <a:rPr lang="vi-VN" b="1" dirty="0"/>
              <a:t>)</a:t>
            </a:r>
            <a:r>
              <a:rPr lang="vi-VN" dirty="0"/>
              <a:t>:</a:t>
            </a:r>
          </a:p>
          <a:p>
            <a:pPr>
              <a:buFont typeface="Arial" panose="020B0604020202020204" pitchFamily="34" charset="0"/>
              <a:buChar char="•"/>
            </a:pPr>
            <a:r>
              <a:rPr lang="vi-VN" dirty="0"/>
              <a:t>Mở tệp để ghi.</a:t>
            </a:r>
          </a:p>
          <a:p>
            <a:pPr>
              <a:buFont typeface="Arial" panose="020B0604020202020204" pitchFamily="34" charset="0"/>
              <a:buChar char="•"/>
            </a:pPr>
            <a:r>
              <a:rPr lang="vi-VN" dirty="0"/>
              <a:t>Nếu tệp đã tồn tại, nó sẽ bị xóa toàn bộ nội dung.</a:t>
            </a:r>
          </a:p>
          <a:p>
            <a:pPr>
              <a:buFont typeface="Arial" panose="020B0604020202020204" pitchFamily="34" charset="0"/>
              <a:buChar char="•"/>
            </a:pPr>
            <a:r>
              <a:rPr lang="vi-VN" dirty="0"/>
              <a:t>Nếu tệp chưa tồn tại, nó sẽ được tạo mới.</a:t>
            </a:r>
          </a:p>
          <a:p>
            <a:pPr>
              <a:buFont typeface="Arial" panose="020B0604020202020204" pitchFamily="34" charset="0"/>
              <a:buChar char="•"/>
            </a:pPr>
            <a:r>
              <a:rPr lang="vi-VN" dirty="0"/>
              <a:t>Tương tự như tạo một cuốn sổ mới - xóa trang cũ trước khi viết.</a:t>
            </a:r>
          </a:p>
          <a:p>
            <a:pPr>
              <a:buNone/>
            </a:pPr>
            <a:r>
              <a:rPr lang="vi-VN" b="1" dirty="0"/>
              <a:t>a (</a:t>
            </a:r>
            <a:r>
              <a:rPr lang="vi-VN" b="1" dirty="0" err="1"/>
              <a:t>Append</a:t>
            </a:r>
            <a:r>
              <a:rPr lang="vi-VN" b="1" dirty="0"/>
              <a:t>)</a:t>
            </a:r>
            <a:r>
              <a:rPr lang="vi-VN" dirty="0"/>
              <a:t>:</a:t>
            </a:r>
          </a:p>
          <a:p>
            <a:pPr>
              <a:buFont typeface="Arial" panose="020B0604020202020204" pitchFamily="34" charset="0"/>
              <a:buChar char="•"/>
            </a:pPr>
            <a:r>
              <a:rPr lang="vi-VN" dirty="0"/>
              <a:t>Mở tệp để thêm nội dung vào cuối.</a:t>
            </a:r>
          </a:p>
          <a:p>
            <a:pPr>
              <a:buFont typeface="Arial" panose="020B0604020202020204" pitchFamily="34" charset="0"/>
              <a:buChar char="•"/>
            </a:pPr>
            <a:r>
              <a:rPr lang="vi-VN" dirty="0"/>
              <a:t>Nếu tệp không tồn tại, nó sẽ được tạo mới.</a:t>
            </a:r>
          </a:p>
          <a:p>
            <a:pPr>
              <a:buFont typeface="Arial" panose="020B0604020202020204" pitchFamily="34" charset="0"/>
              <a:buChar char="•"/>
            </a:pPr>
            <a:r>
              <a:rPr lang="vi-VN" dirty="0"/>
              <a:t>Giống như ghi chú bổ sung vào một cuốn nhật ký - không xóa nội dung cũ.</a:t>
            </a:r>
          </a:p>
          <a:p>
            <a:pPr>
              <a:buNone/>
            </a:pPr>
            <a:r>
              <a:rPr lang="vi-VN" b="1" dirty="0"/>
              <a:t>b (</a:t>
            </a:r>
            <a:r>
              <a:rPr lang="vi-VN" b="1" dirty="0" err="1"/>
              <a:t>Binary</a:t>
            </a:r>
            <a:r>
              <a:rPr lang="vi-VN" b="1" dirty="0"/>
              <a:t>)</a:t>
            </a:r>
            <a:r>
              <a:rPr lang="vi-VN" dirty="0"/>
              <a:t>:</a:t>
            </a:r>
          </a:p>
          <a:p>
            <a:pPr>
              <a:buFont typeface="Arial" panose="020B0604020202020204" pitchFamily="34" charset="0"/>
              <a:buChar char="•"/>
            </a:pPr>
            <a:r>
              <a:rPr lang="vi-VN" dirty="0"/>
              <a:t>Sử dụng khi làm việc với các tệp nhị phân (hình ảnh, âm thanh).</a:t>
            </a:r>
          </a:p>
          <a:p>
            <a:pPr>
              <a:buFont typeface="Arial" panose="020B0604020202020204" pitchFamily="34" charset="0"/>
              <a:buChar char="•"/>
            </a:pPr>
            <a:r>
              <a:rPr lang="vi-VN" dirty="0"/>
              <a:t>Dữ liệu không được xử lý dưới dạng văn bản (</a:t>
            </a:r>
            <a:r>
              <a:rPr lang="vi-VN" dirty="0" err="1"/>
              <a:t>text</a:t>
            </a:r>
            <a:r>
              <a:rPr lang="vi-VN" dirty="0"/>
              <a:t>).</a:t>
            </a:r>
          </a:p>
          <a:p>
            <a:pPr>
              <a:buFont typeface="Arial" panose="020B0604020202020204" pitchFamily="34" charset="0"/>
              <a:buChar char="•"/>
            </a:pPr>
            <a:r>
              <a:rPr lang="vi-VN" dirty="0"/>
              <a:t>Ví dụ: "</a:t>
            </a:r>
            <a:r>
              <a:rPr lang="vi-VN" dirty="0" err="1"/>
              <a:t>rb</a:t>
            </a:r>
            <a:r>
              <a:rPr lang="vi-VN" dirty="0"/>
              <a:t>" để đọc tệp nhị phân, "</a:t>
            </a:r>
            <a:r>
              <a:rPr lang="vi-VN" dirty="0" err="1"/>
              <a:t>wb</a:t>
            </a:r>
            <a:r>
              <a:rPr lang="vi-VN" dirty="0"/>
              <a:t>" để ghi.</a:t>
            </a:r>
          </a:p>
          <a:p>
            <a:pPr>
              <a:buNone/>
            </a:pPr>
            <a:r>
              <a:rPr lang="vi-VN" b="1" dirty="0"/>
              <a:t>t (</a:t>
            </a:r>
            <a:r>
              <a:rPr lang="vi-VN" b="1" dirty="0" err="1"/>
              <a:t>Text</a:t>
            </a:r>
            <a:r>
              <a:rPr lang="vi-VN" b="1" dirty="0"/>
              <a:t>)</a:t>
            </a:r>
            <a:r>
              <a:rPr lang="vi-VN" dirty="0"/>
              <a:t>:</a:t>
            </a:r>
          </a:p>
          <a:p>
            <a:pPr>
              <a:buFont typeface="Arial" panose="020B0604020202020204" pitchFamily="34" charset="0"/>
              <a:buChar char="•"/>
            </a:pPr>
            <a:r>
              <a:rPr lang="vi-VN" dirty="0"/>
              <a:t>Định dạng mặc định để xử lý các tệp văn bản.</a:t>
            </a:r>
          </a:p>
          <a:p>
            <a:pPr>
              <a:buFont typeface="Arial" panose="020B0604020202020204" pitchFamily="34" charset="0"/>
              <a:buChar char="•"/>
            </a:pPr>
            <a:r>
              <a:rPr lang="vi-VN" dirty="0"/>
              <a:t>Dữ liệu được đọc dưới dạng chuỗi (</a:t>
            </a:r>
            <a:r>
              <a:rPr lang="vi-VN" dirty="0" err="1"/>
              <a:t>string</a:t>
            </a:r>
            <a:r>
              <a:rPr lang="vi-VN" dirty="0"/>
              <a:t>).</a:t>
            </a:r>
          </a:p>
          <a:p>
            <a:pPr>
              <a:buFont typeface="Arial" panose="020B0604020202020204" pitchFamily="34" charset="0"/>
              <a:buChar char="•"/>
            </a:pPr>
            <a:r>
              <a:rPr lang="vi-VN" dirty="0"/>
              <a:t>Ví dụ: "</a:t>
            </a:r>
            <a:r>
              <a:rPr lang="vi-VN" dirty="0" err="1"/>
              <a:t>rt</a:t>
            </a:r>
            <a:r>
              <a:rPr lang="vi-VN" dirty="0"/>
              <a:t>" (mặc định là "r") để đọc văn bản.</a:t>
            </a:r>
          </a:p>
          <a:p>
            <a:endParaRPr lang="vi-VN"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5</a:t>
            </a:fld>
            <a:endParaRPr lang="en-US"/>
          </a:p>
        </p:txBody>
      </p:sp>
    </p:spTree>
    <p:extLst>
      <p:ext uri="{BB962C8B-B14F-4D97-AF65-F5344CB8AC3E}">
        <p14:creationId xmlns:p14="http://schemas.microsoft.com/office/powerpoint/2010/main" val="2208316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phương thức </a:t>
            </a:r>
            <a:r>
              <a:rPr lang="vi-VN" dirty="0" err="1"/>
              <a:t>read</a:t>
            </a:r>
            <a:r>
              <a:rPr lang="vi-VN" dirty="0"/>
              <a:t>()</a:t>
            </a:r>
          </a:p>
          <a:p>
            <a:endParaRPr lang="vi-VN" dirty="0"/>
          </a:p>
          <a:p>
            <a:r>
              <a:rPr lang="vi-VN" dirty="0"/>
              <a:t>Trong </a:t>
            </a:r>
            <a:r>
              <a:rPr lang="vi-VN" dirty="0" err="1"/>
              <a:t>Python</a:t>
            </a:r>
            <a:r>
              <a:rPr lang="vi-VN" dirty="0"/>
              <a:t>, phương thức </a:t>
            </a:r>
            <a:r>
              <a:rPr lang="vi-VN" dirty="0" err="1"/>
              <a:t>read</a:t>
            </a:r>
            <a:r>
              <a:rPr lang="vi-VN" dirty="0"/>
              <a:t>() được sử dụng để đọc toàn bộ nội dung của tệp và lưu trữ dưới dạng một chuỗi duy nhất.</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6</a:t>
            </a:fld>
            <a:endParaRPr lang="en-US"/>
          </a:p>
        </p:txBody>
      </p:sp>
    </p:spTree>
    <p:extLst>
      <p:ext uri="{BB962C8B-B14F-4D97-AF65-F5344CB8AC3E}">
        <p14:creationId xmlns:p14="http://schemas.microsoft.com/office/powerpoint/2010/main" val="2543721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Đọc tập tin văn bản [2-3]</a:t>
            </a:r>
          </a:p>
          <a:p>
            <a:endParaRPr lang="vi-VN" dirty="0"/>
          </a:p>
          <a:p>
            <a:r>
              <a:rPr lang="vi-VN" dirty="0"/>
              <a:t>Đọc từng dòng tệp bằng cách sử dụng </a:t>
            </a:r>
            <a:r>
              <a:rPr lang="vi-VN" dirty="0" err="1"/>
              <a:t>readline</a:t>
            </a:r>
            <a:r>
              <a:rPr lang="vi-VN" dirty="0"/>
              <a:t>()</a:t>
            </a:r>
          </a:p>
          <a:p>
            <a:endParaRPr lang="vi-VN" dirty="0"/>
          </a:p>
          <a:p>
            <a:r>
              <a:rPr lang="vi-VN" dirty="0"/>
              <a:t>Hoạt động của phương thức </a:t>
            </a:r>
            <a:r>
              <a:rPr lang="vi-VN" dirty="0" err="1"/>
              <a:t>readline</a:t>
            </a:r>
            <a:r>
              <a:rPr lang="vi-VN" dirty="0"/>
              <a:t>() để đọc từng dòng văn bản như sau:</a:t>
            </a:r>
          </a:p>
          <a:p>
            <a:r>
              <a:rPr lang="vi-VN" dirty="0"/>
              <a:t>Bước 1: Mở tệp</a:t>
            </a:r>
          </a:p>
          <a:p>
            <a:endParaRPr lang="vi-VN" dirty="0"/>
          </a:p>
          <a:p>
            <a:r>
              <a:rPr lang="vi-VN" dirty="0"/>
              <a:t>Bắt đầu bằng cách mở tệp mong muốn có kiểu thích hợp, thường là </a:t>
            </a:r>
            <a:r>
              <a:rPr lang="vi-VN" dirty="0" err="1"/>
              <a:t>read</a:t>
            </a:r>
            <a:r>
              <a:rPr lang="vi-VN" dirty="0"/>
              <a:t> (r), bằng cách sử dụng hàm </a:t>
            </a:r>
            <a:r>
              <a:rPr lang="vi-VN" dirty="0" err="1"/>
              <a:t>open</a:t>
            </a:r>
            <a:r>
              <a:rPr lang="vi-VN" dirty="0"/>
              <a:t>().</a:t>
            </a:r>
          </a:p>
          <a:p>
            <a:endParaRPr lang="vi-VN" dirty="0"/>
          </a:p>
          <a:p>
            <a:r>
              <a:rPr lang="vi-VN" dirty="0"/>
              <a:t>Bước 2: Đọc từng dòng</a:t>
            </a:r>
          </a:p>
          <a:p>
            <a:endParaRPr lang="vi-VN" dirty="0"/>
          </a:p>
          <a:p>
            <a:r>
              <a:rPr lang="vi-VN" dirty="0"/>
              <a:t>Sử dụng vòng lặp để lặp qua dữ liệu và đọc từng dòng bằng phương pháp </a:t>
            </a:r>
            <a:r>
              <a:rPr lang="vi-VN" dirty="0" err="1"/>
              <a:t>readline</a:t>
            </a:r>
            <a:r>
              <a:rPr lang="vi-VN" dirty="0"/>
              <a:t>. Phương pháp này đọc cho đến khi tìm thấy ký tự xuống dòng (\n).</a:t>
            </a:r>
          </a:p>
          <a:p>
            <a:endParaRPr lang="vi-VN" dirty="0"/>
          </a:p>
          <a:p>
            <a:r>
              <a:rPr lang="vi-VN" dirty="0"/>
              <a:t>Bước 3: Lớp</a:t>
            </a:r>
          </a:p>
          <a:p>
            <a:endParaRPr lang="vi-VN" dirty="0"/>
          </a:p>
          <a:p>
            <a:r>
              <a:rPr lang="vi-VN" dirty="0"/>
              <a:t>Trong vòng lặp, xử lý từng dòng theo yêu cầu. Các nhà phát triển có thể thực hiện nhiều tác vụ khác nhau, chẳng hạn như quản lý dữ liệu, phân tích hoặc in ấn.</a:t>
            </a:r>
          </a:p>
          <a:p>
            <a:endParaRPr lang="vi-VN" dirty="0"/>
          </a:p>
          <a:p>
            <a:r>
              <a:rPr lang="vi-VN" dirty="0"/>
              <a:t>Bước 4: Đóng tệp</a:t>
            </a:r>
          </a:p>
          <a:p>
            <a:endParaRPr lang="vi-VN" dirty="0"/>
          </a:p>
          <a:p>
            <a:r>
              <a:rPr lang="vi-VN" dirty="0"/>
              <a:t>Đừng quên đóng tệp bằng phương thức </a:t>
            </a:r>
            <a:r>
              <a:rPr lang="vi-VN" dirty="0" err="1"/>
              <a:t>close</a:t>
            </a:r>
            <a:r>
              <a:rPr lang="vi-VN" dirty="0"/>
              <a:t>() sau khi xử lý tất cả các dòng để giải phóng tài nguyên.</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7</a:t>
            </a:fld>
            <a:endParaRPr lang="en-US"/>
          </a:p>
        </p:txBody>
      </p:sp>
    </p:spTree>
    <p:extLst>
      <p:ext uri="{BB962C8B-B14F-4D97-AF65-F5344CB8AC3E}">
        <p14:creationId xmlns:p14="http://schemas.microsoft.com/office/powerpoint/2010/main" val="1750827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Đọc Nội dung Tệp vào Danh sách Sử dụng </a:t>
            </a:r>
            <a:r>
              <a:rPr lang="vi-VN" dirty="0" err="1"/>
              <a:t>readlines</a:t>
            </a:r>
            <a:r>
              <a:rPr lang="vi-VN" dirty="0"/>
              <a:t>()</a:t>
            </a:r>
          </a:p>
          <a:p>
            <a:endParaRPr lang="vi-VN" dirty="0"/>
          </a:p>
          <a:p>
            <a:r>
              <a:rPr lang="vi-VN" dirty="0"/>
              <a:t>Hoạt động của phương thức </a:t>
            </a:r>
            <a:r>
              <a:rPr lang="vi-VN" dirty="0" err="1"/>
              <a:t>readlines</a:t>
            </a:r>
            <a:r>
              <a:rPr lang="vi-VN" dirty="0"/>
              <a:t>() để đọc nội dung tệp vào danh sách như sau:</a:t>
            </a:r>
          </a:p>
          <a:p>
            <a:endParaRPr lang="vi-VN" dirty="0"/>
          </a:p>
          <a:p>
            <a:r>
              <a:rPr lang="vi-VN" dirty="0"/>
              <a:t>Bước 1: Mở tệp</a:t>
            </a:r>
          </a:p>
          <a:p>
            <a:endParaRPr lang="vi-VN" dirty="0"/>
          </a:p>
          <a:p>
            <a:r>
              <a:rPr lang="vi-VN" dirty="0"/>
              <a:t>Để bắt đầu, hãy mở tệp ở chế độ đọc (r) bằng hàm </a:t>
            </a:r>
            <a:r>
              <a:rPr lang="vi-VN" dirty="0" err="1"/>
              <a:t>open</a:t>
            </a:r>
            <a:r>
              <a:rPr lang="vi-VN" dirty="0"/>
              <a:t>().</a:t>
            </a:r>
          </a:p>
          <a:p>
            <a:endParaRPr lang="vi-VN" dirty="0"/>
          </a:p>
          <a:p>
            <a:r>
              <a:rPr lang="vi-VN" dirty="0"/>
              <a:t>Bước 2: Đọc tất cả các dòng</a:t>
            </a:r>
          </a:p>
          <a:p>
            <a:endParaRPr lang="vi-VN" dirty="0"/>
          </a:p>
          <a:p>
            <a:r>
              <a:rPr lang="vi-VN" dirty="0"/>
              <a:t>Sử dụng phương thức </a:t>
            </a:r>
            <a:r>
              <a:rPr lang="vi-VN" dirty="0" err="1"/>
              <a:t>readlines</a:t>
            </a:r>
            <a:r>
              <a:rPr lang="vi-VN" dirty="0"/>
              <a:t>() để đọc tất cả các dòng từ tệp cùng lúc và lưu trữ chúng trong một danh sách. Mỗi dòng trở thành một mục riêng biệt trong danh sách.</a:t>
            </a:r>
          </a:p>
          <a:p>
            <a:endParaRPr lang="vi-VN" dirty="0"/>
          </a:p>
          <a:p>
            <a:r>
              <a:rPr lang="vi-VN" dirty="0"/>
              <a:t>Bước 3: Sửa đổi danh sách</a:t>
            </a:r>
          </a:p>
          <a:p>
            <a:endParaRPr lang="vi-VN" dirty="0"/>
          </a:p>
          <a:p>
            <a:r>
              <a:rPr lang="vi-VN" dirty="0"/>
              <a:t>Sau khi dữ liệu được lưu trữ trong danh sách, các nhà phát triển có thể linh hoạt sửa đổi dữ liệu theo yêu cầu. Họ có thể điều hướng, phân tích hoặc thay thế các phần tử trong danh sách.</a:t>
            </a:r>
          </a:p>
          <a:p>
            <a:endParaRPr lang="vi-VN" dirty="0"/>
          </a:p>
          <a:p>
            <a:r>
              <a:rPr lang="vi-VN" dirty="0"/>
              <a:t>Bước 4: Đóng tệp</a:t>
            </a:r>
          </a:p>
          <a:p>
            <a:endParaRPr lang="vi-VN" dirty="0"/>
          </a:p>
          <a:p>
            <a:r>
              <a:rPr lang="vi-VN" dirty="0"/>
              <a:t>Sau khi xử lý nội dung của tệp, hãy nhớ đóng tệp bằng phương thức </a:t>
            </a:r>
            <a:r>
              <a:rPr lang="vi-VN" dirty="0" err="1"/>
              <a:t>close</a:t>
            </a:r>
            <a:r>
              <a:rPr lang="vi-VN" dirty="0"/>
              <a:t>() để giải phóng tài nguyên hệ thống.</a:t>
            </a:r>
          </a:p>
          <a:p>
            <a:r>
              <a:rPr lang="vi-VN" dirty="0"/>
              <a:t>\</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8</a:t>
            </a:fld>
            <a:endParaRPr lang="en-US"/>
          </a:p>
        </p:txBody>
      </p:sp>
    </p:spTree>
    <p:extLst>
      <p:ext uri="{BB962C8B-B14F-4D97-AF65-F5344CB8AC3E}">
        <p14:creationId xmlns:p14="http://schemas.microsoft.com/office/powerpoint/2010/main" val="2621399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phương thức </a:t>
            </a:r>
            <a:r>
              <a:rPr lang="vi-VN" dirty="0" err="1"/>
              <a:t>write</a:t>
            </a:r>
            <a:r>
              <a:rPr lang="vi-VN" dirty="0"/>
              <a:t>()</a:t>
            </a:r>
          </a:p>
          <a:p>
            <a:endParaRPr lang="vi-VN" dirty="0"/>
          </a:p>
          <a:p>
            <a:r>
              <a:rPr lang="vi-VN" dirty="0"/>
              <a:t>Phương thức </a:t>
            </a:r>
            <a:r>
              <a:rPr lang="vi-VN" dirty="0" err="1"/>
              <a:t>write</a:t>
            </a:r>
            <a:r>
              <a:rPr lang="vi-VN" dirty="0"/>
              <a:t>() cho phép ghi nội dung vào tệp văn bản.</a:t>
            </a:r>
          </a:p>
          <a:p>
            <a:endParaRPr lang="vi-VN" dirty="0"/>
          </a:p>
          <a:p>
            <a:r>
              <a:rPr lang="vi-VN" dirty="0"/>
              <a:t>Phương pháp này tạo thành quy trình cốt lõi để tạo, sửa đổi hoặc mở rộng dữ liệu trong một tệp.</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9</a:t>
            </a:fld>
            <a:endParaRPr lang="en-US"/>
          </a:p>
        </p:txBody>
      </p:sp>
    </p:spTree>
    <p:extLst>
      <p:ext uri="{BB962C8B-B14F-4D97-AF65-F5344CB8AC3E}">
        <p14:creationId xmlns:p14="http://schemas.microsoft.com/office/powerpoint/2010/main" val="1682715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err="1"/>
              <a:t>writelines</a:t>
            </a:r>
            <a:r>
              <a:rPr lang="vi-VN" dirty="0"/>
              <a:t>() Phương thức</a:t>
            </a:r>
          </a:p>
          <a:p>
            <a:endParaRPr lang="vi-VN" dirty="0"/>
          </a:p>
          <a:p>
            <a:r>
              <a:rPr lang="vi-VN" dirty="0"/>
              <a:t>Phương thức </a:t>
            </a:r>
            <a:r>
              <a:rPr lang="vi-VN" dirty="0" err="1"/>
              <a:t>writelines</a:t>
            </a:r>
            <a:r>
              <a:rPr lang="vi-VN" dirty="0"/>
              <a:t>() trong </a:t>
            </a:r>
            <a:r>
              <a:rPr lang="vi-VN" dirty="0" err="1"/>
              <a:t>Python</a:t>
            </a:r>
            <a:r>
              <a:rPr lang="vi-VN" dirty="0"/>
              <a:t> ghi một danh sách các chuỗi hoặc một đối tượng lặp lại (như danh sách hoặc trình tạo) vào một tệp văn bản.</a:t>
            </a:r>
          </a:p>
          <a:p>
            <a:endParaRPr lang="vi-VN" dirty="0"/>
          </a:p>
          <a:p>
            <a:r>
              <a:rPr lang="vi-VN" dirty="0"/>
              <a:t>Phương pháp này đặc biệt có giá trị khi các nhà phát triển phải viết nhiều dòng văn bản vào một tệp một cách hiệu quả.</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10</a:t>
            </a:fld>
            <a:endParaRPr lang="en-US"/>
          </a:p>
        </p:txBody>
      </p:sp>
    </p:spTree>
    <p:extLst>
      <p:ext uri="{BB962C8B-B14F-4D97-AF65-F5344CB8AC3E}">
        <p14:creationId xmlns:p14="http://schemas.microsoft.com/office/powerpoint/2010/main" val="610856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Ghi vào một tập tin với định dạng</a:t>
            </a:r>
          </a:p>
          <a:p>
            <a:endParaRPr lang="vi-VN" dirty="0"/>
          </a:p>
          <a:p>
            <a:r>
              <a:rPr lang="vi-VN" dirty="0"/>
              <a:t>Viết trong một tài liệu được định dạng giúp thêm các biến số và thành phần động vào văn bản.</a:t>
            </a:r>
          </a:p>
          <a:p>
            <a:endParaRPr lang="vi-VN" dirty="0"/>
          </a:p>
          <a:p>
            <a:r>
              <a:rPr lang="vi-VN" dirty="0"/>
              <a:t>Điều này có thể đạt được thông qua định dạng chuỗi. Hai cách tiếp cận phổ biến để định dạng chuỗi trong </a:t>
            </a:r>
            <a:r>
              <a:rPr lang="vi-VN" dirty="0" err="1"/>
              <a:t>Python</a:t>
            </a:r>
            <a:r>
              <a:rPr lang="vi-VN" dirty="0"/>
              <a:t> như sau:</a:t>
            </a:r>
          </a:p>
          <a:p>
            <a:endParaRPr lang="vi-VN" dirty="0"/>
          </a:p>
          <a:p>
            <a:r>
              <a:rPr lang="vi-VN" b="1" dirty="0"/>
              <a:t>Viết dữ liệu bằng cách sử dụng định dạng mảng (đã cũ, ít phổ biến), ví dụ: </a:t>
            </a:r>
            <a:r>
              <a:rPr lang="en-US" b="1" dirty="0"/>
              <a:t>"</a:t>
            </a:r>
            <a:r>
              <a:rPr lang="en-US" b="1" dirty="0" err="1"/>
              <a:t>Tên</a:t>
            </a:r>
            <a:r>
              <a:rPr lang="en-US" b="1" dirty="0"/>
              <a:t>: %s, </a:t>
            </a:r>
            <a:r>
              <a:rPr lang="en-US" b="1" dirty="0" err="1"/>
              <a:t>Tuổi</a:t>
            </a:r>
            <a:r>
              <a:rPr lang="en-US" b="1" dirty="0"/>
              <a:t>: %d" % (name, age)</a:t>
            </a:r>
            <a:endParaRPr lang="vi-VN" b="1" dirty="0"/>
          </a:p>
          <a:p>
            <a:endParaRPr lang="vi-VN" b="1" dirty="0"/>
          </a:p>
          <a:p>
            <a:r>
              <a:rPr lang="vi-VN" b="1" dirty="0"/>
              <a:t>Ghi vào Tệp Sử dụng Chuỗi F (mới), ví dụ: </a:t>
            </a:r>
            <a:r>
              <a:rPr lang="vi-VN" b="1" dirty="0" err="1"/>
              <a:t>f"Tên</a:t>
            </a:r>
            <a:r>
              <a:rPr lang="vi-VN" b="1" dirty="0"/>
              <a:t>: {</a:t>
            </a:r>
            <a:r>
              <a:rPr lang="vi-VN" b="1" dirty="0" err="1"/>
              <a:t>name</a:t>
            </a:r>
            <a:r>
              <a:rPr lang="vi-VN" b="1" dirty="0"/>
              <a:t>}, Tuổi: {</a:t>
            </a:r>
            <a:r>
              <a:rPr lang="vi-VN" b="1" dirty="0" err="1"/>
              <a:t>age</a:t>
            </a:r>
            <a:r>
              <a:rPr lang="vi-VN" b="1" dirty="0"/>
              <a:t>}"</a:t>
            </a:r>
            <a:endParaRPr lang="en-US" b="1"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11</a:t>
            </a:fld>
            <a:endParaRPr lang="en-US"/>
          </a:p>
        </p:txBody>
      </p:sp>
    </p:spTree>
    <p:extLst>
      <p:ext uri="{BB962C8B-B14F-4D97-AF65-F5344CB8AC3E}">
        <p14:creationId xmlns:p14="http://schemas.microsoft.com/office/powerpoint/2010/main" val="3993068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pPr marL="228600" indent="-228600">
              <a:buFont typeface="+mj-lt"/>
              <a:buAutoNum type="arabicPeriod"/>
            </a:pPr>
            <a:r>
              <a:rPr lang="vi-VN" dirty="0"/>
              <a:t>Hàm </a:t>
            </a:r>
            <a:r>
              <a:rPr lang="vi-VN" dirty="0" err="1"/>
              <a:t>open</a:t>
            </a:r>
            <a:r>
              <a:rPr lang="vi-VN" dirty="0"/>
              <a:t>() được sử dụng để truy cập vào một tệp có định dạng nhất định để đọc hoặc ghi nội dung của tệp.</a:t>
            </a:r>
          </a:p>
          <a:p>
            <a:pPr marL="228600" indent="-228600">
              <a:buFont typeface="+mj-lt"/>
              <a:buAutoNum type="arabicPeriod"/>
            </a:pPr>
            <a:endParaRPr lang="vi-VN" dirty="0"/>
          </a:p>
          <a:p>
            <a:pPr marL="228600" indent="-228600">
              <a:buFont typeface="+mj-lt"/>
              <a:buAutoNum type="arabicPeriod"/>
            </a:pPr>
            <a:r>
              <a:rPr lang="vi-VN" dirty="0"/>
              <a:t>Câu lệnh </a:t>
            </a:r>
            <a:r>
              <a:rPr lang="vi-VN" dirty="0" err="1"/>
              <a:t>with</a:t>
            </a:r>
            <a:r>
              <a:rPr lang="vi-VN" dirty="0"/>
              <a:t> đóng vai trò như một trình quản lý ngữ cảnh, đảm bảo xử lý tệp hiệu quả bằng cách tự động quản lý việc mở và đóng tệp.</a:t>
            </a:r>
          </a:p>
          <a:p>
            <a:pPr marL="228600" indent="-228600">
              <a:buFont typeface="+mj-lt"/>
              <a:buAutoNum type="arabicPeriod"/>
            </a:pPr>
            <a:endParaRPr lang="vi-VN" dirty="0"/>
          </a:p>
          <a:p>
            <a:pPr marL="228600" indent="-228600">
              <a:buFont typeface="+mj-lt"/>
              <a:buAutoNum type="arabicPeriod"/>
            </a:pPr>
            <a:r>
              <a:rPr lang="vi-VN" dirty="0"/>
              <a:t>Đối tượng tệp biểu diễn dữ liệu mở và cho phép nhiều tương tác khác nhau như đọc, ghi và quản lý nội dung dữ liệu.</a:t>
            </a:r>
          </a:p>
          <a:p>
            <a:pPr marL="228600" indent="-228600">
              <a:buFont typeface="+mj-lt"/>
              <a:buAutoNum type="arabicPeriod"/>
            </a:pPr>
            <a:endParaRPr lang="vi-VN" dirty="0"/>
          </a:p>
          <a:p>
            <a:pPr marL="228600" indent="-228600">
              <a:buFont typeface="+mj-lt"/>
              <a:buAutoNum type="arabicPeriod"/>
            </a:pPr>
            <a:r>
              <a:rPr lang="vi-VN" dirty="0"/>
              <a:t>Đối với việc đọc, các phương pháp như </a:t>
            </a:r>
            <a:r>
              <a:rPr lang="vi-VN" dirty="0" err="1"/>
              <a:t>read</a:t>
            </a:r>
            <a:r>
              <a:rPr lang="vi-VN" dirty="0"/>
              <a:t>() có thể được sử dụng để đọc toàn bộ nội dung,</a:t>
            </a:r>
          </a:p>
          <a:p>
            <a:pPr marL="228600" indent="-228600">
              <a:buFont typeface="+mj-lt"/>
              <a:buAutoNum type="arabicPeriod"/>
            </a:pPr>
            <a:endParaRPr lang="vi-VN" dirty="0"/>
          </a:p>
          <a:p>
            <a:pPr marL="228600" indent="-228600">
              <a:buFont typeface="+mj-lt"/>
              <a:buAutoNum type="arabicPeriod"/>
            </a:pPr>
            <a:r>
              <a:rPr lang="vi-VN" dirty="0" err="1"/>
              <a:t>readline</a:t>
            </a:r>
            <a:r>
              <a:rPr lang="vi-VN" dirty="0"/>
              <a:t>() có thể được sử dụng để đọc một dòng và </a:t>
            </a:r>
            <a:r>
              <a:rPr lang="vi-VN" dirty="0" err="1"/>
              <a:t>readlines</a:t>
            </a:r>
            <a:r>
              <a:rPr lang="vi-VN" dirty="0"/>
              <a:t>() có thể được sử dụng để đọc các dòng trong một tài liệu.</a:t>
            </a:r>
          </a:p>
          <a:p>
            <a:pPr marL="228600" indent="-228600">
              <a:buFont typeface="+mj-lt"/>
              <a:buAutoNum type="arabicPeriod"/>
            </a:pPr>
            <a:endParaRPr lang="vi-VN" dirty="0"/>
          </a:p>
          <a:p>
            <a:pPr marL="228600" indent="-228600">
              <a:buFont typeface="+mj-lt"/>
              <a:buAutoNum type="arabicPeriod"/>
            </a:pPr>
            <a:r>
              <a:rPr lang="vi-VN" dirty="0"/>
              <a:t>Phương thức </a:t>
            </a:r>
            <a:r>
              <a:rPr lang="vi-VN" dirty="0" err="1"/>
              <a:t>write</a:t>
            </a:r>
            <a:r>
              <a:rPr lang="vi-VN" dirty="0"/>
              <a:t> bao gồm </a:t>
            </a:r>
            <a:r>
              <a:rPr lang="vi-VN" dirty="0" err="1"/>
              <a:t>write</a:t>
            </a:r>
            <a:r>
              <a:rPr lang="vi-VN" dirty="0"/>
              <a:t>() (chèn một chuỗi), </a:t>
            </a:r>
            <a:r>
              <a:rPr lang="vi-VN" dirty="0" err="1"/>
              <a:t>writelines</a:t>
            </a:r>
            <a:r>
              <a:rPr lang="vi-VN" dirty="0"/>
              <a:t>() (chèn một danh sách các chuỗi) và các tùy chọn chèn nội dung động.</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12</a:t>
            </a:fld>
            <a:endParaRPr lang="en-US"/>
          </a:p>
        </p:txBody>
      </p:sp>
    </p:spTree>
    <p:extLst>
      <p:ext uri="{BB962C8B-B14F-4D97-AF65-F5344CB8AC3E}">
        <p14:creationId xmlns:p14="http://schemas.microsoft.com/office/powerpoint/2010/main" val="33764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475A763-7965-9DB5-FB88-036D189F52F7}"/>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066D7725-23E6-D225-2B4A-E036581913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DE0995BB-080E-EC7F-72C9-D06E67C6CCFC}"/>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5" name="Chỗ dành sẵn cho Chân trang 4">
            <a:extLst>
              <a:ext uri="{FF2B5EF4-FFF2-40B4-BE49-F238E27FC236}">
                <a16:creationId xmlns:a16="http://schemas.microsoft.com/office/drawing/2014/main" id="{E4C6FFFA-47E6-202D-C8F9-6F59FC96F479}"/>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C915D878-1C47-8062-6C1B-72AD45F811B3}"/>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878423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4F58316-285C-67B3-F3EE-1D2EA6E2BD0E}"/>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6F039D2D-CD6F-2174-B574-0E8C0A088365}"/>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5AA98F0E-1F38-453C-AA96-25A547D8AD4F}"/>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5" name="Chỗ dành sẵn cho Chân trang 4">
            <a:extLst>
              <a:ext uri="{FF2B5EF4-FFF2-40B4-BE49-F238E27FC236}">
                <a16:creationId xmlns:a16="http://schemas.microsoft.com/office/drawing/2014/main" id="{3669D305-A7FB-9702-CA3A-1CC0CB1BB56F}"/>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14CF9CC9-4EFC-7A80-9751-25C7604F49DD}"/>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2132364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E6C63DB-1FFC-1C8D-E87E-867CE150A332}"/>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0B1E81CE-B06E-9A9A-6F73-BC8E0AC4E3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53B8A4AE-B9C4-C82C-74BC-251466B85F3E}"/>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5" name="Chỗ dành sẵn cho Chân trang 4">
            <a:extLst>
              <a:ext uri="{FF2B5EF4-FFF2-40B4-BE49-F238E27FC236}">
                <a16:creationId xmlns:a16="http://schemas.microsoft.com/office/drawing/2014/main" id="{911078FF-C13D-FAA7-5D9B-68BBA5712AAB}"/>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27B4BAE9-A21E-892E-9099-F8C5E26FE876}"/>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1222941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024FEC3-72B8-3554-0179-0CE2F8091D98}"/>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3451C313-DF02-0A36-E38F-8D11C55EDCF7}"/>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5147927A-FB5F-3953-7051-CD4C56497EE5}"/>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1FB8523D-9558-55F5-3122-542F4E695073}"/>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6" name="Chỗ dành sẵn cho Chân trang 5">
            <a:extLst>
              <a:ext uri="{FF2B5EF4-FFF2-40B4-BE49-F238E27FC236}">
                <a16:creationId xmlns:a16="http://schemas.microsoft.com/office/drawing/2014/main" id="{2EBD4D20-0DDE-7E81-42DC-909535B734C2}"/>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FC51983A-4CF6-BBAF-2C15-7BBB206F26E6}"/>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134227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A549B72-2566-A1A6-F2E9-BD56D62CCE9A}"/>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F1D99E5B-50FA-0A75-E98B-EDA30D726C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22E74B16-7FDC-B6E5-FBD0-569E81DF212A}"/>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6B9A3DA2-F604-F635-B1F6-ABEB8031E5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2F01A8CC-0324-D440-58D0-28EDA2FB7BEB}"/>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2C6DB91C-81B4-E07D-5282-9CA36D9FA8B6}"/>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8" name="Chỗ dành sẵn cho Chân trang 7">
            <a:extLst>
              <a:ext uri="{FF2B5EF4-FFF2-40B4-BE49-F238E27FC236}">
                <a16:creationId xmlns:a16="http://schemas.microsoft.com/office/drawing/2014/main" id="{5C3DE830-27B8-0BCE-5FC6-42697FE6EB72}"/>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92E7BFC0-8F5B-8C7B-02E6-C72D1D1E7322}"/>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87876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F4AE8A3-1AF0-0D07-2AD8-4D76F09AE0C4}"/>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A7CB8869-A6EB-E4E9-B726-CC155C28F583}"/>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4" name="Chỗ dành sẵn cho Chân trang 3">
            <a:extLst>
              <a:ext uri="{FF2B5EF4-FFF2-40B4-BE49-F238E27FC236}">
                <a16:creationId xmlns:a16="http://schemas.microsoft.com/office/drawing/2014/main" id="{904D26AF-4DA3-2023-57AC-C5F3F6FE8F11}"/>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7BBD4810-9CF4-FE44-7B47-C8495787E979}"/>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471105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F8CAB58A-B7FD-68DF-5605-BA146FBB410D}"/>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3" name="Chỗ dành sẵn cho Chân trang 2">
            <a:extLst>
              <a:ext uri="{FF2B5EF4-FFF2-40B4-BE49-F238E27FC236}">
                <a16:creationId xmlns:a16="http://schemas.microsoft.com/office/drawing/2014/main" id="{C678DDE6-967D-94B2-5996-1D288AD3C01F}"/>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7DFC9CFD-E643-8A24-5F0F-08CF35F60CC5}"/>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1143553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5E81ADA-2CE5-1307-4880-079621D7D799}"/>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BAF554CE-D53C-EE33-CF44-172342074F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CD25CA0A-DDA3-3E4A-83D1-D8072924C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17C60CD9-B017-1D2D-BAC1-EC9955A150B4}"/>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6" name="Chỗ dành sẵn cho Chân trang 5">
            <a:extLst>
              <a:ext uri="{FF2B5EF4-FFF2-40B4-BE49-F238E27FC236}">
                <a16:creationId xmlns:a16="http://schemas.microsoft.com/office/drawing/2014/main" id="{5654073D-B703-C312-9D4C-A3E781C5A2B3}"/>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684C5E62-3438-48D2-1C04-1F1614181C9E}"/>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534630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AD47D75-5DA2-308B-EC9F-5AFDB531AA12}"/>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480B4DE6-ADF7-1B09-F2B8-CF20D38085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45161105-3875-32A7-87E2-3DD292AF84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6ADC44F1-4EFF-BD4F-AA07-E25639683AF0}"/>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6" name="Chỗ dành sẵn cho Chân trang 5">
            <a:extLst>
              <a:ext uri="{FF2B5EF4-FFF2-40B4-BE49-F238E27FC236}">
                <a16:creationId xmlns:a16="http://schemas.microsoft.com/office/drawing/2014/main" id="{5312921D-3489-3921-35FA-AAFB6719A8E6}"/>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240DC39D-9FC5-75B4-B517-52CF6192C9D6}"/>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2063173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5A5AC1B-189E-71E0-C240-1ADEE7A6CC08}"/>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B30F3016-B88E-C83F-AEBB-743A573E7FB6}"/>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B0F10CB2-C5D5-561F-FE75-C455FD404A33}"/>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5" name="Chỗ dành sẵn cho Chân trang 4">
            <a:extLst>
              <a:ext uri="{FF2B5EF4-FFF2-40B4-BE49-F238E27FC236}">
                <a16:creationId xmlns:a16="http://schemas.microsoft.com/office/drawing/2014/main" id="{34664E52-4068-078C-86BB-5ACB1F559855}"/>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1D856E65-CB66-5B8E-5207-34C215A81F4F}"/>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283161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D7E96E05-2D3A-52CC-AA3B-6A505D4F6491}"/>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AAC29CFC-9DA0-1DFE-1439-7185B5472902}"/>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2DA33553-A2D5-A98E-2B9F-2456E8269817}"/>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5" name="Chỗ dành sẵn cho Chân trang 4">
            <a:extLst>
              <a:ext uri="{FF2B5EF4-FFF2-40B4-BE49-F238E27FC236}">
                <a16:creationId xmlns:a16="http://schemas.microsoft.com/office/drawing/2014/main" id="{97548614-42F9-201B-1AAD-D725F19BCCAA}"/>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739A33DB-802B-A5E1-703E-2B149BEDDDE9}"/>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632995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7" y="6400799"/>
            <a:ext cx="12189460" cy="457200"/>
          </a:xfrm>
          <a:custGeom>
            <a:avLst/>
            <a:gdLst/>
            <a:ahLst/>
            <a:cxnLst/>
            <a:rect l="l" t="t" r="r" b="b"/>
            <a:pathLst>
              <a:path w="12189460" h="457200">
                <a:moveTo>
                  <a:pt x="12188952" y="0"/>
                </a:moveTo>
                <a:lnTo>
                  <a:pt x="0" y="0"/>
                </a:lnTo>
                <a:lnTo>
                  <a:pt x="0" y="457200"/>
                </a:lnTo>
                <a:lnTo>
                  <a:pt x="12188952" y="457200"/>
                </a:lnTo>
                <a:lnTo>
                  <a:pt x="12188952" y="0"/>
                </a:lnTo>
                <a:close/>
              </a:path>
            </a:pathLst>
          </a:custGeom>
          <a:solidFill>
            <a:srgbClr val="BC572C"/>
          </a:solidFill>
        </p:spPr>
        <p:txBody>
          <a:bodyPr wrap="square" lIns="0" tIns="0" rIns="0" bIns="0" rtlCol="0"/>
          <a:lstStyle/>
          <a:p>
            <a:endParaRPr/>
          </a:p>
        </p:txBody>
      </p:sp>
      <p:sp>
        <p:nvSpPr>
          <p:cNvPr id="17" name="bg object 17"/>
          <p:cNvSpPr/>
          <p:nvPr/>
        </p:nvSpPr>
        <p:spPr>
          <a:xfrm>
            <a:off x="0" y="6334505"/>
            <a:ext cx="12189460" cy="64135"/>
          </a:xfrm>
          <a:custGeom>
            <a:avLst/>
            <a:gdLst/>
            <a:ahLst/>
            <a:cxnLst/>
            <a:rect l="l" t="t" r="r" b="b"/>
            <a:pathLst>
              <a:path w="12189460" h="64135">
                <a:moveTo>
                  <a:pt x="12188952" y="0"/>
                </a:moveTo>
                <a:lnTo>
                  <a:pt x="0" y="0"/>
                </a:lnTo>
                <a:lnTo>
                  <a:pt x="0" y="64008"/>
                </a:lnTo>
                <a:lnTo>
                  <a:pt x="12188952" y="64008"/>
                </a:lnTo>
                <a:lnTo>
                  <a:pt x="12188952" y="0"/>
                </a:lnTo>
                <a:close/>
              </a:path>
            </a:pathLst>
          </a:custGeom>
          <a:solidFill>
            <a:srgbClr val="E38312"/>
          </a:solidFill>
        </p:spPr>
        <p:txBody>
          <a:bodyPr wrap="square" lIns="0" tIns="0" rIns="0" bIns="0" rtlCol="0"/>
          <a:lstStyle/>
          <a:p>
            <a:endParaRPr/>
          </a:p>
        </p:txBody>
      </p:sp>
      <p:sp>
        <p:nvSpPr>
          <p:cNvPr id="18" name="bg object 18"/>
          <p:cNvSpPr/>
          <p:nvPr/>
        </p:nvSpPr>
        <p:spPr>
          <a:xfrm>
            <a:off x="1207769" y="4343400"/>
            <a:ext cx="9875520" cy="0"/>
          </a:xfrm>
          <a:custGeom>
            <a:avLst/>
            <a:gdLst/>
            <a:ahLst/>
            <a:cxnLst/>
            <a:rect l="l" t="t" r="r" b="b"/>
            <a:pathLst>
              <a:path w="9875520">
                <a:moveTo>
                  <a:pt x="0" y="0"/>
                </a:moveTo>
                <a:lnTo>
                  <a:pt x="9875520" y="0"/>
                </a:lnTo>
              </a:path>
            </a:pathLst>
          </a:custGeom>
          <a:ln w="6350">
            <a:solidFill>
              <a:srgbClr val="7E7E7E"/>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200" b="0" i="0">
                <a:solidFill>
                  <a:schemeClr val="bg1"/>
                </a:solidFill>
                <a:latin typeface="Arial MT"/>
                <a:cs typeface="Arial MT"/>
              </a:defRPr>
            </a:lvl1pPr>
          </a:lstStyle>
          <a:p>
            <a:pPr marL="12700">
              <a:lnSpc>
                <a:spcPts val="1425"/>
              </a:lnSpc>
            </a:pPr>
            <a:r>
              <a:rPr dirty="0"/>
              <a:t>©</a:t>
            </a:r>
            <a:r>
              <a:rPr spc="15" dirty="0"/>
              <a:t> </a:t>
            </a:r>
            <a:r>
              <a:rPr spc="105" dirty="0"/>
              <a:t>Aptech</a:t>
            </a:r>
            <a:r>
              <a:rPr spc="20" dirty="0"/>
              <a:t> </a:t>
            </a:r>
            <a:r>
              <a:rPr spc="-25" dirty="0"/>
              <a:t>Ltd</a:t>
            </a:r>
          </a:p>
        </p:txBody>
      </p:sp>
      <p:sp>
        <p:nvSpPr>
          <p:cNvPr id="3" name="Holder 3"/>
          <p:cNvSpPr>
            <a:spLocks noGrp="1"/>
          </p:cNvSpPr>
          <p:nvPr>
            <p:ph type="dt" sz="half" idx="6"/>
          </p:nvPr>
        </p:nvSpPr>
        <p:spPr/>
        <p:txBody>
          <a:bodyPr lIns="0" tIns="0" rIns="0" bIns="0"/>
          <a:lstStyle>
            <a:lvl1pPr>
              <a:defRPr sz="1200" b="0" i="0">
                <a:solidFill>
                  <a:schemeClr val="bg1"/>
                </a:solidFill>
                <a:latin typeface="Arial MT"/>
                <a:cs typeface="Arial MT"/>
              </a:defRPr>
            </a:lvl1pPr>
          </a:lstStyle>
          <a:p>
            <a:pPr marL="12700">
              <a:lnSpc>
                <a:spcPts val="1425"/>
              </a:lnSpc>
            </a:pPr>
            <a:r>
              <a:rPr spc="-10" dirty="0"/>
              <a:t>File</a:t>
            </a:r>
            <a:r>
              <a:rPr spc="-20" dirty="0"/>
              <a:t> </a:t>
            </a:r>
            <a:r>
              <a:rPr spc="60" dirty="0"/>
              <a:t>Handling</a:t>
            </a:r>
            <a:r>
              <a:rPr spc="5" dirty="0"/>
              <a:t> </a:t>
            </a:r>
            <a:r>
              <a:rPr spc="60" dirty="0"/>
              <a:t>with</a:t>
            </a:r>
            <a:r>
              <a:rPr spc="-5" dirty="0"/>
              <a:t> </a:t>
            </a:r>
            <a:r>
              <a:rPr spc="-10" dirty="0"/>
              <a:t>Python</a:t>
            </a:r>
          </a:p>
        </p:txBody>
      </p:sp>
      <p:sp>
        <p:nvSpPr>
          <p:cNvPr id="4" name="Holder 4"/>
          <p:cNvSpPr>
            <a:spLocks noGrp="1"/>
          </p:cNvSpPr>
          <p:nvPr>
            <p:ph type="sldNum" sz="quarter" idx="7"/>
          </p:nvPr>
        </p:nvSpPr>
        <p:spPr/>
        <p:txBody>
          <a:bodyPr lIns="0" tIns="0" rIns="0" bIns="0"/>
          <a:lstStyle>
            <a:lvl1pPr>
              <a:defRPr sz="1200" b="0" i="0">
                <a:solidFill>
                  <a:schemeClr val="bg1"/>
                </a:solidFill>
                <a:latin typeface="Arial MT"/>
                <a:cs typeface="Arial MT"/>
              </a:defRPr>
            </a:lvl1pPr>
          </a:lstStyle>
          <a:p>
            <a:pPr marL="38100">
              <a:lnSpc>
                <a:spcPts val="1425"/>
              </a:lnSpc>
            </a:pPr>
            <a:fld id="{81D60167-4931-47E6-BA6A-407CBD079E47}" type="slidenum">
              <a:rPr spc="-25" dirty="0"/>
              <a:t>‹#›</a:t>
            </a:fld>
            <a:endParaRPr spc="-25" dirty="0"/>
          </a:p>
        </p:txBody>
      </p:sp>
    </p:spTree>
    <p:extLst>
      <p:ext uri="{BB962C8B-B14F-4D97-AF65-F5344CB8AC3E}">
        <p14:creationId xmlns:p14="http://schemas.microsoft.com/office/powerpoint/2010/main" val="4078783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0B29D735-10A9-2411-4231-3C85160428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3710D7BF-5F83-2C70-C595-ED409E0A95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1C7278F9-BE6F-261E-F6E8-65818DB9BE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37D580-F28D-47B9-9B1C-AF152DA52AB2}" type="datetimeFigureOut">
              <a:rPr lang="en-US" smtClean="0"/>
              <a:t>5/17/2025</a:t>
            </a:fld>
            <a:endParaRPr lang="en-US"/>
          </a:p>
        </p:txBody>
      </p:sp>
      <p:sp>
        <p:nvSpPr>
          <p:cNvPr id="5" name="Chỗ dành sẵn cho Chân trang 4">
            <a:extLst>
              <a:ext uri="{FF2B5EF4-FFF2-40B4-BE49-F238E27FC236}">
                <a16:creationId xmlns:a16="http://schemas.microsoft.com/office/drawing/2014/main" id="{DD068304-D051-775E-3D9C-0D7C4176BC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Chỗ dành sẵn cho Số hiệu Bản chiếu 5">
            <a:extLst>
              <a:ext uri="{FF2B5EF4-FFF2-40B4-BE49-F238E27FC236}">
                <a16:creationId xmlns:a16="http://schemas.microsoft.com/office/drawing/2014/main" id="{AB133E3D-F27F-7E75-B29E-51D184ECEC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86F869-08E5-418C-A25C-40D914273F4B}" type="slidenum">
              <a:rPr lang="en-US" smtClean="0"/>
              <a:t>‹#›</a:t>
            </a:fld>
            <a:endParaRPr lang="en-US"/>
          </a:p>
        </p:txBody>
      </p:sp>
    </p:spTree>
    <p:extLst>
      <p:ext uri="{BB962C8B-B14F-4D97-AF65-F5344CB8AC3E}">
        <p14:creationId xmlns:p14="http://schemas.microsoft.com/office/powerpoint/2010/main" val="2284074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33651" y="4433013"/>
            <a:ext cx="7294245" cy="1259840"/>
          </a:xfrm>
          <a:prstGeom prst="rect">
            <a:avLst/>
          </a:prstGeom>
        </p:spPr>
        <p:txBody>
          <a:bodyPr vert="horz" wrap="square" lIns="0" tIns="12065" rIns="0" bIns="0" rtlCol="0">
            <a:spAutoFit/>
          </a:bodyPr>
          <a:lstStyle/>
          <a:p>
            <a:pPr algn="ctr">
              <a:lnSpc>
                <a:spcPct val="100000"/>
              </a:lnSpc>
              <a:spcBef>
                <a:spcPts val="95"/>
              </a:spcBef>
            </a:pPr>
            <a:r>
              <a:rPr sz="3200" b="1" spc="55" dirty="0">
                <a:latin typeface="Arial"/>
                <a:cs typeface="Arial"/>
              </a:rPr>
              <a:t>READING</a:t>
            </a:r>
            <a:r>
              <a:rPr sz="3200" b="1" spc="480" dirty="0">
                <a:latin typeface="Arial"/>
                <a:cs typeface="Arial"/>
              </a:rPr>
              <a:t> </a:t>
            </a:r>
            <a:r>
              <a:rPr sz="3200" b="1" spc="130" dirty="0">
                <a:latin typeface="Arial"/>
                <a:cs typeface="Arial"/>
              </a:rPr>
              <a:t>AND</a:t>
            </a:r>
            <a:r>
              <a:rPr sz="3200" b="1" spc="445" dirty="0">
                <a:latin typeface="Arial"/>
                <a:cs typeface="Arial"/>
              </a:rPr>
              <a:t> </a:t>
            </a:r>
            <a:r>
              <a:rPr sz="3200" b="1" dirty="0">
                <a:latin typeface="Arial"/>
                <a:cs typeface="Arial"/>
              </a:rPr>
              <a:t>WRITING</a:t>
            </a:r>
            <a:r>
              <a:rPr sz="3200" b="1" spc="480" dirty="0">
                <a:latin typeface="Arial"/>
                <a:cs typeface="Arial"/>
              </a:rPr>
              <a:t> </a:t>
            </a:r>
            <a:r>
              <a:rPr sz="3200" b="1" spc="-285" dirty="0">
                <a:latin typeface="Arial"/>
                <a:cs typeface="Arial"/>
              </a:rPr>
              <a:t>TEXT</a:t>
            </a:r>
            <a:r>
              <a:rPr sz="3200" b="1" spc="470" dirty="0">
                <a:latin typeface="Arial"/>
                <a:cs typeface="Arial"/>
              </a:rPr>
              <a:t> </a:t>
            </a:r>
            <a:r>
              <a:rPr sz="3200" b="1" spc="-105" dirty="0">
                <a:latin typeface="Arial"/>
                <a:cs typeface="Arial"/>
              </a:rPr>
              <a:t>FILES</a:t>
            </a:r>
            <a:endParaRPr sz="3200" dirty="0">
              <a:latin typeface="Arial"/>
              <a:cs typeface="Arial"/>
            </a:endParaRPr>
          </a:p>
          <a:p>
            <a:pPr marL="2540" algn="ctr">
              <a:lnSpc>
                <a:spcPct val="100000"/>
              </a:lnSpc>
              <a:spcBef>
                <a:spcPts val="2520"/>
              </a:spcBef>
              <a:tabLst>
                <a:tab pos="1703070" algn="l"/>
              </a:tabLst>
            </a:pPr>
            <a:r>
              <a:rPr sz="2800" b="1" spc="-10" dirty="0">
                <a:latin typeface="Arial"/>
                <a:cs typeface="Arial"/>
              </a:rPr>
              <a:t>SESSION</a:t>
            </a:r>
            <a:r>
              <a:rPr sz="2800" b="1" dirty="0">
                <a:latin typeface="Arial"/>
                <a:cs typeface="Arial"/>
              </a:rPr>
              <a:t>	</a:t>
            </a:r>
            <a:r>
              <a:rPr sz="2800" b="1" spc="-50" dirty="0">
                <a:latin typeface="Arial"/>
                <a:cs typeface="Arial"/>
              </a:rPr>
              <a:t>2</a:t>
            </a:r>
            <a:endParaRPr sz="2800" dirty="0">
              <a:latin typeface="Arial"/>
              <a:cs typeface="Arial"/>
            </a:endParaRPr>
          </a:p>
        </p:txBody>
      </p:sp>
      <p:pic>
        <p:nvPicPr>
          <p:cNvPr id="3" name="object 3"/>
          <p:cNvPicPr/>
          <p:nvPr/>
        </p:nvPicPr>
        <p:blipFill>
          <a:blip r:embed="rId3" cstate="print"/>
          <a:stretch>
            <a:fillRect/>
          </a:stretch>
        </p:blipFill>
        <p:spPr>
          <a:xfrm>
            <a:off x="4071365" y="90450"/>
            <a:ext cx="4210049" cy="40291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0" dirty="0"/>
              <a:t>Objectives</a:t>
            </a:r>
          </a:p>
        </p:txBody>
      </p:sp>
      <p:sp>
        <p:nvSpPr>
          <p:cNvPr id="4" name="object 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2555">
              <a:lnSpc>
                <a:spcPts val="1425"/>
              </a:lnSpc>
            </a:pPr>
            <a:fld id="{81D60167-4931-47E6-BA6A-407CBD079E47}" type="slidenum">
              <a:rPr lang="en-US" spc="-25" smtClean="0"/>
              <a:pPr marL="38100">
                <a:lnSpc>
                  <a:spcPts val="1425"/>
                </a:lnSpc>
              </a:pPr>
              <a:t>2</a:t>
            </a:fld>
            <a:endParaRPr spc="-50" dirty="0"/>
          </a:p>
        </p:txBody>
      </p:sp>
      <p:sp>
        <p:nvSpPr>
          <p:cNvPr id="5" name="object 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6" name="object 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
        <p:nvSpPr>
          <p:cNvPr id="3" name="object 3"/>
          <p:cNvSpPr txBox="1"/>
          <p:nvPr/>
        </p:nvSpPr>
        <p:spPr>
          <a:xfrm>
            <a:off x="1084580" y="1873420"/>
            <a:ext cx="6398895" cy="939800"/>
          </a:xfrm>
          <a:prstGeom prst="rect">
            <a:avLst/>
          </a:prstGeom>
        </p:spPr>
        <p:txBody>
          <a:bodyPr vert="horz" wrap="square" lIns="0" tIns="12065" rIns="0" bIns="0" rtlCol="0">
            <a:spAutoFit/>
          </a:bodyPr>
          <a:lstStyle/>
          <a:p>
            <a:pPr marL="213995" indent="-205104">
              <a:lnSpc>
                <a:spcPct val="100000"/>
              </a:lnSpc>
              <a:spcBef>
                <a:spcPts val="95"/>
              </a:spcBef>
              <a:buClr>
                <a:srgbClr val="E38312"/>
              </a:buClr>
              <a:buSzPct val="95000"/>
              <a:buFont typeface="Wingdings"/>
              <a:buChar char=""/>
              <a:tabLst>
                <a:tab pos="213995" algn="l"/>
              </a:tabLst>
            </a:pPr>
            <a:r>
              <a:rPr sz="2000" spc="80" dirty="0">
                <a:solidFill>
                  <a:srgbClr val="404040"/>
                </a:solidFill>
                <a:latin typeface="Arial MT"/>
                <a:cs typeface="Arial MT"/>
              </a:rPr>
              <a:t>Define</a:t>
            </a:r>
            <a:r>
              <a:rPr sz="2000" spc="10" dirty="0">
                <a:solidFill>
                  <a:srgbClr val="404040"/>
                </a:solidFill>
                <a:latin typeface="Arial MT"/>
                <a:cs typeface="Arial MT"/>
              </a:rPr>
              <a:t> </a:t>
            </a:r>
            <a:r>
              <a:rPr sz="2000" spc="195" dirty="0">
                <a:solidFill>
                  <a:srgbClr val="404040"/>
                </a:solidFill>
                <a:latin typeface="Arial MT"/>
                <a:cs typeface="Arial MT"/>
              </a:rPr>
              <a:t>and</a:t>
            </a:r>
            <a:r>
              <a:rPr sz="2000" spc="25" dirty="0">
                <a:solidFill>
                  <a:srgbClr val="404040"/>
                </a:solidFill>
                <a:latin typeface="Arial MT"/>
                <a:cs typeface="Arial MT"/>
              </a:rPr>
              <a:t> </a:t>
            </a:r>
            <a:r>
              <a:rPr sz="2000" spc="95" dirty="0">
                <a:solidFill>
                  <a:srgbClr val="404040"/>
                </a:solidFill>
                <a:latin typeface="Arial MT"/>
                <a:cs typeface="Arial MT"/>
              </a:rPr>
              <a:t>describe</a:t>
            </a:r>
            <a:r>
              <a:rPr sz="2000" spc="40" dirty="0">
                <a:solidFill>
                  <a:srgbClr val="404040"/>
                </a:solidFill>
                <a:latin typeface="Arial MT"/>
                <a:cs typeface="Arial MT"/>
              </a:rPr>
              <a:t> </a:t>
            </a:r>
            <a:r>
              <a:rPr sz="2000" spc="135" dirty="0">
                <a:solidFill>
                  <a:srgbClr val="404040"/>
                </a:solidFill>
                <a:latin typeface="Arial MT"/>
                <a:cs typeface="Arial MT"/>
              </a:rPr>
              <a:t>opening</a:t>
            </a:r>
            <a:r>
              <a:rPr sz="2000" spc="35" dirty="0">
                <a:solidFill>
                  <a:srgbClr val="404040"/>
                </a:solidFill>
                <a:latin typeface="Arial MT"/>
                <a:cs typeface="Arial MT"/>
              </a:rPr>
              <a:t> </a:t>
            </a:r>
            <a:r>
              <a:rPr sz="2000" spc="195" dirty="0">
                <a:solidFill>
                  <a:srgbClr val="404040"/>
                </a:solidFill>
                <a:latin typeface="Arial MT"/>
                <a:cs typeface="Arial MT"/>
              </a:rPr>
              <a:t>and</a:t>
            </a:r>
            <a:r>
              <a:rPr sz="2000" spc="25" dirty="0">
                <a:solidFill>
                  <a:srgbClr val="404040"/>
                </a:solidFill>
                <a:latin typeface="Arial MT"/>
                <a:cs typeface="Arial MT"/>
              </a:rPr>
              <a:t> </a:t>
            </a:r>
            <a:r>
              <a:rPr sz="2000" spc="60" dirty="0">
                <a:solidFill>
                  <a:srgbClr val="404040"/>
                </a:solidFill>
                <a:latin typeface="Arial MT"/>
                <a:cs typeface="Arial MT"/>
              </a:rPr>
              <a:t>closing</a:t>
            </a:r>
            <a:r>
              <a:rPr sz="2000" spc="35" dirty="0">
                <a:solidFill>
                  <a:srgbClr val="404040"/>
                </a:solidFill>
                <a:latin typeface="Arial MT"/>
                <a:cs typeface="Arial MT"/>
              </a:rPr>
              <a:t> </a:t>
            </a:r>
            <a:r>
              <a:rPr sz="2000" spc="90" dirty="0">
                <a:solidFill>
                  <a:srgbClr val="404040"/>
                </a:solidFill>
                <a:latin typeface="Arial MT"/>
                <a:cs typeface="Arial MT"/>
              </a:rPr>
              <a:t>text</a:t>
            </a:r>
            <a:r>
              <a:rPr sz="2000" spc="15" dirty="0">
                <a:solidFill>
                  <a:srgbClr val="404040"/>
                </a:solidFill>
                <a:latin typeface="Arial MT"/>
                <a:cs typeface="Arial MT"/>
              </a:rPr>
              <a:t> </a:t>
            </a:r>
            <a:r>
              <a:rPr sz="2000" spc="-10" dirty="0">
                <a:solidFill>
                  <a:srgbClr val="404040"/>
                </a:solidFill>
                <a:latin typeface="Arial MT"/>
                <a:cs typeface="Arial MT"/>
              </a:rPr>
              <a:t>files</a:t>
            </a:r>
            <a:endParaRPr sz="2000" dirty="0">
              <a:latin typeface="Arial MT"/>
              <a:cs typeface="Arial MT"/>
            </a:endParaRPr>
          </a:p>
          <a:p>
            <a:pPr marL="213995" indent="-205104">
              <a:lnSpc>
                <a:spcPct val="100000"/>
              </a:lnSpc>
              <a:buClr>
                <a:srgbClr val="E38312"/>
              </a:buClr>
              <a:buSzPct val="95000"/>
              <a:buFont typeface="Wingdings"/>
              <a:buChar char=""/>
              <a:tabLst>
                <a:tab pos="213995" algn="l"/>
              </a:tabLst>
            </a:pPr>
            <a:r>
              <a:rPr sz="2000" spc="75" dirty="0">
                <a:solidFill>
                  <a:srgbClr val="404040"/>
                </a:solidFill>
                <a:latin typeface="Arial MT"/>
                <a:cs typeface="Arial MT"/>
              </a:rPr>
              <a:t>Identify</a:t>
            </a:r>
            <a:r>
              <a:rPr sz="2000" spc="15" dirty="0">
                <a:solidFill>
                  <a:srgbClr val="404040"/>
                </a:solidFill>
                <a:latin typeface="Arial MT"/>
                <a:cs typeface="Arial MT"/>
              </a:rPr>
              <a:t> </a:t>
            </a:r>
            <a:r>
              <a:rPr sz="2000" spc="195" dirty="0">
                <a:solidFill>
                  <a:srgbClr val="404040"/>
                </a:solidFill>
                <a:latin typeface="Arial MT"/>
                <a:cs typeface="Arial MT"/>
              </a:rPr>
              <a:t>and</a:t>
            </a:r>
            <a:r>
              <a:rPr sz="2000" spc="25" dirty="0">
                <a:solidFill>
                  <a:srgbClr val="404040"/>
                </a:solidFill>
                <a:latin typeface="Arial MT"/>
                <a:cs typeface="Arial MT"/>
              </a:rPr>
              <a:t> </a:t>
            </a:r>
            <a:r>
              <a:rPr sz="2000" spc="80" dirty="0">
                <a:solidFill>
                  <a:srgbClr val="404040"/>
                </a:solidFill>
                <a:latin typeface="Arial MT"/>
                <a:cs typeface="Arial MT"/>
              </a:rPr>
              <a:t>explain</a:t>
            </a:r>
            <a:r>
              <a:rPr sz="2000" spc="25" dirty="0">
                <a:solidFill>
                  <a:srgbClr val="404040"/>
                </a:solidFill>
                <a:latin typeface="Arial MT"/>
                <a:cs typeface="Arial MT"/>
              </a:rPr>
              <a:t> </a:t>
            </a:r>
            <a:r>
              <a:rPr sz="2000" spc="110" dirty="0">
                <a:solidFill>
                  <a:srgbClr val="404040"/>
                </a:solidFill>
                <a:latin typeface="Arial MT"/>
                <a:cs typeface="Arial MT"/>
              </a:rPr>
              <a:t>methods</a:t>
            </a:r>
            <a:r>
              <a:rPr sz="2000" spc="30" dirty="0">
                <a:solidFill>
                  <a:srgbClr val="404040"/>
                </a:solidFill>
                <a:latin typeface="Arial MT"/>
                <a:cs typeface="Arial MT"/>
              </a:rPr>
              <a:t> </a:t>
            </a:r>
            <a:r>
              <a:rPr sz="2000" spc="65" dirty="0">
                <a:solidFill>
                  <a:srgbClr val="404040"/>
                </a:solidFill>
                <a:latin typeface="Arial MT"/>
                <a:cs typeface="Arial MT"/>
              </a:rPr>
              <a:t>for</a:t>
            </a:r>
            <a:r>
              <a:rPr sz="2000" spc="5" dirty="0">
                <a:solidFill>
                  <a:srgbClr val="404040"/>
                </a:solidFill>
                <a:latin typeface="Arial MT"/>
                <a:cs typeface="Arial MT"/>
              </a:rPr>
              <a:t> </a:t>
            </a:r>
            <a:r>
              <a:rPr sz="2000" spc="120" dirty="0">
                <a:solidFill>
                  <a:srgbClr val="404040"/>
                </a:solidFill>
                <a:latin typeface="Arial MT"/>
                <a:cs typeface="Arial MT"/>
              </a:rPr>
              <a:t>reading</a:t>
            </a:r>
            <a:r>
              <a:rPr sz="2000" spc="30" dirty="0">
                <a:solidFill>
                  <a:srgbClr val="404040"/>
                </a:solidFill>
                <a:latin typeface="Arial MT"/>
                <a:cs typeface="Arial MT"/>
              </a:rPr>
              <a:t> </a:t>
            </a:r>
            <a:r>
              <a:rPr sz="2000" spc="90" dirty="0">
                <a:solidFill>
                  <a:srgbClr val="404040"/>
                </a:solidFill>
                <a:latin typeface="Arial MT"/>
                <a:cs typeface="Arial MT"/>
              </a:rPr>
              <a:t>text</a:t>
            </a:r>
            <a:r>
              <a:rPr sz="2000" spc="15" dirty="0">
                <a:solidFill>
                  <a:srgbClr val="404040"/>
                </a:solidFill>
                <a:latin typeface="Arial MT"/>
                <a:cs typeface="Arial MT"/>
              </a:rPr>
              <a:t> </a:t>
            </a:r>
            <a:r>
              <a:rPr sz="2000" spc="-10" dirty="0">
                <a:solidFill>
                  <a:srgbClr val="404040"/>
                </a:solidFill>
                <a:latin typeface="Arial MT"/>
                <a:cs typeface="Arial MT"/>
              </a:rPr>
              <a:t>files</a:t>
            </a:r>
            <a:endParaRPr sz="2000" dirty="0">
              <a:latin typeface="Arial MT"/>
              <a:cs typeface="Arial MT"/>
            </a:endParaRPr>
          </a:p>
          <a:p>
            <a:pPr marL="213995" indent="-205104">
              <a:lnSpc>
                <a:spcPct val="100000"/>
              </a:lnSpc>
              <a:buClr>
                <a:srgbClr val="E38312"/>
              </a:buClr>
              <a:buSzPct val="95000"/>
              <a:buFont typeface="Wingdings"/>
              <a:buChar char=""/>
              <a:tabLst>
                <a:tab pos="213995" algn="l"/>
              </a:tabLst>
            </a:pPr>
            <a:r>
              <a:rPr sz="2000" spc="75" dirty="0">
                <a:solidFill>
                  <a:srgbClr val="404040"/>
                </a:solidFill>
                <a:latin typeface="Arial MT"/>
                <a:cs typeface="Arial MT"/>
              </a:rPr>
              <a:t>Identify</a:t>
            </a:r>
            <a:r>
              <a:rPr sz="2000" spc="10" dirty="0">
                <a:solidFill>
                  <a:srgbClr val="404040"/>
                </a:solidFill>
                <a:latin typeface="Arial MT"/>
                <a:cs typeface="Arial MT"/>
              </a:rPr>
              <a:t> </a:t>
            </a:r>
            <a:r>
              <a:rPr sz="2000" spc="195" dirty="0">
                <a:solidFill>
                  <a:srgbClr val="404040"/>
                </a:solidFill>
                <a:latin typeface="Arial MT"/>
                <a:cs typeface="Arial MT"/>
              </a:rPr>
              <a:t>and</a:t>
            </a:r>
            <a:r>
              <a:rPr sz="2000" spc="20" dirty="0">
                <a:solidFill>
                  <a:srgbClr val="404040"/>
                </a:solidFill>
                <a:latin typeface="Arial MT"/>
                <a:cs typeface="Arial MT"/>
              </a:rPr>
              <a:t> </a:t>
            </a:r>
            <a:r>
              <a:rPr sz="2000" spc="95" dirty="0">
                <a:solidFill>
                  <a:srgbClr val="404040"/>
                </a:solidFill>
                <a:latin typeface="Arial MT"/>
                <a:cs typeface="Arial MT"/>
              </a:rPr>
              <a:t>describe</a:t>
            </a:r>
            <a:r>
              <a:rPr sz="2000" spc="30" dirty="0">
                <a:solidFill>
                  <a:srgbClr val="404040"/>
                </a:solidFill>
                <a:latin typeface="Arial MT"/>
                <a:cs typeface="Arial MT"/>
              </a:rPr>
              <a:t> </a:t>
            </a:r>
            <a:r>
              <a:rPr sz="2000" spc="110" dirty="0">
                <a:solidFill>
                  <a:srgbClr val="404040"/>
                </a:solidFill>
                <a:latin typeface="Arial MT"/>
                <a:cs typeface="Arial MT"/>
              </a:rPr>
              <a:t>methods</a:t>
            </a:r>
            <a:r>
              <a:rPr sz="2000" spc="30" dirty="0">
                <a:solidFill>
                  <a:srgbClr val="404040"/>
                </a:solidFill>
                <a:latin typeface="Arial MT"/>
                <a:cs typeface="Arial MT"/>
              </a:rPr>
              <a:t> </a:t>
            </a:r>
            <a:r>
              <a:rPr sz="2000" spc="65" dirty="0">
                <a:solidFill>
                  <a:srgbClr val="404040"/>
                </a:solidFill>
                <a:latin typeface="Arial MT"/>
                <a:cs typeface="Arial MT"/>
              </a:rPr>
              <a:t>for</a:t>
            </a:r>
            <a:r>
              <a:rPr sz="2000" dirty="0">
                <a:solidFill>
                  <a:srgbClr val="404040"/>
                </a:solidFill>
                <a:latin typeface="Arial MT"/>
                <a:cs typeface="Arial MT"/>
              </a:rPr>
              <a:t> </a:t>
            </a:r>
            <a:r>
              <a:rPr sz="2000" spc="65" dirty="0">
                <a:solidFill>
                  <a:srgbClr val="404040"/>
                </a:solidFill>
                <a:latin typeface="Arial MT"/>
                <a:cs typeface="Arial MT"/>
              </a:rPr>
              <a:t>writing</a:t>
            </a:r>
            <a:r>
              <a:rPr sz="2000" spc="15" dirty="0">
                <a:solidFill>
                  <a:srgbClr val="404040"/>
                </a:solidFill>
                <a:latin typeface="Arial MT"/>
                <a:cs typeface="Arial MT"/>
              </a:rPr>
              <a:t> </a:t>
            </a:r>
            <a:r>
              <a:rPr sz="2000" spc="90" dirty="0">
                <a:solidFill>
                  <a:srgbClr val="404040"/>
                </a:solidFill>
                <a:latin typeface="Arial MT"/>
                <a:cs typeface="Arial MT"/>
              </a:rPr>
              <a:t>text</a:t>
            </a:r>
            <a:r>
              <a:rPr sz="2000" spc="5" dirty="0">
                <a:solidFill>
                  <a:srgbClr val="404040"/>
                </a:solidFill>
                <a:latin typeface="Arial MT"/>
                <a:cs typeface="Arial MT"/>
              </a:rPr>
              <a:t> </a:t>
            </a:r>
            <a:r>
              <a:rPr sz="2000" spc="-10" dirty="0">
                <a:solidFill>
                  <a:srgbClr val="404040"/>
                </a:solidFill>
                <a:latin typeface="Arial MT"/>
                <a:cs typeface="Arial MT"/>
              </a:rPr>
              <a:t>files</a:t>
            </a:r>
            <a:endParaRPr sz="2000" dirty="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84580" y="1845225"/>
            <a:ext cx="2860675" cy="452755"/>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404040"/>
                </a:solidFill>
                <a:latin typeface="Courier New"/>
                <a:cs typeface="Courier New"/>
              </a:rPr>
              <a:t>open()</a:t>
            </a:r>
            <a:r>
              <a:rPr sz="2800" b="1" spc="-894" dirty="0">
                <a:solidFill>
                  <a:srgbClr val="404040"/>
                </a:solidFill>
                <a:latin typeface="Courier New"/>
                <a:cs typeface="Courier New"/>
              </a:rPr>
              <a:t> </a:t>
            </a:r>
            <a:r>
              <a:rPr sz="2800" b="1" spc="-40" dirty="0">
                <a:solidFill>
                  <a:srgbClr val="404040"/>
                </a:solidFill>
                <a:latin typeface="Arial"/>
                <a:cs typeface="Arial"/>
              </a:rPr>
              <a:t>Function</a:t>
            </a:r>
            <a:endParaRPr sz="2800" dirty="0">
              <a:latin typeface="Arial"/>
              <a:cs typeface="Arial"/>
            </a:endParaRPr>
          </a:p>
        </p:txBody>
      </p:sp>
      <p:sp>
        <p:nvSpPr>
          <p:cNvPr id="3" name="object 3"/>
          <p:cNvSpPr txBox="1">
            <a:spLocks noGrp="1"/>
          </p:cNvSpPr>
          <p:nvPr>
            <p:ph type="title"/>
          </p:nvPr>
        </p:nvSpPr>
        <p:spPr>
          <a:prstGeom prst="rect">
            <a:avLst/>
          </a:prstGeom>
        </p:spPr>
        <p:txBody>
          <a:bodyPr vert="horz" wrap="square" lIns="0" tIns="695579" rIns="0" bIns="0" rtlCol="0">
            <a:spAutoFit/>
          </a:bodyPr>
          <a:lstStyle/>
          <a:p>
            <a:pPr marL="12700">
              <a:lnSpc>
                <a:spcPct val="100000"/>
              </a:lnSpc>
              <a:spcBef>
                <a:spcPts val="95"/>
              </a:spcBef>
            </a:pPr>
            <a:r>
              <a:rPr sz="4400" spc="60" dirty="0"/>
              <a:t>Opening</a:t>
            </a:r>
            <a:r>
              <a:rPr sz="4400" spc="-135" dirty="0"/>
              <a:t> </a:t>
            </a:r>
            <a:r>
              <a:rPr sz="4400" spc="165" dirty="0"/>
              <a:t>and</a:t>
            </a:r>
            <a:r>
              <a:rPr sz="4400" spc="-120" dirty="0"/>
              <a:t> </a:t>
            </a:r>
            <a:r>
              <a:rPr sz="4400" spc="-85" dirty="0"/>
              <a:t>Closing</a:t>
            </a:r>
            <a:r>
              <a:rPr sz="4400" spc="-120" dirty="0"/>
              <a:t> </a:t>
            </a:r>
            <a:r>
              <a:rPr sz="4400" spc="-215" dirty="0"/>
              <a:t>Text</a:t>
            </a:r>
            <a:r>
              <a:rPr sz="4400" spc="-105" dirty="0"/>
              <a:t> </a:t>
            </a:r>
            <a:r>
              <a:rPr sz="4400" spc="-270" dirty="0"/>
              <a:t>Files</a:t>
            </a:r>
            <a:r>
              <a:rPr sz="4400" spc="-110" dirty="0"/>
              <a:t> </a:t>
            </a:r>
            <a:r>
              <a:rPr sz="4400" spc="65" dirty="0"/>
              <a:t>[1-</a:t>
            </a:r>
            <a:r>
              <a:rPr sz="4400" spc="-25" dirty="0"/>
              <a:t>3]</a:t>
            </a:r>
            <a:endParaRPr sz="4400"/>
          </a:p>
        </p:txBody>
      </p:sp>
      <p:pic>
        <p:nvPicPr>
          <p:cNvPr id="4" name="object 4"/>
          <p:cNvPicPr/>
          <p:nvPr/>
        </p:nvPicPr>
        <p:blipFill>
          <a:blip r:embed="rId3" cstate="print"/>
          <a:stretch>
            <a:fillRect/>
          </a:stretch>
        </p:blipFill>
        <p:spPr>
          <a:xfrm>
            <a:off x="7169657" y="2507742"/>
            <a:ext cx="3809237" cy="3361181"/>
          </a:xfrm>
          <a:prstGeom prst="rect">
            <a:avLst/>
          </a:prstGeom>
        </p:spPr>
      </p:pic>
      <p:sp>
        <p:nvSpPr>
          <p:cNvPr id="5" name="object 5"/>
          <p:cNvSpPr txBox="1"/>
          <p:nvPr/>
        </p:nvSpPr>
        <p:spPr>
          <a:xfrm>
            <a:off x="1274444" y="2778632"/>
            <a:ext cx="5895975" cy="1298575"/>
          </a:xfrm>
          <a:prstGeom prst="rect">
            <a:avLst/>
          </a:prstGeom>
          <a:solidFill>
            <a:srgbClr val="F19C1F"/>
          </a:solidFill>
          <a:ln w="9525">
            <a:solidFill>
              <a:srgbClr val="F7CE9D"/>
            </a:solidFill>
          </a:ln>
        </p:spPr>
        <p:txBody>
          <a:bodyPr vert="horz" wrap="square" lIns="0" tIns="167640" rIns="0" bIns="0" rtlCol="0">
            <a:spAutoFit/>
          </a:bodyPr>
          <a:lstStyle/>
          <a:p>
            <a:pPr marL="91440" marR="84455" indent="-635" algn="just">
              <a:lnSpc>
                <a:spcPct val="100000"/>
              </a:lnSpc>
              <a:spcBef>
                <a:spcPts val="1320"/>
              </a:spcBef>
            </a:pPr>
            <a:r>
              <a:rPr sz="2000" dirty="0">
                <a:latin typeface="Arial MT"/>
                <a:cs typeface="Arial MT"/>
              </a:rPr>
              <a:t>The</a:t>
            </a:r>
            <a:r>
              <a:rPr sz="2000" spc="30" dirty="0">
                <a:latin typeface="Arial MT"/>
                <a:cs typeface="Arial MT"/>
              </a:rPr>
              <a:t>  </a:t>
            </a:r>
            <a:r>
              <a:rPr sz="2000" dirty="0">
                <a:latin typeface="Courier New"/>
                <a:cs typeface="Courier New"/>
              </a:rPr>
              <a:t>open()</a:t>
            </a:r>
            <a:r>
              <a:rPr sz="2000" spc="-25" dirty="0">
                <a:latin typeface="Courier New"/>
                <a:cs typeface="Courier New"/>
              </a:rPr>
              <a:t> </a:t>
            </a:r>
            <a:r>
              <a:rPr sz="2000" spc="114" dirty="0">
                <a:latin typeface="Arial MT"/>
                <a:cs typeface="Arial MT"/>
              </a:rPr>
              <a:t>function</a:t>
            </a:r>
            <a:r>
              <a:rPr sz="2000" spc="35" dirty="0">
                <a:latin typeface="Arial MT"/>
                <a:cs typeface="Arial MT"/>
              </a:rPr>
              <a:t>  </a:t>
            </a:r>
            <a:r>
              <a:rPr sz="2000" dirty="0">
                <a:latin typeface="Arial MT"/>
                <a:cs typeface="Arial MT"/>
              </a:rPr>
              <a:t>allows</a:t>
            </a:r>
            <a:r>
              <a:rPr sz="2000" spc="35" dirty="0">
                <a:latin typeface="Arial MT"/>
                <a:cs typeface="Arial MT"/>
              </a:rPr>
              <a:t>  </a:t>
            </a:r>
            <a:r>
              <a:rPr sz="2000" spc="155" dirty="0">
                <a:latin typeface="Arial MT"/>
                <a:cs typeface="Arial MT"/>
              </a:rPr>
              <a:t>to</a:t>
            </a:r>
            <a:r>
              <a:rPr sz="2000" spc="35" dirty="0">
                <a:latin typeface="Arial MT"/>
                <a:cs typeface="Arial MT"/>
              </a:rPr>
              <a:t>  </a:t>
            </a:r>
            <a:r>
              <a:rPr sz="2000" spc="175" dirty="0">
                <a:latin typeface="Arial MT"/>
                <a:cs typeface="Arial MT"/>
              </a:rPr>
              <a:t>open</a:t>
            </a:r>
            <a:r>
              <a:rPr sz="2000" spc="30" dirty="0">
                <a:latin typeface="Arial MT"/>
                <a:cs typeface="Arial MT"/>
              </a:rPr>
              <a:t>  </a:t>
            </a:r>
            <a:r>
              <a:rPr sz="2000" dirty="0">
                <a:latin typeface="Arial MT"/>
                <a:cs typeface="Arial MT"/>
              </a:rPr>
              <a:t>files</a:t>
            </a:r>
            <a:r>
              <a:rPr sz="2000" spc="35" dirty="0">
                <a:latin typeface="Arial MT"/>
                <a:cs typeface="Arial MT"/>
              </a:rPr>
              <a:t>  </a:t>
            </a:r>
            <a:r>
              <a:rPr sz="2000" spc="-25" dirty="0">
                <a:latin typeface="Arial MT"/>
                <a:cs typeface="Arial MT"/>
              </a:rPr>
              <a:t>in </a:t>
            </a:r>
            <a:r>
              <a:rPr sz="2000" spc="95" dirty="0">
                <a:latin typeface="Arial MT"/>
                <a:cs typeface="Arial MT"/>
              </a:rPr>
              <a:t>different</a:t>
            </a:r>
            <a:r>
              <a:rPr sz="2000" spc="445" dirty="0">
                <a:latin typeface="Arial MT"/>
                <a:cs typeface="Arial MT"/>
              </a:rPr>
              <a:t> </a:t>
            </a:r>
            <a:r>
              <a:rPr sz="2000" spc="95" dirty="0">
                <a:latin typeface="Arial MT"/>
                <a:cs typeface="Arial MT"/>
              </a:rPr>
              <a:t>modes,</a:t>
            </a:r>
            <a:r>
              <a:rPr sz="2000" spc="440" dirty="0">
                <a:latin typeface="Arial MT"/>
                <a:cs typeface="Arial MT"/>
              </a:rPr>
              <a:t> </a:t>
            </a:r>
            <a:r>
              <a:rPr sz="2000" spc="60" dirty="0">
                <a:latin typeface="Arial MT"/>
                <a:cs typeface="Arial MT"/>
              </a:rPr>
              <a:t>such</a:t>
            </a:r>
            <a:r>
              <a:rPr sz="2000" spc="450" dirty="0">
                <a:latin typeface="Arial MT"/>
                <a:cs typeface="Arial MT"/>
              </a:rPr>
              <a:t> </a:t>
            </a:r>
            <a:r>
              <a:rPr sz="2000" dirty="0">
                <a:latin typeface="Arial MT"/>
                <a:cs typeface="Arial MT"/>
              </a:rPr>
              <a:t>as</a:t>
            </a:r>
            <a:r>
              <a:rPr sz="2000" spc="445" dirty="0">
                <a:latin typeface="Arial MT"/>
                <a:cs typeface="Arial MT"/>
              </a:rPr>
              <a:t> </a:t>
            </a:r>
            <a:r>
              <a:rPr sz="2000" spc="125" dirty="0">
                <a:latin typeface="Arial MT"/>
                <a:cs typeface="Arial MT"/>
              </a:rPr>
              <a:t>reading</a:t>
            </a:r>
            <a:r>
              <a:rPr sz="2000" spc="455" dirty="0">
                <a:latin typeface="Arial MT"/>
                <a:cs typeface="Arial MT"/>
              </a:rPr>
              <a:t> </a:t>
            </a:r>
            <a:r>
              <a:rPr sz="2000" dirty="0">
                <a:latin typeface="Arial MT"/>
                <a:cs typeface="Arial MT"/>
              </a:rPr>
              <a:t>(</a:t>
            </a:r>
            <a:r>
              <a:rPr sz="2000" dirty="0">
                <a:latin typeface="Courier New"/>
                <a:cs typeface="Courier New"/>
              </a:rPr>
              <a:t>r</a:t>
            </a:r>
            <a:r>
              <a:rPr sz="2000" dirty="0">
                <a:latin typeface="Arial MT"/>
                <a:cs typeface="Arial MT"/>
              </a:rPr>
              <a:t>),</a:t>
            </a:r>
            <a:r>
              <a:rPr sz="2000" spc="434" dirty="0">
                <a:latin typeface="Arial MT"/>
                <a:cs typeface="Arial MT"/>
              </a:rPr>
              <a:t> </a:t>
            </a:r>
            <a:r>
              <a:rPr sz="2000" spc="55" dirty="0">
                <a:latin typeface="Arial MT"/>
                <a:cs typeface="Arial MT"/>
              </a:rPr>
              <a:t>writing </a:t>
            </a:r>
            <a:r>
              <a:rPr sz="2000" dirty="0">
                <a:latin typeface="Arial MT"/>
                <a:cs typeface="Arial MT"/>
              </a:rPr>
              <a:t>(</a:t>
            </a:r>
            <a:r>
              <a:rPr sz="2000" dirty="0">
                <a:latin typeface="Courier New"/>
                <a:cs typeface="Courier New"/>
              </a:rPr>
              <a:t>w</a:t>
            </a:r>
            <a:r>
              <a:rPr sz="2000" dirty="0">
                <a:latin typeface="Arial MT"/>
                <a:cs typeface="Arial MT"/>
              </a:rPr>
              <a:t>),</a:t>
            </a:r>
            <a:r>
              <a:rPr sz="2000" spc="40" dirty="0">
                <a:latin typeface="Arial MT"/>
                <a:cs typeface="Arial MT"/>
              </a:rPr>
              <a:t> </a:t>
            </a:r>
            <a:r>
              <a:rPr sz="2000" spc="195" dirty="0">
                <a:latin typeface="Arial MT"/>
                <a:cs typeface="Arial MT"/>
              </a:rPr>
              <a:t>and</a:t>
            </a:r>
            <a:r>
              <a:rPr sz="2000" spc="65" dirty="0">
                <a:latin typeface="Arial MT"/>
                <a:cs typeface="Arial MT"/>
              </a:rPr>
              <a:t> </a:t>
            </a:r>
            <a:r>
              <a:rPr sz="2000" spc="165" dirty="0">
                <a:latin typeface="Arial MT"/>
                <a:cs typeface="Arial MT"/>
              </a:rPr>
              <a:t>appending</a:t>
            </a:r>
            <a:r>
              <a:rPr sz="2000" spc="85" dirty="0">
                <a:latin typeface="Arial MT"/>
                <a:cs typeface="Arial MT"/>
              </a:rPr>
              <a:t> </a:t>
            </a:r>
            <a:r>
              <a:rPr sz="2000" spc="-20" dirty="0">
                <a:latin typeface="Arial MT"/>
                <a:cs typeface="Arial MT"/>
              </a:rPr>
              <a:t>(</a:t>
            </a:r>
            <a:r>
              <a:rPr sz="2000" spc="-20" dirty="0">
                <a:latin typeface="Courier New"/>
                <a:cs typeface="Courier New"/>
              </a:rPr>
              <a:t>a</a:t>
            </a:r>
            <a:r>
              <a:rPr sz="2000" spc="-20" dirty="0">
                <a:latin typeface="Arial MT"/>
                <a:cs typeface="Arial MT"/>
              </a:rPr>
              <a:t>).</a:t>
            </a:r>
            <a:endParaRPr sz="2000" dirty="0">
              <a:latin typeface="Arial MT"/>
              <a:cs typeface="Arial MT"/>
            </a:endParaRPr>
          </a:p>
        </p:txBody>
      </p:sp>
      <p:sp>
        <p:nvSpPr>
          <p:cNvPr id="7" name="object 7"/>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2555">
              <a:lnSpc>
                <a:spcPts val="1425"/>
              </a:lnSpc>
            </a:pPr>
            <a:fld id="{81D60167-4931-47E6-BA6A-407CBD079E47}" type="slidenum">
              <a:rPr lang="en-US" spc="-25" smtClean="0"/>
              <a:pPr marL="38100">
                <a:lnSpc>
                  <a:spcPts val="1425"/>
                </a:lnSpc>
              </a:pPr>
              <a:t>3</a:t>
            </a:fld>
            <a:endParaRPr spc="-50" dirty="0"/>
          </a:p>
        </p:txBody>
      </p:sp>
      <p:sp>
        <p:nvSpPr>
          <p:cNvPr id="8" name="object 8"/>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9" name="object 9"/>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
        <p:nvSpPr>
          <p:cNvPr id="6" name="object 6"/>
          <p:cNvSpPr txBox="1"/>
          <p:nvPr/>
        </p:nvSpPr>
        <p:spPr>
          <a:xfrm>
            <a:off x="1274444" y="4330065"/>
            <a:ext cx="5895975" cy="1298575"/>
          </a:xfrm>
          <a:prstGeom prst="rect">
            <a:avLst/>
          </a:prstGeom>
          <a:solidFill>
            <a:srgbClr val="F19C1F"/>
          </a:solidFill>
          <a:ln w="9525">
            <a:solidFill>
              <a:srgbClr val="F7CE9D"/>
            </a:solidFill>
          </a:ln>
        </p:spPr>
        <p:txBody>
          <a:bodyPr vert="horz" wrap="square" lIns="0" tIns="186055" rIns="0" bIns="0" rtlCol="0">
            <a:spAutoFit/>
          </a:bodyPr>
          <a:lstStyle/>
          <a:p>
            <a:pPr marL="90805">
              <a:lnSpc>
                <a:spcPct val="100000"/>
              </a:lnSpc>
              <a:spcBef>
                <a:spcPts val="1465"/>
              </a:spcBef>
            </a:pPr>
            <a:r>
              <a:rPr sz="2000" b="1" spc="-10" dirty="0">
                <a:latin typeface="Arial"/>
                <a:cs typeface="Arial"/>
              </a:rPr>
              <a:t>Syntax</a:t>
            </a:r>
            <a:r>
              <a:rPr sz="2000" spc="-10" dirty="0">
                <a:latin typeface="Arial MT"/>
                <a:cs typeface="Arial MT"/>
              </a:rPr>
              <a:t>:</a:t>
            </a:r>
            <a:endParaRPr sz="2000" dirty="0">
              <a:latin typeface="Arial MT"/>
              <a:cs typeface="Arial MT"/>
            </a:endParaRPr>
          </a:p>
          <a:p>
            <a:pPr marL="90805">
              <a:lnSpc>
                <a:spcPct val="100000"/>
              </a:lnSpc>
              <a:spcBef>
                <a:spcPts val="2205"/>
              </a:spcBef>
            </a:pPr>
            <a:r>
              <a:rPr sz="2000" dirty="0">
                <a:latin typeface="Courier New"/>
                <a:cs typeface="Courier New"/>
              </a:rPr>
              <a:t>file_object</a:t>
            </a:r>
            <a:r>
              <a:rPr sz="2000" spc="-110" dirty="0">
                <a:latin typeface="Courier New"/>
                <a:cs typeface="Courier New"/>
              </a:rPr>
              <a:t> </a:t>
            </a:r>
            <a:r>
              <a:rPr sz="2000" dirty="0">
                <a:latin typeface="Courier New"/>
                <a:cs typeface="Courier New"/>
              </a:rPr>
              <a:t>=</a:t>
            </a:r>
            <a:r>
              <a:rPr sz="2000" spc="-110" dirty="0">
                <a:latin typeface="Courier New"/>
                <a:cs typeface="Courier New"/>
              </a:rPr>
              <a:t> </a:t>
            </a:r>
            <a:r>
              <a:rPr sz="2000" dirty="0">
                <a:latin typeface="Courier New"/>
                <a:cs typeface="Courier New"/>
              </a:rPr>
              <a:t>open(file_path,</a:t>
            </a:r>
            <a:r>
              <a:rPr sz="2000" spc="-105" dirty="0">
                <a:latin typeface="Courier New"/>
                <a:cs typeface="Courier New"/>
              </a:rPr>
              <a:t> </a:t>
            </a:r>
            <a:r>
              <a:rPr sz="2000" spc="-10" dirty="0">
                <a:latin typeface="Courier New"/>
                <a:cs typeface="Courier New"/>
              </a:rPr>
              <a:t>mode)</a:t>
            </a:r>
            <a:endParaRPr sz="2000" dirty="0">
              <a:latin typeface="Courier New"/>
              <a:cs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36332" y="1734947"/>
            <a:ext cx="10027285" cy="2306955"/>
            <a:chOff x="1136332" y="1734947"/>
            <a:chExt cx="10027285" cy="2306955"/>
          </a:xfrm>
        </p:grpSpPr>
        <p:sp>
          <p:nvSpPr>
            <p:cNvPr id="3" name="object 3"/>
            <p:cNvSpPr/>
            <p:nvPr/>
          </p:nvSpPr>
          <p:spPr>
            <a:xfrm>
              <a:off x="1141094" y="2511933"/>
              <a:ext cx="5511165" cy="1525270"/>
            </a:xfrm>
            <a:custGeom>
              <a:avLst/>
              <a:gdLst/>
              <a:ahLst/>
              <a:cxnLst/>
              <a:rect l="l" t="t" r="r" b="b"/>
              <a:pathLst>
                <a:path w="5511165" h="1525270">
                  <a:moveTo>
                    <a:pt x="5510783" y="0"/>
                  </a:moveTo>
                  <a:lnTo>
                    <a:pt x="0" y="0"/>
                  </a:lnTo>
                  <a:lnTo>
                    <a:pt x="0" y="1524762"/>
                  </a:lnTo>
                  <a:lnTo>
                    <a:pt x="5510783" y="1524762"/>
                  </a:lnTo>
                  <a:lnTo>
                    <a:pt x="5510783" y="0"/>
                  </a:lnTo>
                  <a:close/>
                </a:path>
              </a:pathLst>
            </a:custGeom>
            <a:solidFill>
              <a:srgbClr val="FFC250"/>
            </a:solidFill>
          </p:spPr>
          <p:txBody>
            <a:bodyPr wrap="square" lIns="0" tIns="0" rIns="0" bIns="0" rtlCol="0"/>
            <a:lstStyle/>
            <a:p>
              <a:endParaRPr/>
            </a:p>
          </p:txBody>
        </p:sp>
        <p:sp>
          <p:nvSpPr>
            <p:cNvPr id="4" name="object 4"/>
            <p:cNvSpPr/>
            <p:nvPr/>
          </p:nvSpPr>
          <p:spPr>
            <a:xfrm>
              <a:off x="1141094" y="2511933"/>
              <a:ext cx="5511165" cy="1525270"/>
            </a:xfrm>
            <a:custGeom>
              <a:avLst/>
              <a:gdLst/>
              <a:ahLst/>
              <a:cxnLst/>
              <a:rect l="l" t="t" r="r" b="b"/>
              <a:pathLst>
                <a:path w="5511165" h="1525270">
                  <a:moveTo>
                    <a:pt x="0" y="0"/>
                  </a:moveTo>
                  <a:lnTo>
                    <a:pt x="5510783" y="0"/>
                  </a:lnTo>
                  <a:lnTo>
                    <a:pt x="5510783" y="1524762"/>
                  </a:lnTo>
                  <a:lnTo>
                    <a:pt x="0" y="1524762"/>
                  </a:lnTo>
                  <a:lnTo>
                    <a:pt x="0" y="0"/>
                  </a:lnTo>
                  <a:close/>
                </a:path>
              </a:pathLst>
            </a:custGeom>
            <a:ln w="9525">
              <a:solidFill>
                <a:srgbClr val="F7CE9D"/>
              </a:solidFill>
            </a:ln>
          </p:spPr>
          <p:txBody>
            <a:bodyPr wrap="square" lIns="0" tIns="0" rIns="0" bIns="0" rtlCol="0"/>
            <a:lstStyle/>
            <a:p>
              <a:endParaRPr/>
            </a:p>
          </p:txBody>
        </p:sp>
      </p:grpSp>
      <p:sp>
        <p:nvSpPr>
          <p:cNvPr id="5" name="object 5"/>
          <p:cNvSpPr txBox="1"/>
          <p:nvPr/>
        </p:nvSpPr>
        <p:spPr>
          <a:xfrm>
            <a:off x="1084580" y="1845225"/>
            <a:ext cx="5489575" cy="2197735"/>
          </a:xfrm>
          <a:prstGeom prst="rect">
            <a:avLst/>
          </a:prstGeom>
        </p:spPr>
        <p:txBody>
          <a:bodyPr vert="horz" wrap="square" lIns="0" tIns="12700" rIns="0" bIns="0" rtlCol="0">
            <a:spAutoFit/>
          </a:bodyPr>
          <a:lstStyle/>
          <a:p>
            <a:pPr marL="12700" algn="just">
              <a:lnSpc>
                <a:spcPct val="100000"/>
              </a:lnSpc>
              <a:spcBef>
                <a:spcPts val="100"/>
              </a:spcBef>
            </a:pPr>
            <a:r>
              <a:rPr sz="2800" b="1" spc="-10" dirty="0">
                <a:solidFill>
                  <a:srgbClr val="404040"/>
                </a:solidFill>
                <a:latin typeface="Courier New"/>
                <a:cs typeface="Courier New"/>
              </a:rPr>
              <a:t>with()</a:t>
            </a:r>
            <a:r>
              <a:rPr sz="2800" b="1" spc="-885" dirty="0">
                <a:solidFill>
                  <a:srgbClr val="404040"/>
                </a:solidFill>
                <a:latin typeface="Courier New"/>
                <a:cs typeface="Courier New"/>
              </a:rPr>
              <a:t> </a:t>
            </a:r>
            <a:r>
              <a:rPr sz="2800" b="1" spc="-10" dirty="0">
                <a:solidFill>
                  <a:srgbClr val="404040"/>
                </a:solidFill>
                <a:latin typeface="Arial"/>
                <a:cs typeface="Arial"/>
              </a:rPr>
              <a:t>Statement</a:t>
            </a:r>
            <a:endParaRPr sz="2800">
              <a:latin typeface="Arial"/>
              <a:cs typeface="Arial"/>
            </a:endParaRPr>
          </a:p>
          <a:p>
            <a:pPr marL="146685" marR="5080" indent="635" algn="just">
              <a:lnSpc>
                <a:spcPct val="101499"/>
              </a:lnSpc>
              <a:spcBef>
                <a:spcPts val="1565"/>
              </a:spcBef>
            </a:pPr>
            <a:r>
              <a:rPr sz="2000" dirty="0">
                <a:latin typeface="Arial MT"/>
                <a:cs typeface="Arial MT"/>
              </a:rPr>
              <a:t>The</a:t>
            </a:r>
            <a:r>
              <a:rPr sz="2000" spc="150" dirty="0">
                <a:latin typeface="Arial MT"/>
                <a:cs typeface="Arial MT"/>
              </a:rPr>
              <a:t> </a:t>
            </a:r>
            <a:r>
              <a:rPr sz="2000" spc="-60" dirty="0">
                <a:latin typeface="Courier New"/>
                <a:cs typeface="Courier New"/>
              </a:rPr>
              <a:t>with</a:t>
            </a:r>
            <a:r>
              <a:rPr sz="2000" spc="-240" dirty="0">
                <a:latin typeface="Courier New"/>
                <a:cs typeface="Courier New"/>
              </a:rPr>
              <a:t> </a:t>
            </a:r>
            <a:r>
              <a:rPr sz="2000" spc="110" dirty="0">
                <a:latin typeface="Arial MT"/>
                <a:cs typeface="Arial MT"/>
              </a:rPr>
              <a:t>statement</a:t>
            </a:r>
            <a:r>
              <a:rPr sz="2000" spc="285" dirty="0">
                <a:latin typeface="Arial MT"/>
                <a:cs typeface="Arial MT"/>
              </a:rPr>
              <a:t> </a:t>
            </a:r>
            <a:r>
              <a:rPr sz="2000" dirty="0">
                <a:latin typeface="Arial MT"/>
                <a:cs typeface="Arial MT"/>
              </a:rPr>
              <a:t>helps</a:t>
            </a:r>
            <a:r>
              <a:rPr sz="2000" spc="285" dirty="0">
                <a:latin typeface="Arial MT"/>
                <a:cs typeface="Arial MT"/>
              </a:rPr>
              <a:t> </a:t>
            </a:r>
            <a:r>
              <a:rPr sz="2000" dirty="0">
                <a:latin typeface="Arial MT"/>
                <a:cs typeface="Arial MT"/>
              </a:rPr>
              <a:t>in</a:t>
            </a:r>
            <a:r>
              <a:rPr sz="2000" spc="290" dirty="0">
                <a:latin typeface="Arial MT"/>
                <a:cs typeface="Arial MT"/>
              </a:rPr>
              <a:t> </a:t>
            </a:r>
            <a:r>
              <a:rPr sz="2000" spc="114" dirty="0">
                <a:latin typeface="Arial MT"/>
                <a:cs typeface="Arial MT"/>
              </a:rPr>
              <a:t>handling</a:t>
            </a:r>
            <a:r>
              <a:rPr sz="2000" spc="290" dirty="0">
                <a:latin typeface="Arial MT"/>
                <a:cs typeface="Arial MT"/>
              </a:rPr>
              <a:t> </a:t>
            </a:r>
            <a:r>
              <a:rPr sz="2000" spc="-10" dirty="0">
                <a:latin typeface="Arial MT"/>
                <a:cs typeface="Arial MT"/>
              </a:rPr>
              <a:t>files, </a:t>
            </a:r>
            <a:r>
              <a:rPr sz="2000" dirty="0">
                <a:latin typeface="Arial MT"/>
                <a:cs typeface="Arial MT"/>
              </a:rPr>
              <a:t>resources,</a:t>
            </a:r>
            <a:r>
              <a:rPr sz="2000" spc="75" dirty="0">
                <a:latin typeface="Arial MT"/>
                <a:cs typeface="Arial MT"/>
              </a:rPr>
              <a:t> </a:t>
            </a:r>
            <a:r>
              <a:rPr sz="2000" spc="60" dirty="0">
                <a:latin typeface="Arial MT"/>
                <a:cs typeface="Arial MT"/>
              </a:rPr>
              <a:t>or</a:t>
            </a:r>
            <a:r>
              <a:rPr sz="2000" spc="80" dirty="0">
                <a:latin typeface="Arial MT"/>
                <a:cs typeface="Arial MT"/>
              </a:rPr>
              <a:t> </a:t>
            </a:r>
            <a:r>
              <a:rPr sz="2000" spc="90" dirty="0">
                <a:latin typeface="Arial MT"/>
                <a:cs typeface="Arial MT"/>
              </a:rPr>
              <a:t>contexts</a:t>
            </a:r>
            <a:r>
              <a:rPr sz="2000" spc="80" dirty="0">
                <a:latin typeface="Arial MT"/>
                <a:cs typeface="Arial MT"/>
              </a:rPr>
              <a:t> </a:t>
            </a:r>
            <a:r>
              <a:rPr sz="2000" spc="145" dirty="0">
                <a:latin typeface="Arial MT"/>
                <a:cs typeface="Arial MT"/>
              </a:rPr>
              <a:t>that</a:t>
            </a:r>
            <a:r>
              <a:rPr sz="2000" spc="85" dirty="0">
                <a:latin typeface="Arial MT"/>
                <a:cs typeface="Arial MT"/>
              </a:rPr>
              <a:t> </a:t>
            </a:r>
            <a:r>
              <a:rPr sz="2000" spc="204" dirty="0">
                <a:latin typeface="Arial MT"/>
                <a:cs typeface="Arial MT"/>
              </a:rPr>
              <a:t>demand</a:t>
            </a:r>
            <a:r>
              <a:rPr sz="2000" spc="80" dirty="0">
                <a:latin typeface="Arial MT"/>
                <a:cs typeface="Arial MT"/>
              </a:rPr>
              <a:t> </a:t>
            </a:r>
            <a:r>
              <a:rPr sz="2000" spc="65" dirty="0">
                <a:latin typeface="Arial MT"/>
                <a:cs typeface="Arial MT"/>
              </a:rPr>
              <a:t>explicit </a:t>
            </a:r>
            <a:r>
              <a:rPr sz="2000" spc="80" dirty="0">
                <a:latin typeface="Arial MT"/>
                <a:cs typeface="Arial MT"/>
              </a:rPr>
              <a:t>setup</a:t>
            </a:r>
            <a:r>
              <a:rPr sz="2000" spc="165" dirty="0">
                <a:latin typeface="Arial MT"/>
                <a:cs typeface="Arial MT"/>
              </a:rPr>
              <a:t> </a:t>
            </a:r>
            <a:r>
              <a:rPr sz="2000" spc="200" dirty="0">
                <a:latin typeface="Arial MT"/>
                <a:cs typeface="Arial MT"/>
              </a:rPr>
              <a:t>and</a:t>
            </a:r>
            <a:r>
              <a:rPr sz="2000" spc="170" dirty="0">
                <a:latin typeface="Arial MT"/>
                <a:cs typeface="Arial MT"/>
              </a:rPr>
              <a:t> </a:t>
            </a:r>
            <a:r>
              <a:rPr sz="2000" spc="135" dirty="0">
                <a:latin typeface="Arial MT"/>
                <a:cs typeface="Arial MT"/>
              </a:rPr>
              <a:t>cleanup.</a:t>
            </a:r>
            <a:r>
              <a:rPr sz="2000" spc="160" dirty="0">
                <a:latin typeface="Arial MT"/>
                <a:cs typeface="Arial MT"/>
              </a:rPr>
              <a:t> </a:t>
            </a:r>
            <a:r>
              <a:rPr sz="2000" dirty="0">
                <a:latin typeface="Arial MT"/>
                <a:cs typeface="Arial MT"/>
              </a:rPr>
              <a:t>It</a:t>
            </a:r>
            <a:r>
              <a:rPr sz="2000" spc="160" dirty="0">
                <a:latin typeface="Arial MT"/>
                <a:cs typeface="Arial MT"/>
              </a:rPr>
              <a:t> </a:t>
            </a:r>
            <a:r>
              <a:rPr sz="2000" dirty="0">
                <a:latin typeface="Arial MT"/>
                <a:cs typeface="Arial MT"/>
              </a:rPr>
              <a:t>ensures</a:t>
            </a:r>
            <a:r>
              <a:rPr sz="2000" spc="170" dirty="0">
                <a:latin typeface="Arial MT"/>
                <a:cs typeface="Arial MT"/>
              </a:rPr>
              <a:t> </a:t>
            </a:r>
            <a:r>
              <a:rPr sz="2000" spc="145" dirty="0">
                <a:latin typeface="Arial MT"/>
                <a:cs typeface="Arial MT"/>
              </a:rPr>
              <a:t>that</a:t>
            </a:r>
            <a:r>
              <a:rPr sz="2000" spc="165" dirty="0">
                <a:latin typeface="Arial MT"/>
                <a:cs typeface="Arial MT"/>
              </a:rPr>
              <a:t> </a:t>
            </a:r>
            <a:r>
              <a:rPr sz="2000" spc="135" dirty="0">
                <a:latin typeface="Arial MT"/>
                <a:cs typeface="Arial MT"/>
              </a:rPr>
              <a:t>the</a:t>
            </a:r>
            <a:r>
              <a:rPr sz="2000" spc="160" dirty="0">
                <a:latin typeface="Arial MT"/>
                <a:cs typeface="Arial MT"/>
              </a:rPr>
              <a:t> </a:t>
            </a:r>
            <a:r>
              <a:rPr sz="2000" spc="-10" dirty="0">
                <a:latin typeface="Arial MT"/>
                <a:cs typeface="Arial MT"/>
              </a:rPr>
              <a:t>files </a:t>
            </a:r>
            <a:r>
              <a:rPr sz="2000" spc="114" dirty="0">
                <a:latin typeface="Arial MT"/>
                <a:cs typeface="Arial MT"/>
              </a:rPr>
              <a:t>are</a:t>
            </a:r>
            <a:r>
              <a:rPr sz="2000" spc="30" dirty="0">
                <a:latin typeface="Arial MT"/>
                <a:cs typeface="Arial MT"/>
              </a:rPr>
              <a:t> </a:t>
            </a:r>
            <a:r>
              <a:rPr sz="2000" spc="125" dirty="0">
                <a:latin typeface="Arial MT"/>
                <a:cs typeface="Arial MT"/>
              </a:rPr>
              <a:t>automatically</a:t>
            </a:r>
            <a:r>
              <a:rPr sz="2000" spc="50" dirty="0">
                <a:latin typeface="Arial MT"/>
                <a:cs typeface="Arial MT"/>
              </a:rPr>
              <a:t> </a:t>
            </a:r>
            <a:r>
              <a:rPr sz="2000" spc="100" dirty="0">
                <a:latin typeface="Arial MT"/>
                <a:cs typeface="Arial MT"/>
              </a:rPr>
              <a:t>closed</a:t>
            </a:r>
            <a:r>
              <a:rPr sz="2000" spc="30" dirty="0">
                <a:latin typeface="Arial MT"/>
                <a:cs typeface="Arial MT"/>
              </a:rPr>
              <a:t> </a:t>
            </a:r>
            <a:r>
              <a:rPr sz="2000" spc="105" dirty="0">
                <a:latin typeface="Arial MT"/>
                <a:cs typeface="Arial MT"/>
              </a:rPr>
              <a:t>after</a:t>
            </a:r>
            <a:r>
              <a:rPr sz="2000" spc="35" dirty="0">
                <a:latin typeface="Arial MT"/>
                <a:cs typeface="Arial MT"/>
              </a:rPr>
              <a:t> </a:t>
            </a:r>
            <a:r>
              <a:rPr sz="2000" spc="135" dirty="0">
                <a:latin typeface="Arial MT"/>
                <a:cs typeface="Arial MT"/>
              </a:rPr>
              <a:t>the</a:t>
            </a:r>
            <a:r>
              <a:rPr sz="2000" spc="35" dirty="0">
                <a:latin typeface="Arial MT"/>
                <a:cs typeface="Arial MT"/>
              </a:rPr>
              <a:t> </a:t>
            </a:r>
            <a:r>
              <a:rPr sz="2000" spc="80" dirty="0">
                <a:latin typeface="Arial MT"/>
                <a:cs typeface="Arial MT"/>
              </a:rPr>
              <a:t>required </a:t>
            </a:r>
            <a:r>
              <a:rPr sz="2000" spc="90" dirty="0">
                <a:latin typeface="Arial MT"/>
                <a:cs typeface="Arial MT"/>
              </a:rPr>
              <a:t>operations</a:t>
            </a:r>
            <a:r>
              <a:rPr sz="2000" spc="10" dirty="0">
                <a:latin typeface="Arial MT"/>
                <a:cs typeface="Arial MT"/>
              </a:rPr>
              <a:t> </a:t>
            </a:r>
            <a:r>
              <a:rPr sz="2000" spc="114" dirty="0">
                <a:latin typeface="Arial MT"/>
                <a:cs typeface="Arial MT"/>
              </a:rPr>
              <a:t>are</a:t>
            </a:r>
            <a:r>
              <a:rPr sz="2000" spc="-5" dirty="0">
                <a:latin typeface="Arial MT"/>
                <a:cs typeface="Arial MT"/>
              </a:rPr>
              <a:t> </a:t>
            </a:r>
            <a:r>
              <a:rPr sz="2000" spc="105" dirty="0">
                <a:latin typeface="Arial MT"/>
                <a:cs typeface="Arial MT"/>
              </a:rPr>
              <a:t>performed.</a:t>
            </a:r>
            <a:endParaRPr sz="2000">
              <a:latin typeface="Arial MT"/>
              <a:cs typeface="Arial MT"/>
            </a:endParaRPr>
          </a:p>
        </p:txBody>
      </p:sp>
      <p:grpSp>
        <p:nvGrpSpPr>
          <p:cNvPr id="6" name="object 6"/>
          <p:cNvGrpSpPr/>
          <p:nvPr/>
        </p:nvGrpSpPr>
        <p:grpSpPr>
          <a:xfrm>
            <a:off x="1136332" y="4131754"/>
            <a:ext cx="5520690" cy="1534795"/>
            <a:chOff x="1136332" y="4131754"/>
            <a:chExt cx="5520690" cy="1534795"/>
          </a:xfrm>
        </p:grpSpPr>
        <p:sp>
          <p:nvSpPr>
            <p:cNvPr id="7" name="object 7"/>
            <p:cNvSpPr/>
            <p:nvPr/>
          </p:nvSpPr>
          <p:spPr>
            <a:xfrm>
              <a:off x="1141094" y="4136516"/>
              <a:ext cx="5511165" cy="1525270"/>
            </a:xfrm>
            <a:custGeom>
              <a:avLst/>
              <a:gdLst/>
              <a:ahLst/>
              <a:cxnLst/>
              <a:rect l="l" t="t" r="r" b="b"/>
              <a:pathLst>
                <a:path w="5511165" h="1525270">
                  <a:moveTo>
                    <a:pt x="5510783" y="0"/>
                  </a:moveTo>
                  <a:lnTo>
                    <a:pt x="0" y="0"/>
                  </a:lnTo>
                  <a:lnTo>
                    <a:pt x="0" y="1524761"/>
                  </a:lnTo>
                  <a:lnTo>
                    <a:pt x="5510783" y="1524761"/>
                  </a:lnTo>
                  <a:lnTo>
                    <a:pt x="5510783" y="0"/>
                  </a:lnTo>
                  <a:close/>
                </a:path>
              </a:pathLst>
            </a:custGeom>
            <a:solidFill>
              <a:srgbClr val="FFC250"/>
            </a:solidFill>
          </p:spPr>
          <p:txBody>
            <a:bodyPr wrap="square" lIns="0" tIns="0" rIns="0" bIns="0" rtlCol="0"/>
            <a:lstStyle/>
            <a:p>
              <a:endParaRPr/>
            </a:p>
          </p:txBody>
        </p:sp>
        <p:sp>
          <p:nvSpPr>
            <p:cNvPr id="8" name="object 8"/>
            <p:cNvSpPr/>
            <p:nvPr/>
          </p:nvSpPr>
          <p:spPr>
            <a:xfrm>
              <a:off x="1141094" y="4136516"/>
              <a:ext cx="5511165" cy="1525270"/>
            </a:xfrm>
            <a:custGeom>
              <a:avLst/>
              <a:gdLst/>
              <a:ahLst/>
              <a:cxnLst/>
              <a:rect l="l" t="t" r="r" b="b"/>
              <a:pathLst>
                <a:path w="5511165" h="1525270">
                  <a:moveTo>
                    <a:pt x="0" y="0"/>
                  </a:moveTo>
                  <a:lnTo>
                    <a:pt x="5510783" y="0"/>
                  </a:lnTo>
                  <a:lnTo>
                    <a:pt x="5510783" y="1524761"/>
                  </a:lnTo>
                  <a:lnTo>
                    <a:pt x="0" y="1524761"/>
                  </a:lnTo>
                  <a:lnTo>
                    <a:pt x="0" y="0"/>
                  </a:lnTo>
                  <a:close/>
                </a:path>
              </a:pathLst>
            </a:custGeom>
            <a:ln w="9525">
              <a:solidFill>
                <a:srgbClr val="F7CE9D"/>
              </a:solidFill>
            </a:ln>
          </p:spPr>
          <p:txBody>
            <a:bodyPr wrap="square" lIns="0" tIns="0" rIns="0" bIns="0" rtlCol="0"/>
            <a:lstStyle/>
            <a:p>
              <a:endParaRPr/>
            </a:p>
          </p:txBody>
        </p:sp>
      </p:grpSp>
      <p:sp>
        <p:nvSpPr>
          <p:cNvPr id="9" name="object 9"/>
          <p:cNvSpPr txBox="1"/>
          <p:nvPr/>
        </p:nvSpPr>
        <p:spPr>
          <a:xfrm>
            <a:off x="5024990" y="4855910"/>
            <a:ext cx="1547495" cy="330200"/>
          </a:xfrm>
          <a:prstGeom prst="rect">
            <a:avLst/>
          </a:prstGeom>
        </p:spPr>
        <p:txBody>
          <a:bodyPr vert="horz" wrap="square" lIns="0" tIns="12065" rIns="0" bIns="0" rtlCol="0">
            <a:spAutoFit/>
          </a:bodyPr>
          <a:lstStyle/>
          <a:p>
            <a:pPr marL="12700">
              <a:lnSpc>
                <a:spcPct val="100000"/>
              </a:lnSpc>
              <a:spcBef>
                <a:spcPts val="95"/>
              </a:spcBef>
              <a:tabLst>
                <a:tab pos="1229360" algn="l"/>
              </a:tabLst>
            </a:pPr>
            <a:r>
              <a:rPr sz="2000" spc="-10" dirty="0">
                <a:latin typeface="Courier New"/>
                <a:cs typeface="Courier New"/>
              </a:rPr>
              <a:t>mode)</a:t>
            </a:r>
            <a:r>
              <a:rPr sz="2000" dirty="0">
                <a:latin typeface="Courier New"/>
                <a:cs typeface="Courier New"/>
              </a:rPr>
              <a:t>	</a:t>
            </a:r>
            <a:r>
              <a:rPr sz="2000" spc="-25" dirty="0">
                <a:latin typeface="Courier New"/>
                <a:cs typeface="Courier New"/>
              </a:rPr>
              <a:t>as</a:t>
            </a:r>
            <a:endParaRPr sz="2000">
              <a:latin typeface="Courier New"/>
              <a:cs typeface="Courier New"/>
            </a:endParaRPr>
          </a:p>
        </p:txBody>
      </p:sp>
      <p:sp>
        <p:nvSpPr>
          <p:cNvPr id="10" name="object 10"/>
          <p:cNvSpPr txBox="1"/>
          <p:nvPr/>
        </p:nvSpPr>
        <p:spPr>
          <a:xfrm>
            <a:off x="1219561" y="4270772"/>
            <a:ext cx="3377565" cy="1219835"/>
          </a:xfrm>
          <a:prstGeom prst="rect">
            <a:avLst/>
          </a:prstGeom>
        </p:spPr>
        <p:txBody>
          <a:bodyPr vert="horz" wrap="square" lIns="0" tIns="12065" rIns="0" bIns="0" rtlCol="0">
            <a:spAutoFit/>
          </a:bodyPr>
          <a:lstStyle/>
          <a:p>
            <a:pPr marL="12700">
              <a:lnSpc>
                <a:spcPct val="100000"/>
              </a:lnSpc>
              <a:spcBef>
                <a:spcPts val="95"/>
              </a:spcBef>
            </a:pPr>
            <a:r>
              <a:rPr sz="2000" b="1" spc="-10" dirty="0">
                <a:latin typeface="Arial"/>
                <a:cs typeface="Arial"/>
              </a:rPr>
              <a:t>Syntax</a:t>
            </a:r>
            <a:r>
              <a:rPr sz="2000" spc="-10" dirty="0">
                <a:latin typeface="Arial MT"/>
                <a:cs typeface="Arial MT"/>
              </a:rPr>
              <a:t>:</a:t>
            </a:r>
            <a:endParaRPr sz="2000">
              <a:latin typeface="Arial MT"/>
              <a:cs typeface="Arial MT"/>
            </a:endParaRPr>
          </a:p>
          <a:p>
            <a:pPr marL="12700" marR="5080">
              <a:lnSpc>
                <a:spcPct val="100000"/>
              </a:lnSpc>
              <a:spcBef>
                <a:spcPts val="2210"/>
              </a:spcBef>
              <a:tabLst>
                <a:tab pos="1076960" algn="l"/>
              </a:tabLst>
            </a:pPr>
            <a:r>
              <a:rPr sz="2000" spc="-20" dirty="0">
                <a:latin typeface="Courier New"/>
                <a:cs typeface="Courier New"/>
              </a:rPr>
              <a:t>with</a:t>
            </a:r>
            <a:r>
              <a:rPr sz="2000" dirty="0">
                <a:latin typeface="Courier New"/>
                <a:cs typeface="Courier New"/>
              </a:rPr>
              <a:t>	</a:t>
            </a:r>
            <a:r>
              <a:rPr sz="2000" spc="-10" dirty="0">
                <a:latin typeface="Courier New"/>
                <a:cs typeface="Courier New"/>
              </a:rPr>
              <a:t>open(file_path, file_object:</a:t>
            </a:r>
            <a:endParaRPr sz="2000">
              <a:latin typeface="Courier New"/>
              <a:cs typeface="Courier New"/>
            </a:endParaRPr>
          </a:p>
        </p:txBody>
      </p:sp>
      <p:sp>
        <p:nvSpPr>
          <p:cNvPr id="11" name="object 11"/>
          <p:cNvSpPr txBox="1">
            <a:spLocks noGrp="1"/>
          </p:cNvSpPr>
          <p:nvPr>
            <p:ph type="title"/>
          </p:nvPr>
        </p:nvSpPr>
        <p:spPr>
          <a:prstGeom prst="rect">
            <a:avLst/>
          </a:prstGeom>
        </p:spPr>
        <p:txBody>
          <a:bodyPr vert="horz" wrap="square" lIns="0" tIns="695579" rIns="0" bIns="0" rtlCol="0">
            <a:spAutoFit/>
          </a:bodyPr>
          <a:lstStyle/>
          <a:p>
            <a:pPr marL="12700">
              <a:lnSpc>
                <a:spcPct val="100000"/>
              </a:lnSpc>
              <a:spcBef>
                <a:spcPts val="95"/>
              </a:spcBef>
            </a:pPr>
            <a:r>
              <a:rPr sz="4400" spc="60" dirty="0"/>
              <a:t>Opening</a:t>
            </a:r>
            <a:r>
              <a:rPr sz="4400" spc="-135" dirty="0"/>
              <a:t> </a:t>
            </a:r>
            <a:r>
              <a:rPr sz="4400" spc="165" dirty="0"/>
              <a:t>and</a:t>
            </a:r>
            <a:r>
              <a:rPr sz="4400" spc="-120" dirty="0"/>
              <a:t> </a:t>
            </a:r>
            <a:r>
              <a:rPr sz="4400" spc="-85" dirty="0"/>
              <a:t>Closing</a:t>
            </a:r>
            <a:r>
              <a:rPr sz="4400" spc="-120" dirty="0"/>
              <a:t> </a:t>
            </a:r>
            <a:r>
              <a:rPr sz="4400" spc="-215" dirty="0"/>
              <a:t>Text</a:t>
            </a:r>
            <a:r>
              <a:rPr sz="4400" spc="-105" dirty="0"/>
              <a:t> </a:t>
            </a:r>
            <a:r>
              <a:rPr sz="4400" spc="-270" dirty="0"/>
              <a:t>Files</a:t>
            </a:r>
            <a:r>
              <a:rPr sz="4400" spc="-110" dirty="0"/>
              <a:t> </a:t>
            </a:r>
            <a:r>
              <a:rPr sz="4400" spc="65" dirty="0"/>
              <a:t>[2-</a:t>
            </a:r>
            <a:r>
              <a:rPr sz="4400" spc="-25" dirty="0"/>
              <a:t>3]</a:t>
            </a:r>
            <a:endParaRPr sz="4400"/>
          </a:p>
        </p:txBody>
      </p:sp>
      <p:pic>
        <p:nvPicPr>
          <p:cNvPr id="12" name="object 12"/>
          <p:cNvPicPr/>
          <p:nvPr/>
        </p:nvPicPr>
        <p:blipFill>
          <a:blip r:embed="rId3" cstate="print"/>
          <a:stretch>
            <a:fillRect/>
          </a:stretch>
        </p:blipFill>
        <p:spPr>
          <a:xfrm>
            <a:off x="6608064" y="1683257"/>
            <a:ext cx="4876024" cy="4876787"/>
          </a:xfrm>
          <a:prstGeom prst="rect">
            <a:avLst/>
          </a:prstGeom>
        </p:spPr>
      </p:pic>
      <p:sp>
        <p:nvSpPr>
          <p:cNvPr id="13" name="object 13"/>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4</a:t>
            </a:fld>
            <a:endParaRPr spc="-25" dirty="0"/>
          </a:p>
        </p:txBody>
      </p:sp>
      <p:sp>
        <p:nvSpPr>
          <p:cNvPr id="14" name="object 14"/>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5" name="object 15"/>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95579" rIns="0" bIns="0" rtlCol="0">
            <a:spAutoFit/>
          </a:bodyPr>
          <a:lstStyle/>
          <a:p>
            <a:pPr marL="12700">
              <a:lnSpc>
                <a:spcPct val="100000"/>
              </a:lnSpc>
              <a:spcBef>
                <a:spcPts val="95"/>
              </a:spcBef>
            </a:pPr>
            <a:r>
              <a:rPr sz="4400" spc="60" dirty="0"/>
              <a:t>Opening</a:t>
            </a:r>
            <a:r>
              <a:rPr sz="4400" spc="-135" dirty="0"/>
              <a:t> </a:t>
            </a:r>
            <a:r>
              <a:rPr sz="4400" spc="165" dirty="0"/>
              <a:t>and</a:t>
            </a:r>
            <a:r>
              <a:rPr sz="4400" spc="-120" dirty="0"/>
              <a:t> </a:t>
            </a:r>
            <a:r>
              <a:rPr sz="4400" spc="-85" dirty="0"/>
              <a:t>Closing</a:t>
            </a:r>
            <a:r>
              <a:rPr sz="4400" spc="-120" dirty="0"/>
              <a:t> </a:t>
            </a:r>
            <a:r>
              <a:rPr sz="4400" spc="-215" dirty="0"/>
              <a:t>Text</a:t>
            </a:r>
            <a:r>
              <a:rPr sz="4400" spc="-105" dirty="0"/>
              <a:t> </a:t>
            </a:r>
            <a:r>
              <a:rPr sz="4400" spc="-270" dirty="0"/>
              <a:t>Files</a:t>
            </a:r>
            <a:r>
              <a:rPr sz="4400" spc="-110" dirty="0"/>
              <a:t> </a:t>
            </a:r>
            <a:r>
              <a:rPr sz="4400" spc="65" dirty="0"/>
              <a:t>[3-</a:t>
            </a:r>
            <a:r>
              <a:rPr sz="4400" spc="-25" dirty="0"/>
              <a:t>3]</a:t>
            </a:r>
            <a:endParaRPr sz="4400"/>
          </a:p>
        </p:txBody>
      </p:sp>
      <p:sp>
        <p:nvSpPr>
          <p:cNvPr id="3" name="object 3"/>
          <p:cNvSpPr txBox="1"/>
          <p:nvPr/>
        </p:nvSpPr>
        <p:spPr>
          <a:xfrm>
            <a:off x="1084580" y="1871896"/>
            <a:ext cx="10085070" cy="2263775"/>
          </a:xfrm>
          <a:prstGeom prst="rect">
            <a:avLst/>
          </a:prstGeom>
        </p:spPr>
        <p:txBody>
          <a:bodyPr vert="horz" wrap="square" lIns="0" tIns="12700" rIns="0" bIns="0" rtlCol="0">
            <a:spAutoFit/>
          </a:bodyPr>
          <a:lstStyle/>
          <a:p>
            <a:pPr marL="12700">
              <a:lnSpc>
                <a:spcPct val="100000"/>
              </a:lnSpc>
              <a:spcBef>
                <a:spcPts val="100"/>
              </a:spcBef>
            </a:pPr>
            <a:r>
              <a:rPr sz="2800" b="1" spc="-60" dirty="0">
                <a:solidFill>
                  <a:srgbClr val="404040"/>
                </a:solidFill>
                <a:latin typeface="Arial"/>
                <a:cs typeface="Arial"/>
              </a:rPr>
              <a:t>File</a:t>
            </a:r>
            <a:r>
              <a:rPr sz="2800" b="1" spc="-125" dirty="0">
                <a:solidFill>
                  <a:srgbClr val="404040"/>
                </a:solidFill>
                <a:latin typeface="Arial"/>
                <a:cs typeface="Arial"/>
              </a:rPr>
              <a:t> </a:t>
            </a:r>
            <a:r>
              <a:rPr sz="2800" b="1" spc="80" dirty="0">
                <a:solidFill>
                  <a:srgbClr val="404040"/>
                </a:solidFill>
                <a:latin typeface="Arial"/>
                <a:cs typeface="Arial"/>
              </a:rPr>
              <a:t>Object</a:t>
            </a:r>
            <a:endParaRPr sz="2800">
              <a:latin typeface="Arial"/>
              <a:cs typeface="Arial"/>
            </a:endParaRPr>
          </a:p>
          <a:p>
            <a:pPr marL="104139" marR="5080" indent="-95885">
              <a:lnSpc>
                <a:spcPct val="100000"/>
              </a:lnSpc>
              <a:spcBef>
                <a:spcPts val="2410"/>
              </a:spcBef>
              <a:buClr>
                <a:srgbClr val="E38312"/>
              </a:buClr>
              <a:buSzPct val="95000"/>
              <a:buFont typeface="Wingdings"/>
              <a:buChar char=""/>
              <a:tabLst>
                <a:tab pos="104139" algn="l"/>
                <a:tab pos="213360" algn="l"/>
              </a:tabLst>
            </a:pPr>
            <a:r>
              <a:rPr sz="2000" spc="105" dirty="0">
                <a:solidFill>
                  <a:srgbClr val="404040"/>
                </a:solidFill>
                <a:latin typeface="Arial MT"/>
                <a:cs typeface="Arial MT"/>
              </a:rPr>
              <a:t>	Objects</a:t>
            </a:r>
            <a:r>
              <a:rPr sz="2000" spc="175" dirty="0">
                <a:solidFill>
                  <a:srgbClr val="404040"/>
                </a:solidFill>
                <a:latin typeface="Arial MT"/>
                <a:cs typeface="Arial MT"/>
              </a:rPr>
              <a:t> </a:t>
            </a:r>
            <a:r>
              <a:rPr sz="2000" dirty="0">
                <a:solidFill>
                  <a:srgbClr val="404040"/>
                </a:solidFill>
                <a:latin typeface="Arial MT"/>
                <a:cs typeface="Arial MT"/>
              </a:rPr>
              <a:t>serve</a:t>
            </a:r>
            <a:r>
              <a:rPr sz="2000" spc="180" dirty="0">
                <a:solidFill>
                  <a:srgbClr val="404040"/>
                </a:solidFill>
                <a:latin typeface="Arial MT"/>
                <a:cs typeface="Arial MT"/>
              </a:rPr>
              <a:t> </a:t>
            </a:r>
            <a:r>
              <a:rPr sz="2000" dirty="0">
                <a:solidFill>
                  <a:srgbClr val="404040"/>
                </a:solidFill>
                <a:latin typeface="Arial MT"/>
                <a:cs typeface="Arial MT"/>
              </a:rPr>
              <a:t>as</a:t>
            </a:r>
            <a:r>
              <a:rPr sz="2000" spc="175" dirty="0">
                <a:solidFill>
                  <a:srgbClr val="404040"/>
                </a:solidFill>
                <a:latin typeface="Arial MT"/>
                <a:cs typeface="Arial MT"/>
              </a:rPr>
              <a:t> </a:t>
            </a:r>
            <a:r>
              <a:rPr sz="2000" spc="105" dirty="0">
                <a:solidFill>
                  <a:srgbClr val="404040"/>
                </a:solidFill>
                <a:latin typeface="Arial MT"/>
                <a:cs typeface="Arial MT"/>
              </a:rPr>
              <a:t>powerful</a:t>
            </a:r>
            <a:r>
              <a:rPr sz="2000" spc="180" dirty="0">
                <a:solidFill>
                  <a:srgbClr val="404040"/>
                </a:solidFill>
                <a:latin typeface="Arial MT"/>
                <a:cs typeface="Arial MT"/>
              </a:rPr>
              <a:t> </a:t>
            </a:r>
            <a:r>
              <a:rPr sz="2000" dirty="0">
                <a:solidFill>
                  <a:srgbClr val="404040"/>
                </a:solidFill>
                <a:latin typeface="Arial MT"/>
                <a:cs typeface="Arial MT"/>
              </a:rPr>
              <a:t>tools</a:t>
            </a:r>
            <a:r>
              <a:rPr sz="2000" spc="175" dirty="0">
                <a:solidFill>
                  <a:srgbClr val="404040"/>
                </a:solidFill>
                <a:latin typeface="Arial MT"/>
                <a:cs typeface="Arial MT"/>
              </a:rPr>
              <a:t> </a:t>
            </a:r>
            <a:r>
              <a:rPr sz="2000" spc="65" dirty="0">
                <a:solidFill>
                  <a:srgbClr val="404040"/>
                </a:solidFill>
                <a:latin typeface="Arial MT"/>
                <a:cs typeface="Arial MT"/>
              </a:rPr>
              <a:t>for</a:t>
            </a:r>
            <a:r>
              <a:rPr sz="2000" spc="180" dirty="0">
                <a:solidFill>
                  <a:srgbClr val="404040"/>
                </a:solidFill>
                <a:latin typeface="Arial MT"/>
                <a:cs typeface="Arial MT"/>
              </a:rPr>
              <a:t> </a:t>
            </a:r>
            <a:r>
              <a:rPr sz="2000" spc="105" dirty="0">
                <a:solidFill>
                  <a:srgbClr val="404040"/>
                </a:solidFill>
                <a:latin typeface="Arial MT"/>
                <a:cs typeface="Arial MT"/>
              </a:rPr>
              <a:t>interacting</a:t>
            </a:r>
            <a:r>
              <a:rPr sz="2000" spc="180" dirty="0">
                <a:solidFill>
                  <a:srgbClr val="404040"/>
                </a:solidFill>
                <a:latin typeface="Arial MT"/>
                <a:cs typeface="Arial MT"/>
              </a:rPr>
              <a:t> </a:t>
            </a:r>
            <a:r>
              <a:rPr sz="2000" spc="90" dirty="0">
                <a:solidFill>
                  <a:srgbClr val="404040"/>
                </a:solidFill>
                <a:latin typeface="Arial MT"/>
                <a:cs typeface="Arial MT"/>
              </a:rPr>
              <a:t>with</a:t>
            </a:r>
            <a:r>
              <a:rPr sz="2000" spc="185" dirty="0">
                <a:solidFill>
                  <a:srgbClr val="404040"/>
                </a:solidFill>
                <a:latin typeface="Arial MT"/>
                <a:cs typeface="Arial MT"/>
              </a:rPr>
              <a:t> </a:t>
            </a:r>
            <a:r>
              <a:rPr sz="2000" spc="215" dirty="0">
                <a:solidFill>
                  <a:srgbClr val="404040"/>
                </a:solidFill>
                <a:latin typeface="Arial MT"/>
                <a:cs typeface="Arial MT"/>
              </a:rPr>
              <a:t>data</a:t>
            </a:r>
            <a:r>
              <a:rPr sz="2000" spc="175" dirty="0">
                <a:solidFill>
                  <a:srgbClr val="404040"/>
                </a:solidFill>
                <a:latin typeface="Arial MT"/>
                <a:cs typeface="Arial MT"/>
              </a:rPr>
              <a:t> </a:t>
            </a:r>
            <a:r>
              <a:rPr sz="2000" spc="70" dirty="0">
                <a:solidFill>
                  <a:srgbClr val="404040"/>
                </a:solidFill>
                <a:latin typeface="Arial MT"/>
                <a:cs typeface="Arial MT"/>
              </a:rPr>
              <a:t>stored</a:t>
            </a:r>
            <a:r>
              <a:rPr sz="2000" spc="180" dirty="0">
                <a:solidFill>
                  <a:srgbClr val="404040"/>
                </a:solidFill>
                <a:latin typeface="Arial MT"/>
                <a:cs typeface="Arial MT"/>
              </a:rPr>
              <a:t> </a:t>
            </a:r>
            <a:r>
              <a:rPr sz="2000" dirty="0">
                <a:solidFill>
                  <a:srgbClr val="404040"/>
                </a:solidFill>
                <a:latin typeface="Arial MT"/>
                <a:cs typeface="Arial MT"/>
              </a:rPr>
              <a:t>in</a:t>
            </a:r>
            <a:r>
              <a:rPr sz="2000" spc="180" dirty="0">
                <a:solidFill>
                  <a:srgbClr val="404040"/>
                </a:solidFill>
                <a:latin typeface="Arial MT"/>
                <a:cs typeface="Arial MT"/>
              </a:rPr>
              <a:t> </a:t>
            </a:r>
            <a:r>
              <a:rPr sz="2000" spc="240" dirty="0">
                <a:solidFill>
                  <a:srgbClr val="404040"/>
                </a:solidFill>
                <a:latin typeface="Arial MT"/>
                <a:cs typeface="Arial MT"/>
              </a:rPr>
              <a:t>a</a:t>
            </a:r>
            <a:r>
              <a:rPr sz="2000" spc="175" dirty="0">
                <a:solidFill>
                  <a:srgbClr val="404040"/>
                </a:solidFill>
                <a:latin typeface="Arial MT"/>
                <a:cs typeface="Arial MT"/>
              </a:rPr>
              <a:t> </a:t>
            </a:r>
            <a:r>
              <a:rPr sz="2000" spc="90" dirty="0">
                <a:solidFill>
                  <a:srgbClr val="404040"/>
                </a:solidFill>
                <a:latin typeface="Arial MT"/>
                <a:cs typeface="Arial MT"/>
              </a:rPr>
              <a:t>computer's </a:t>
            </a:r>
            <a:r>
              <a:rPr sz="2000" dirty="0">
                <a:solidFill>
                  <a:srgbClr val="404040"/>
                </a:solidFill>
                <a:latin typeface="Arial MT"/>
                <a:cs typeface="Arial MT"/>
              </a:rPr>
              <a:t>file</a:t>
            </a:r>
            <a:r>
              <a:rPr sz="2000" spc="130" dirty="0">
                <a:solidFill>
                  <a:srgbClr val="404040"/>
                </a:solidFill>
                <a:latin typeface="Arial MT"/>
                <a:cs typeface="Arial MT"/>
              </a:rPr>
              <a:t> </a:t>
            </a:r>
            <a:r>
              <a:rPr sz="2000" spc="-10" dirty="0">
                <a:solidFill>
                  <a:srgbClr val="404040"/>
                </a:solidFill>
                <a:latin typeface="Arial MT"/>
                <a:cs typeface="Arial MT"/>
              </a:rPr>
              <a:t>system.</a:t>
            </a:r>
            <a:endParaRPr sz="2000">
              <a:latin typeface="Arial MT"/>
              <a:cs typeface="Arial MT"/>
            </a:endParaRPr>
          </a:p>
          <a:p>
            <a:pPr marL="213995" indent="-205104">
              <a:lnSpc>
                <a:spcPct val="100000"/>
              </a:lnSpc>
              <a:spcBef>
                <a:spcPts val="2255"/>
              </a:spcBef>
              <a:buClr>
                <a:srgbClr val="E38312"/>
              </a:buClr>
              <a:buSzPct val="95000"/>
              <a:buFont typeface="Wingdings"/>
              <a:buChar char=""/>
              <a:tabLst>
                <a:tab pos="213995" algn="l"/>
              </a:tabLst>
            </a:pPr>
            <a:r>
              <a:rPr sz="2000" dirty="0">
                <a:solidFill>
                  <a:srgbClr val="404040"/>
                </a:solidFill>
                <a:latin typeface="Arial MT"/>
                <a:cs typeface="Arial MT"/>
              </a:rPr>
              <a:t>These</a:t>
            </a:r>
            <a:r>
              <a:rPr sz="2000" spc="140" dirty="0">
                <a:solidFill>
                  <a:srgbClr val="404040"/>
                </a:solidFill>
                <a:latin typeface="Arial MT"/>
                <a:cs typeface="Arial MT"/>
              </a:rPr>
              <a:t> </a:t>
            </a:r>
            <a:r>
              <a:rPr sz="2000" spc="114" dirty="0">
                <a:solidFill>
                  <a:srgbClr val="404040"/>
                </a:solidFill>
                <a:latin typeface="Arial MT"/>
                <a:cs typeface="Arial MT"/>
              </a:rPr>
              <a:t>are</a:t>
            </a:r>
            <a:r>
              <a:rPr sz="2000" spc="145" dirty="0">
                <a:solidFill>
                  <a:srgbClr val="404040"/>
                </a:solidFill>
                <a:latin typeface="Arial MT"/>
                <a:cs typeface="Arial MT"/>
              </a:rPr>
              <a:t> </a:t>
            </a:r>
            <a:r>
              <a:rPr sz="2000" spc="170" dirty="0">
                <a:solidFill>
                  <a:srgbClr val="404040"/>
                </a:solidFill>
                <a:latin typeface="Arial MT"/>
                <a:cs typeface="Arial MT"/>
              </a:rPr>
              <a:t>created</a:t>
            </a:r>
            <a:r>
              <a:rPr sz="2000" spc="140" dirty="0">
                <a:solidFill>
                  <a:srgbClr val="404040"/>
                </a:solidFill>
                <a:latin typeface="Arial MT"/>
                <a:cs typeface="Arial MT"/>
              </a:rPr>
              <a:t> </a:t>
            </a:r>
            <a:r>
              <a:rPr sz="2000" dirty="0">
                <a:solidFill>
                  <a:srgbClr val="404040"/>
                </a:solidFill>
                <a:latin typeface="Arial MT"/>
                <a:cs typeface="Arial MT"/>
              </a:rPr>
              <a:t>using</a:t>
            </a:r>
            <a:r>
              <a:rPr sz="2000" spc="145" dirty="0">
                <a:solidFill>
                  <a:srgbClr val="404040"/>
                </a:solidFill>
                <a:latin typeface="Arial MT"/>
                <a:cs typeface="Arial MT"/>
              </a:rPr>
              <a:t> </a:t>
            </a:r>
            <a:r>
              <a:rPr sz="2000" spc="135" dirty="0">
                <a:solidFill>
                  <a:srgbClr val="404040"/>
                </a:solidFill>
                <a:latin typeface="Arial MT"/>
                <a:cs typeface="Arial MT"/>
              </a:rPr>
              <a:t>the</a:t>
            </a:r>
            <a:r>
              <a:rPr sz="2000" spc="145" dirty="0">
                <a:solidFill>
                  <a:srgbClr val="404040"/>
                </a:solidFill>
                <a:latin typeface="Arial MT"/>
                <a:cs typeface="Arial MT"/>
              </a:rPr>
              <a:t> </a:t>
            </a:r>
            <a:r>
              <a:rPr sz="2000" spc="-20" dirty="0">
                <a:solidFill>
                  <a:srgbClr val="404040"/>
                </a:solidFill>
                <a:latin typeface="Courier New"/>
                <a:cs typeface="Courier New"/>
              </a:rPr>
              <a:t>open()</a:t>
            </a:r>
            <a:r>
              <a:rPr sz="2000" spc="-505" dirty="0">
                <a:solidFill>
                  <a:srgbClr val="404040"/>
                </a:solidFill>
                <a:latin typeface="Courier New"/>
                <a:cs typeface="Courier New"/>
              </a:rPr>
              <a:t> </a:t>
            </a:r>
            <a:r>
              <a:rPr sz="2000" spc="100" dirty="0">
                <a:solidFill>
                  <a:srgbClr val="404040"/>
                </a:solidFill>
                <a:latin typeface="Arial MT"/>
                <a:cs typeface="Arial MT"/>
              </a:rPr>
              <a:t>function.</a:t>
            </a:r>
            <a:r>
              <a:rPr sz="2000" spc="145" dirty="0">
                <a:solidFill>
                  <a:srgbClr val="404040"/>
                </a:solidFill>
                <a:latin typeface="Arial MT"/>
                <a:cs typeface="Arial MT"/>
              </a:rPr>
              <a:t> </a:t>
            </a:r>
            <a:r>
              <a:rPr sz="2000" dirty="0">
                <a:solidFill>
                  <a:srgbClr val="404040"/>
                </a:solidFill>
                <a:latin typeface="Arial MT"/>
                <a:cs typeface="Arial MT"/>
              </a:rPr>
              <a:t>The</a:t>
            </a:r>
            <a:r>
              <a:rPr sz="2000" spc="145" dirty="0">
                <a:solidFill>
                  <a:srgbClr val="404040"/>
                </a:solidFill>
                <a:latin typeface="Arial MT"/>
                <a:cs typeface="Arial MT"/>
              </a:rPr>
              <a:t> </a:t>
            </a:r>
            <a:r>
              <a:rPr sz="2000" spc="65" dirty="0">
                <a:solidFill>
                  <a:srgbClr val="404040"/>
                </a:solidFill>
                <a:latin typeface="Arial MT"/>
                <a:cs typeface="Arial MT"/>
              </a:rPr>
              <a:t>most</a:t>
            </a:r>
            <a:r>
              <a:rPr sz="2000" spc="150" dirty="0">
                <a:solidFill>
                  <a:srgbClr val="404040"/>
                </a:solidFill>
                <a:latin typeface="Arial MT"/>
                <a:cs typeface="Arial MT"/>
              </a:rPr>
              <a:t> </a:t>
            </a:r>
            <a:r>
              <a:rPr sz="2000" spc="195" dirty="0">
                <a:solidFill>
                  <a:srgbClr val="404040"/>
                </a:solidFill>
                <a:latin typeface="Arial MT"/>
                <a:cs typeface="Arial MT"/>
              </a:rPr>
              <a:t>common</a:t>
            </a:r>
            <a:r>
              <a:rPr sz="2000" spc="150" dirty="0">
                <a:solidFill>
                  <a:srgbClr val="404040"/>
                </a:solidFill>
                <a:latin typeface="Arial MT"/>
                <a:cs typeface="Arial MT"/>
              </a:rPr>
              <a:t> </a:t>
            </a:r>
            <a:r>
              <a:rPr sz="2000" spc="114" dirty="0">
                <a:solidFill>
                  <a:srgbClr val="404040"/>
                </a:solidFill>
                <a:latin typeface="Arial MT"/>
                <a:cs typeface="Arial MT"/>
              </a:rPr>
              <a:t>modes</a:t>
            </a:r>
            <a:r>
              <a:rPr sz="2000" spc="140" dirty="0">
                <a:solidFill>
                  <a:srgbClr val="404040"/>
                </a:solidFill>
                <a:latin typeface="Arial MT"/>
                <a:cs typeface="Arial MT"/>
              </a:rPr>
              <a:t> </a:t>
            </a:r>
            <a:r>
              <a:rPr sz="2000" spc="130" dirty="0">
                <a:solidFill>
                  <a:srgbClr val="404040"/>
                </a:solidFill>
                <a:latin typeface="Arial MT"/>
                <a:cs typeface="Arial MT"/>
              </a:rPr>
              <a:t>of</a:t>
            </a:r>
            <a:r>
              <a:rPr sz="2000" spc="140" dirty="0">
                <a:solidFill>
                  <a:srgbClr val="404040"/>
                </a:solidFill>
                <a:latin typeface="Arial MT"/>
                <a:cs typeface="Arial MT"/>
              </a:rPr>
              <a:t> </a:t>
            </a:r>
            <a:r>
              <a:rPr sz="2000" spc="110" dirty="0">
                <a:solidFill>
                  <a:srgbClr val="404040"/>
                </a:solidFill>
                <a:latin typeface="Arial MT"/>
                <a:cs typeface="Arial MT"/>
              </a:rPr>
              <a:t>the</a:t>
            </a:r>
            <a:endParaRPr sz="2000">
              <a:latin typeface="Arial MT"/>
              <a:cs typeface="Arial MT"/>
            </a:endParaRPr>
          </a:p>
          <a:p>
            <a:pPr marL="104139">
              <a:lnSpc>
                <a:spcPct val="100000"/>
              </a:lnSpc>
            </a:pPr>
            <a:r>
              <a:rPr sz="2000" spc="-20" dirty="0">
                <a:solidFill>
                  <a:srgbClr val="404040"/>
                </a:solidFill>
                <a:latin typeface="Courier New"/>
                <a:cs typeface="Courier New"/>
              </a:rPr>
              <a:t>open()</a:t>
            </a:r>
            <a:r>
              <a:rPr sz="2000" spc="-635" dirty="0">
                <a:solidFill>
                  <a:srgbClr val="404040"/>
                </a:solidFill>
                <a:latin typeface="Courier New"/>
                <a:cs typeface="Courier New"/>
              </a:rPr>
              <a:t> </a:t>
            </a:r>
            <a:r>
              <a:rPr sz="2000" spc="110" dirty="0">
                <a:solidFill>
                  <a:srgbClr val="404040"/>
                </a:solidFill>
                <a:latin typeface="Arial MT"/>
                <a:cs typeface="Arial MT"/>
              </a:rPr>
              <a:t>function</a:t>
            </a:r>
            <a:r>
              <a:rPr sz="2000" spc="30" dirty="0">
                <a:solidFill>
                  <a:srgbClr val="404040"/>
                </a:solidFill>
                <a:latin typeface="Arial MT"/>
                <a:cs typeface="Arial MT"/>
              </a:rPr>
              <a:t> </a:t>
            </a:r>
            <a:r>
              <a:rPr sz="2000" spc="114" dirty="0">
                <a:solidFill>
                  <a:srgbClr val="404040"/>
                </a:solidFill>
                <a:latin typeface="Arial MT"/>
                <a:cs typeface="Arial MT"/>
              </a:rPr>
              <a:t>are</a:t>
            </a:r>
            <a:r>
              <a:rPr sz="2000" spc="15" dirty="0">
                <a:solidFill>
                  <a:srgbClr val="404040"/>
                </a:solidFill>
                <a:latin typeface="Arial MT"/>
                <a:cs typeface="Arial MT"/>
              </a:rPr>
              <a:t> </a:t>
            </a:r>
            <a:r>
              <a:rPr sz="2000" dirty="0">
                <a:solidFill>
                  <a:srgbClr val="404040"/>
                </a:solidFill>
                <a:latin typeface="Arial MT"/>
                <a:cs typeface="Arial MT"/>
              </a:rPr>
              <a:t>as</a:t>
            </a:r>
            <a:r>
              <a:rPr sz="2000" spc="10" dirty="0">
                <a:solidFill>
                  <a:srgbClr val="404040"/>
                </a:solidFill>
                <a:latin typeface="Arial MT"/>
                <a:cs typeface="Arial MT"/>
              </a:rPr>
              <a:t> </a:t>
            </a:r>
            <a:r>
              <a:rPr sz="2000" spc="-10" dirty="0">
                <a:solidFill>
                  <a:srgbClr val="404040"/>
                </a:solidFill>
                <a:latin typeface="Arial MT"/>
                <a:cs typeface="Arial MT"/>
              </a:rPr>
              <a:t>follows:</a:t>
            </a:r>
            <a:endParaRPr sz="2000">
              <a:latin typeface="Arial MT"/>
              <a:cs typeface="Arial MT"/>
            </a:endParaRPr>
          </a:p>
        </p:txBody>
      </p:sp>
      <p:pic>
        <p:nvPicPr>
          <p:cNvPr id="4" name="object 4"/>
          <p:cNvPicPr/>
          <p:nvPr/>
        </p:nvPicPr>
        <p:blipFill>
          <a:blip r:embed="rId3" cstate="print"/>
          <a:stretch>
            <a:fillRect/>
          </a:stretch>
        </p:blipFill>
        <p:spPr>
          <a:xfrm>
            <a:off x="1406652" y="4471415"/>
            <a:ext cx="1833371" cy="1454657"/>
          </a:xfrm>
          <a:prstGeom prst="rect">
            <a:avLst/>
          </a:prstGeom>
        </p:spPr>
      </p:pic>
      <p:sp>
        <p:nvSpPr>
          <p:cNvPr id="5" name="object 5"/>
          <p:cNvSpPr txBox="1"/>
          <p:nvPr/>
        </p:nvSpPr>
        <p:spPr>
          <a:xfrm>
            <a:off x="2088195"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r</a:t>
            </a:r>
            <a:endParaRPr sz="2000">
              <a:latin typeface="Courier New"/>
              <a:cs typeface="Courier New"/>
            </a:endParaRPr>
          </a:p>
        </p:txBody>
      </p:sp>
      <p:pic>
        <p:nvPicPr>
          <p:cNvPr id="6" name="object 6"/>
          <p:cNvPicPr/>
          <p:nvPr/>
        </p:nvPicPr>
        <p:blipFill>
          <a:blip r:embed="rId4" cstate="print"/>
          <a:stretch>
            <a:fillRect/>
          </a:stretch>
        </p:blipFill>
        <p:spPr>
          <a:xfrm>
            <a:off x="3336035" y="4471415"/>
            <a:ext cx="1833371" cy="1454657"/>
          </a:xfrm>
          <a:prstGeom prst="rect">
            <a:avLst/>
          </a:prstGeom>
        </p:spPr>
      </p:pic>
      <p:sp>
        <p:nvSpPr>
          <p:cNvPr id="7" name="object 7"/>
          <p:cNvSpPr txBox="1"/>
          <p:nvPr/>
        </p:nvSpPr>
        <p:spPr>
          <a:xfrm>
            <a:off x="4017215"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w</a:t>
            </a:r>
            <a:endParaRPr sz="2000">
              <a:latin typeface="Courier New"/>
              <a:cs typeface="Courier New"/>
            </a:endParaRPr>
          </a:p>
        </p:txBody>
      </p:sp>
      <p:pic>
        <p:nvPicPr>
          <p:cNvPr id="8" name="object 8"/>
          <p:cNvPicPr/>
          <p:nvPr/>
        </p:nvPicPr>
        <p:blipFill>
          <a:blip r:embed="rId5" cstate="print"/>
          <a:stretch>
            <a:fillRect/>
          </a:stretch>
        </p:blipFill>
        <p:spPr>
          <a:xfrm>
            <a:off x="5264658" y="4471415"/>
            <a:ext cx="1834133" cy="1454657"/>
          </a:xfrm>
          <a:prstGeom prst="rect">
            <a:avLst/>
          </a:prstGeom>
        </p:spPr>
      </p:pic>
      <p:sp>
        <p:nvSpPr>
          <p:cNvPr id="9" name="object 9"/>
          <p:cNvSpPr txBox="1"/>
          <p:nvPr/>
        </p:nvSpPr>
        <p:spPr>
          <a:xfrm>
            <a:off x="5946236"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a</a:t>
            </a:r>
            <a:endParaRPr sz="2000">
              <a:latin typeface="Courier New"/>
              <a:cs typeface="Courier New"/>
            </a:endParaRPr>
          </a:p>
        </p:txBody>
      </p:sp>
      <p:pic>
        <p:nvPicPr>
          <p:cNvPr id="10" name="object 10"/>
          <p:cNvPicPr/>
          <p:nvPr/>
        </p:nvPicPr>
        <p:blipFill>
          <a:blip r:embed="rId6" cstate="print"/>
          <a:stretch>
            <a:fillRect/>
          </a:stretch>
        </p:blipFill>
        <p:spPr>
          <a:xfrm>
            <a:off x="7194042" y="4471415"/>
            <a:ext cx="1833371" cy="1454657"/>
          </a:xfrm>
          <a:prstGeom prst="rect">
            <a:avLst/>
          </a:prstGeom>
        </p:spPr>
      </p:pic>
      <p:sp>
        <p:nvSpPr>
          <p:cNvPr id="11" name="object 11"/>
          <p:cNvSpPr txBox="1"/>
          <p:nvPr/>
        </p:nvSpPr>
        <p:spPr>
          <a:xfrm>
            <a:off x="7875258"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b</a:t>
            </a:r>
            <a:endParaRPr sz="2000">
              <a:latin typeface="Courier New"/>
              <a:cs typeface="Courier New"/>
            </a:endParaRPr>
          </a:p>
        </p:txBody>
      </p:sp>
      <p:pic>
        <p:nvPicPr>
          <p:cNvPr id="12" name="object 12"/>
          <p:cNvPicPr/>
          <p:nvPr/>
        </p:nvPicPr>
        <p:blipFill>
          <a:blip r:embed="rId7" cstate="print"/>
          <a:stretch>
            <a:fillRect/>
          </a:stretch>
        </p:blipFill>
        <p:spPr>
          <a:xfrm>
            <a:off x="9122664" y="4471415"/>
            <a:ext cx="1834133" cy="1454657"/>
          </a:xfrm>
          <a:prstGeom prst="rect">
            <a:avLst/>
          </a:prstGeom>
        </p:spPr>
      </p:pic>
      <p:sp>
        <p:nvSpPr>
          <p:cNvPr id="13" name="object 13"/>
          <p:cNvSpPr txBox="1"/>
          <p:nvPr/>
        </p:nvSpPr>
        <p:spPr>
          <a:xfrm>
            <a:off x="9804279"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t</a:t>
            </a:r>
            <a:endParaRPr sz="2000">
              <a:latin typeface="Courier New"/>
              <a:cs typeface="Courier New"/>
            </a:endParaRPr>
          </a:p>
        </p:txBody>
      </p:sp>
      <p:sp>
        <p:nvSpPr>
          <p:cNvPr id="14" name="object 1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5</a:t>
            </a:fld>
            <a:endParaRPr spc="-25" dirty="0"/>
          </a:p>
        </p:txBody>
      </p:sp>
      <p:sp>
        <p:nvSpPr>
          <p:cNvPr id="15" name="object 1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6" name="object 1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80" y="3707891"/>
            <a:ext cx="5969635" cy="1724660"/>
          </a:xfrm>
          <a:prstGeom prst="rect">
            <a:avLst/>
          </a:prstGeom>
          <a:solidFill>
            <a:srgbClr val="E38312"/>
          </a:solidFill>
        </p:spPr>
        <p:txBody>
          <a:bodyPr vert="horz" wrap="square" lIns="0" tIns="0" rIns="0" bIns="0" rtlCol="0">
            <a:spAutoFit/>
          </a:bodyPr>
          <a:lstStyle/>
          <a:p>
            <a:pPr>
              <a:lnSpc>
                <a:spcPct val="100000"/>
              </a:lnSpc>
            </a:pPr>
            <a:endParaRPr sz="1800">
              <a:latin typeface="Times New Roman"/>
              <a:cs typeface="Times New Roman"/>
            </a:endParaRPr>
          </a:p>
          <a:p>
            <a:pPr>
              <a:lnSpc>
                <a:spcPct val="100000"/>
              </a:lnSpc>
              <a:spcBef>
                <a:spcPts val="254"/>
              </a:spcBef>
            </a:pPr>
            <a:endParaRPr sz="1800">
              <a:latin typeface="Times New Roman"/>
              <a:cs typeface="Times New Roman"/>
            </a:endParaRPr>
          </a:p>
          <a:p>
            <a:pPr marL="90805" marR="84455" algn="just">
              <a:lnSpc>
                <a:spcPct val="102899"/>
              </a:lnSpc>
            </a:pPr>
            <a:r>
              <a:rPr sz="1800" dirty="0">
                <a:solidFill>
                  <a:srgbClr val="FFFFFF"/>
                </a:solidFill>
                <a:latin typeface="Arial MT"/>
                <a:cs typeface="Arial MT"/>
              </a:rPr>
              <a:t>In</a:t>
            </a:r>
            <a:r>
              <a:rPr sz="1800" spc="-120" dirty="0">
                <a:solidFill>
                  <a:srgbClr val="FFFFFF"/>
                </a:solidFill>
                <a:latin typeface="Arial MT"/>
                <a:cs typeface="Arial MT"/>
              </a:rPr>
              <a:t> </a:t>
            </a:r>
            <a:r>
              <a:rPr sz="1800" spc="50" dirty="0">
                <a:solidFill>
                  <a:srgbClr val="FFFFFF"/>
                </a:solidFill>
                <a:latin typeface="Arial MT"/>
                <a:cs typeface="Arial MT"/>
              </a:rPr>
              <a:t>Python,</a:t>
            </a:r>
            <a:r>
              <a:rPr sz="1800" spc="125" dirty="0">
                <a:solidFill>
                  <a:srgbClr val="FFFFFF"/>
                </a:solidFill>
                <a:latin typeface="Arial MT"/>
                <a:cs typeface="Arial MT"/>
              </a:rPr>
              <a:t> the </a:t>
            </a:r>
            <a:r>
              <a:rPr sz="1800" spc="-55" dirty="0">
                <a:solidFill>
                  <a:srgbClr val="FFFFFF"/>
                </a:solidFill>
                <a:latin typeface="Courier New"/>
                <a:cs typeface="Courier New"/>
              </a:rPr>
              <a:t>read()</a:t>
            </a:r>
            <a:r>
              <a:rPr sz="1800" spc="-215" dirty="0">
                <a:solidFill>
                  <a:srgbClr val="FFFFFF"/>
                </a:solidFill>
                <a:latin typeface="Courier New"/>
                <a:cs typeface="Courier New"/>
              </a:rPr>
              <a:t> </a:t>
            </a:r>
            <a:r>
              <a:rPr sz="1800" spc="155" dirty="0">
                <a:solidFill>
                  <a:srgbClr val="FFFFFF"/>
                </a:solidFill>
                <a:latin typeface="Arial MT"/>
                <a:cs typeface="Arial MT"/>
              </a:rPr>
              <a:t>method</a:t>
            </a:r>
            <a:r>
              <a:rPr sz="1800" spc="125" dirty="0">
                <a:solidFill>
                  <a:srgbClr val="FFFFFF"/>
                </a:solidFill>
                <a:latin typeface="Arial MT"/>
                <a:cs typeface="Arial MT"/>
              </a:rPr>
              <a:t> </a:t>
            </a:r>
            <a:r>
              <a:rPr sz="1800" dirty="0">
                <a:solidFill>
                  <a:srgbClr val="FFFFFF"/>
                </a:solidFill>
                <a:latin typeface="Arial MT"/>
                <a:cs typeface="Arial MT"/>
              </a:rPr>
              <a:t>is</a:t>
            </a:r>
            <a:r>
              <a:rPr sz="1800" spc="130" dirty="0">
                <a:solidFill>
                  <a:srgbClr val="FFFFFF"/>
                </a:solidFill>
                <a:latin typeface="Arial MT"/>
                <a:cs typeface="Arial MT"/>
              </a:rPr>
              <a:t> </a:t>
            </a:r>
            <a:r>
              <a:rPr sz="1800" spc="220" dirty="0">
                <a:solidFill>
                  <a:srgbClr val="FFFFFF"/>
                </a:solidFill>
                <a:latin typeface="Arial MT"/>
                <a:cs typeface="Arial MT"/>
              </a:rPr>
              <a:t>a</a:t>
            </a:r>
            <a:r>
              <a:rPr sz="1800" spc="130" dirty="0">
                <a:solidFill>
                  <a:srgbClr val="FFFFFF"/>
                </a:solidFill>
                <a:latin typeface="Arial MT"/>
                <a:cs typeface="Arial MT"/>
              </a:rPr>
              <a:t> </a:t>
            </a:r>
            <a:r>
              <a:rPr sz="1800" spc="70" dirty="0">
                <a:solidFill>
                  <a:srgbClr val="FFFFFF"/>
                </a:solidFill>
                <a:latin typeface="Arial MT"/>
                <a:cs typeface="Arial MT"/>
              </a:rPr>
              <a:t>used</a:t>
            </a:r>
            <a:r>
              <a:rPr sz="1800" spc="130" dirty="0">
                <a:solidFill>
                  <a:srgbClr val="FFFFFF"/>
                </a:solidFill>
                <a:latin typeface="Arial MT"/>
                <a:cs typeface="Arial MT"/>
              </a:rPr>
              <a:t> </a:t>
            </a:r>
            <a:r>
              <a:rPr sz="1800" spc="55" dirty="0">
                <a:solidFill>
                  <a:srgbClr val="FFFFFF"/>
                </a:solidFill>
                <a:latin typeface="Arial MT"/>
                <a:cs typeface="Arial MT"/>
              </a:rPr>
              <a:t>for</a:t>
            </a:r>
            <a:r>
              <a:rPr sz="1800" spc="125" dirty="0">
                <a:solidFill>
                  <a:srgbClr val="FFFFFF"/>
                </a:solidFill>
                <a:latin typeface="Arial MT"/>
                <a:cs typeface="Arial MT"/>
              </a:rPr>
              <a:t> </a:t>
            </a:r>
            <a:r>
              <a:rPr sz="1800" spc="105" dirty="0">
                <a:solidFill>
                  <a:srgbClr val="FFFFFF"/>
                </a:solidFill>
                <a:latin typeface="Arial MT"/>
                <a:cs typeface="Arial MT"/>
              </a:rPr>
              <a:t>reading </a:t>
            </a:r>
            <a:r>
              <a:rPr sz="1800" spc="120" dirty="0">
                <a:solidFill>
                  <a:srgbClr val="FFFFFF"/>
                </a:solidFill>
                <a:latin typeface="Arial MT"/>
                <a:cs typeface="Arial MT"/>
              </a:rPr>
              <a:t>the</a:t>
            </a:r>
            <a:r>
              <a:rPr sz="1800" spc="190" dirty="0">
                <a:solidFill>
                  <a:srgbClr val="FFFFFF"/>
                </a:solidFill>
                <a:latin typeface="Arial MT"/>
                <a:cs typeface="Arial MT"/>
              </a:rPr>
              <a:t> </a:t>
            </a:r>
            <a:r>
              <a:rPr sz="1800" spc="70" dirty="0">
                <a:solidFill>
                  <a:srgbClr val="FFFFFF"/>
                </a:solidFill>
                <a:latin typeface="Arial MT"/>
                <a:cs typeface="Arial MT"/>
              </a:rPr>
              <a:t>entire</a:t>
            </a:r>
            <a:r>
              <a:rPr sz="1800" spc="190" dirty="0">
                <a:solidFill>
                  <a:srgbClr val="FFFFFF"/>
                </a:solidFill>
                <a:latin typeface="Arial MT"/>
                <a:cs typeface="Arial MT"/>
              </a:rPr>
              <a:t> </a:t>
            </a:r>
            <a:r>
              <a:rPr sz="1800" spc="140" dirty="0">
                <a:solidFill>
                  <a:srgbClr val="FFFFFF"/>
                </a:solidFill>
                <a:latin typeface="Arial MT"/>
                <a:cs typeface="Arial MT"/>
              </a:rPr>
              <a:t>content</a:t>
            </a:r>
            <a:r>
              <a:rPr sz="1800" spc="195" dirty="0">
                <a:solidFill>
                  <a:srgbClr val="FFFFFF"/>
                </a:solidFill>
                <a:latin typeface="Arial MT"/>
                <a:cs typeface="Arial MT"/>
              </a:rPr>
              <a:t> </a:t>
            </a:r>
            <a:r>
              <a:rPr sz="1800" spc="114" dirty="0">
                <a:solidFill>
                  <a:srgbClr val="FFFFFF"/>
                </a:solidFill>
                <a:latin typeface="Arial MT"/>
                <a:cs typeface="Arial MT"/>
              </a:rPr>
              <a:t>of</a:t>
            </a:r>
            <a:r>
              <a:rPr sz="1800" spc="190" dirty="0">
                <a:solidFill>
                  <a:srgbClr val="FFFFFF"/>
                </a:solidFill>
                <a:latin typeface="Arial MT"/>
                <a:cs typeface="Arial MT"/>
              </a:rPr>
              <a:t> </a:t>
            </a:r>
            <a:r>
              <a:rPr sz="1800" spc="220" dirty="0">
                <a:solidFill>
                  <a:srgbClr val="FFFFFF"/>
                </a:solidFill>
                <a:latin typeface="Arial MT"/>
                <a:cs typeface="Arial MT"/>
              </a:rPr>
              <a:t>a</a:t>
            </a:r>
            <a:r>
              <a:rPr sz="1800" spc="185" dirty="0">
                <a:solidFill>
                  <a:srgbClr val="FFFFFF"/>
                </a:solidFill>
                <a:latin typeface="Arial MT"/>
                <a:cs typeface="Arial MT"/>
              </a:rPr>
              <a:t> </a:t>
            </a:r>
            <a:r>
              <a:rPr sz="1800" dirty="0">
                <a:solidFill>
                  <a:srgbClr val="FFFFFF"/>
                </a:solidFill>
                <a:latin typeface="Arial MT"/>
                <a:cs typeface="Arial MT"/>
              </a:rPr>
              <a:t>file</a:t>
            </a:r>
            <a:r>
              <a:rPr sz="1800" spc="190" dirty="0">
                <a:solidFill>
                  <a:srgbClr val="FFFFFF"/>
                </a:solidFill>
                <a:latin typeface="Arial MT"/>
                <a:cs typeface="Arial MT"/>
              </a:rPr>
              <a:t> </a:t>
            </a:r>
            <a:r>
              <a:rPr sz="1800" spc="180" dirty="0">
                <a:solidFill>
                  <a:srgbClr val="FFFFFF"/>
                </a:solidFill>
                <a:latin typeface="Arial MT"/>
                <a:cs typeface="Arial MT"/>
              </a:rPr>
              <a:t>and</a:t>
            </a:r>
            <a:r>
              <a:rPr sz="1800" spc="195" dirty="0">
                <a:solidFill>
                  <a:srgbClr val="FFFFFF"/>
                </a:solidFill>
                <a:latin typeface="Arial MT"/>
                <a:cs typeface="Arial MT"/>
              </a:rPr>
              <a:t> </a:t>
            </a:r>
            <a:r>
              <a:rPr sz="1800" dirty="0">
                <a:solidFill>
                  <a:srgbClr val="FFFFFF"/>
                </a:solidFill>
                <a:latin typeface="Arial MT"/>
                <a:cs typeface="Arial MT"/>
              </a:rPr>
              <a:t>storing</a:t>
            </a:r>
            <a:r>
              <a:rPr sz="1800" spc="190" dirty="0">
                <a:solidFill>
                  <a:srgbClr val="FFFFFF"/>
                </a:solidFill>
                <a:latin typeface="Arial MT"/>
                <a:cs typeface="Arial MT"/>
              </a:rPr>
              <a:t> </a:t>
            </a:r>
            <a:r>
              <a:rPr sz="1800" dirty="0">
                <a:solidFill>
                  <a:srgbClr val="FFFFFF"/>
                </a:solidFill>
                <a:latin typeface="Arial MT"/>
                <a:cs typeface="Arial MT"/>
              </a:rPr>
              <a:t>it</a:t>
            </a:r>
            <a:r>
              <a:rPr sz="1800" spc="190" dirty="0">
                <a:solidFill>
                  <a:srgbClr val="FFFFFF"/>
                </a:solidFill>
                <a:latin typeface="Arial MT"/>
                <a:cs typeface="Arial MT"/>
              </a:rPr>
              <a:t> </a:t>
            </a:r>
            <a:r>
              <a:rPr sz="1800" dirty="0">
                <a:solidFill>
                  <a:srgbClr val="FFFFFF"/>
                </a:solidFill>
                <a:latin typeface="Arial MT"/>
                <a:cs typeface="Arial MT"/>
              </a:rPr>
              <a:t>as</a:t>
            </a:r>
            <a:r>
              <a:rPr sz="1800" spc="190" dirty="0">
                <a:solidFill>
                  <a:srgbClr val="FFFFFF"/>
                </a:solidFill>
                <a:latin typeface="Arial MT"/>
                <a:cs typeface="Arial MT"/>
              </a:rPr>
              <a:t> </a:t>
            </a:r>
            <a:r>
              <a:rPr sz="1800" spc="220" dirty="0">
                <a:solidFill>
                  <a:srgbClr val="FFFFFF"/>
                </a:solidFill>
                <a:latin typeface="Arial MT"/>
                <a:cs typeface="Arial MT"/>
              </a:rPr>
              <a:t>a</a:t>
            </a:r>
            <a:r>
              <a:rPr sz="1800" spc="185" dirty="0">
                <a:solidFill>
                  <a:srgbClr val="FFFFFF"/>
                </a:solidFill>
                <a:latin typeface="Arial MT"/>
                <a:cs typeface="Arial MT"/>
              </a:rPr>
              <a:t> </a:t>
            </a:r>
            <a:r>
              <a:rPr sz="1800" spc="-10" dirty="0">
                <a:solidFill>
                  <a:srgbClr val="FFFFFF"/>
                </a:solidFill>
                <a:latin typeface="Arial MT"/>
                <a:cs typeface="Arial MT"/>
              </a:rPr>
              <a:t>single string.</a:t>
            </a:r>
            <a:endParaRPr sz="1800">
              <a:latin typeface="Arial MT"/>
              <a:cs typeface="Arial MT"/>
            </a:endParaRPr>
          </a:p>
        </p:txBody>
      </p:sp>
      <p:sp>
        <p:nvSpPr>
          <p:cNvPr id="3" name="object 3"/>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dirty="0"/>
              <a:t>Reading</a:t>
            </a:r>
            <a:r>
              <a:rPr spc="-70" dirty="0"/>
              <a:t> </a:t>
            </a:r>
            <a:r>
              <a:rPr spc="-229" dirty="0"/>
              <a:t>Text</a:t>
            </a:r>
            <a:r>
              <a:rPr spc="-90" dirty="0"/>
              <a:t> </a:t>
            </a:r>
            <a:r>
              <a:rPr spc="-290" dirty="0"/>
              <a:t>Files</a:t>
            </a:r>
            <a:r>
              <a:rPr spc="-85" dirty="0"/>
              <a:t> </a:t>
            </a:r>
            <a:r>
              <a:rPr spc="70" dirty="0"/>
              <a:t>[1-</a:t>
            </a:r>
            <a:r>
              <a:rPr spc="-25" dirty="0"/>
              <a:t>3]</a:t>
            </a:r>
          </a:p>
        </p:txBody>
      </p:sp>
      <p:pic>
        <p:nvPicPr>
          <p:cNvPr id="4" name="object 4"/>
          <p:cNvPicPr/>
          <p:nvPr/>
        </p:nvPicPr>
        <p:blipFill>
          <a:blip r:embed="rId3" cstate="print"/>
          <a:stretch>
            <a:fillRect/>
          </a:stretch>
        </p:blipFill>
        <p:spPr>
          <a:xfrm>
            <a:off x="7066788" y="1940052"/>
            <a:ext cx="4088891" cy="4088891"/>
          </a:xfrm>
          <a:prstGeom prst="rect">
            <a:avLst/>
          </a:prstGeom>
        </p:spPr>
      </p:pic>
      <p:sp>
        <p:nvSpPr>
          <p:cNvPr id="5" name="object 5"/>
          <p:cNvSpPr txBox="1"/>
          <p:nvPr/>
        </p:nvSpPr>
        <p:spPr>
          <a:xfrm>
            <a:off x="1084580" y="1845225"/>
            <a:ext cx="2732405" cy="452755"/>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404040"/>
                </a:solidFill>
                <a:latin typeface="Courier New"/>
                <a:cs typeface="Courier New"/>
              </a:rPr>
              <a:t>read()</a:t>
            </a:r>
            <a:r>
              <a:rPr sz="2800" b="1" spc="-894" dirty="0">
                <a:solidFill>
                  <a:srgbClr val="404040"/>
                </a:solidFill>
                <a:latin typeface="Courier New"/>
                <a:cs typeface="Courier New"/>
              </a:rPr>
              <a:t> </a:t>
            </a:r>
            <a:r>
              <a:rPr sz="2800" b="1" spc="60" dirty="0">
                <a:solidFill>
                  <a:srgbClr val="404040"/>
                </a:solidFill>
                <a:latin typeface="Arial"/>
                <a:cs typeface="Arial"/>
              </a:rPr>
              <a:t>Method</a:t>
            </a:r>
            <a:endParaRPr sz="2800">
              <a:latin typeface="Arial"/>
              <a:cs typeface="Arial"/>
            </a:endParaRPr>
          </a:p>
        </p:txBody>
      </p:sp>
      <p:sp>
        <p:nvSpPr>
          <p:cNvPr id="6" name="object 6"/>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6</a:t>
            </a:fld>
            <a:endParaRPr spc="-25" dirty="0"/>
          </a:p>
        </p:txBody>
      </p:sp>
      <p:sp>
        <p:nvSpPr>
          <p:cNvPr id="7" name="object 7"/>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8" name="object 8"/>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dirty="0"/>
              <a:t>Reading</a:t>
            </a:r>
            <a:r>
              <a:rPr spc="-70" dirty="0"/>
              <a:t> </a:t>
            </a:r>
            <a:r>
              <a:rPr spc="-229" dirty="0"/>
              <a:t>Text</a:t>
            </a:r>
            <a:r>
              <a:rPr spc="-90" dirty="0"/>
              <a:t> </a:t>
            </a:r>
            <a:r>
              <a:rPr spc="-290" dirty="0"/>
              <a:t>Files</a:t>
            </a:r>
            <a:r>
              <a:rPr spc="-85" dirty="0"/>
              <a:t> </a:t>
            </a:r>
            <a:r>
              <a:rPr spc="70" dirty="0"/>
              <a:t>[2-</a:t>
            </a:r>
            <a:r>
              <a:rPr spc="-25" dirty="0"/>
              <a:t>3]</a:t>
            </a:r>
          </a:p>
        </p:txBody>
      </p:sp>
      <p:sp>
        <p:nvSpPr>
          <p:cNvPr id="3" name="object 3"/>
          <p:cNvSpPr txBox="1"/>
          <p:nvPr/>
        </p:nvSpPr>
        <p:spPr>
          <a:xfrm>
            <a:off x="1084580" y="1845225"/>
            <a:ext cx="9059545" cy="1071880"/>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404040"/>
                </a:solidFill>
                <a:latin typeface="Arial"/>
                <a:cs typeface="Arial"/>
              </a:rPr>
              <a:t>Reading</a:t>
            </a:r>
            <a:r>
              <a:rPr sz="2800" b="1" spc="-40" dirty="0">
                <a:solidFill>
                  <a:srgbClr val="404040"/>
                </a:solidFill>
                <a:latin typeface="Arial"/>
                <a:cs typeface="Arial"/>
              </a:rPr>
              <a:t> </a:t>
            </a:r>
            <a:r>
              <a:rPr sz="2800" b="1" spc="-60" dirty="0">
                <a:solidFill>
                  <a:srgbClr val="404040"/>
                </a:solidFill>
                <a:latin typeface="Arial"/>
                <a:cs typeface="Arial"/>
              </a:rPr>
              <a:t>File</a:t>
            </a:r>
            <a:r>
              <a:rPr sz="2800" b="1" spc="-30" dirty="0">
                <a:solidFill>
                  <a:srgbClr val="404040"/>
                </a:solidFill>
                <a:latin typeface="Arial"/>
                <a:cs typeface="Arial"/>
              </a:rPr>
              <a:t> </a:t>
            </a:r>
            <a:r>
              <a:rPr sz="2800" b="1" spc="-80" dirty="0">
                <a:solidFill>
                  <a:srgbClr val="404040"/>
                </a:solidFill>
                <a:latin typeface="Arial"/>
                <a:cs typeface="Arial"/>
              </a:rPr>
              <a:t>Line</a:t>
            </a:r>
            <a:r>
              <a:rPr sz="2800" b="1" spc="-40" dirty="0">
                <a:solidFill>
                  <a:srgbClr val="404040"/>
                </a:solidFill>
                <a:latin typeface="Arial"/>
                <a:cs typeface="Arial"/>
              </a:rPr>
              <a:t> </a:t>
            </a:r>
            <a:r>
              <a:rPr sz="2800" b="1" spc="85" dirty="0">
                <a:solidFill>
                  <a:srgbClr val="404040"/>
                </a:solidFill>
                <a:latin typeface="Arial"/>
                <a:cs typeface="Arial"/>
              </a:rPr>
              <a:t>by</a:t>
            </a:r>
            <a:r>
              <a:rPr sz="2800" b="1" spc="-35" dirty="0">
                <a:solidFill>
                  <a:srgbClr val="404040"/>
                </a:solidFill>
                <a:latin typeface="Arial"/>
                <a:cs typeface="Arial"/>
              </a:rPr>
              <a:t> </a:t>
            </a:r>
            <a:r>
              <a:rPr sz="2800" b="1" spc="-80" dirty="0">
                <a:solidFill>
                  <a:srgbClr val="404040"/>
                </a:solidFill>
                <a:latin typeface="Arial"/>
                <a:cs typeface="Arial"/>
              </a:rPr>
              <a:t>Line</a:t>
            </a:r>
            <a:r>
              <a:rPr sz="2800" b="1" spc="-35" dirty="0">
                <a:solidFill>
                  <a:srgbClr val="404040"/>
                </a:solidFill>
                <a:latin typeface="Arial"/>
                <a:cs typeface="Arial"/>
              </a:rPr>
              <a:t> </a:t>
            </a:r>
            <a:r>
              <a:rPr sz="2800" b="1" spc="-105" dirty="0">
                <a:solidFill>
                  <a:srgbClr val="404040"/>
                </a:solidFill>
                <a:latin typeface="Arial"/>
                <a:cs typeface="Arial"/>
              </a:rPr>
              <a:t>Using</a:t>
            </a:r>
            <a:r>
              <a:rPr sz="2800" b="1" spc="-35" dirty="0">
                <a:solidFill>
                  <a:srgbClr val="404040"/>
                </a:solidFill>
                <a:latin typeface="Arial"/>
                <a:cs typeface="Arial"/>
              </a:rPr>
              <a:t> </a:t>
            </a:r>
            <a:r>
              <a:rPr sz="2800" b="1" spc="-10" dirty="0">
                <a:solidFill>
                  <a:srgbClr val="404040"/>
                </a:solidFill>
                <a:latin typeface="Courier New"/>
                <a:cs typeface="Courier New"/>
              </a:rPr>
              <a:t>readline()</a:t>
            </a:r>
            <a:endParaRPr sz="2800" dirty="0">
              <a:latin typeface="Courier New"/>
              <a:cs typeface="Courier New"/>
            </a:endParaRPr>
          </a:p>
          <a:p>
            <a:pPr marL="213995" indent="-205104">
              <a:lnSpc>
                <a:spcPct val="100000"/>
              </a:lnSpc>
              <a:spcBef>
                <a:spcPts val="2475"/>
              </a:spcBef>
              <a:buClr>
                <a:srgbClr val="E38312"/>
              </a:buClr>
              <a:buSzPct val="95000"/>
              <a:buFont typeface="Wingdings"/>
              <a:buChar char=""/>
              <a:tabLst>
                <a:tab pos="213995" algn="l"/>
              </a:tabLst>
            </a:pPr>
            <a:r>
              <a:rPr sz="2000" spc="55" dirty="0">
                <a:solidFill>
                  <a:srgbClr val="404040"/>
                </a:solidFill>
                <a:latin typeface="Arial MT"/>
                <a:cs typeface="Arial MT"/>
              </a:rPr>
              <a:t>Working</a:t>
            </a:r>
            <a:r>
              <a:rPr sz="2000" spc="40" dirty="0">
                <a:solidFill>
                  <a:srgbClr val="404040"/>
                </a:solidFill>
                <a:latin typeface="Arial MT"/>
                <a:cs typeface="Arial MT"/>
              </a:rPr>
              <a:t> </a:t>
            </a:r>
            <a:r>
              <a:rPr sz="2000" spc="130" dirty="0">
                <a:solidFill>
                  <a:srgbClr val="404040"/>
                </a:solidFill>
                <a:latin typeface="Arial MT"/>
                <a:cs typeface="Arial MT"/>
              </a:rPr>
              <a:t>of</a:t>
            </a:r>
            <a:r>
              <a:rPr sz="2000" spc="30" dirty="0">
                <a:solidFill>
                  <a:srgbClr val="404040"/>
                </a:solidFill>
                <a:latin typeface="Arial MT"/>
                <a:cs typeface="Arial MT"/>
              </a:rPr>
              <a:t> </a:t>
            </a:r>
            <a:r>
              <a:rPr sz="2000" spc="-20" dirty="0">
                <a:solidFill>
                  <a:srgbClr val="404040"/>
                </a:solidFill>
                <a:latin typeface="Courier New"/>
                <a:cs typeface="Courier New"/>
              </a:rPr>
              <a:t>readline()</a:t>
            </a:r>
            <a:r>
              <a:rPr sz="2000" spc="-615" dirty="0">
                <a:solidFill>
                  <a:srgbClr val="404040"/>
                </a:solidFill>
                <a:latin typeface="Courier New"/>
                <a:cs typeface="Courier New"/>
              </a:rPr>
              <a:t> </a:t>
            </a:r>
            <a:r>
              <a:rPr sz="2000" spc="170" dirty="0">
                <a:solidFill>
                  <a:srgbClr val="404040"/>
                </a:solidFill>
                <a:latin typeface="Arial MT"/>
                <a:cs typeface="Arial MT"/>
              </a:rPr>
              <a:t>method</a:t>
            </a:r>
            <a:r>
              <a:rPr sz="2000" spc="50" dirty="0">
                <a:solidFill>
                  <a:srgbClr val="404040"/>
                </a:solidFill>
                <a:latin typeface="Arial MT"/>
                <a:cs typeface="Arial MT"/>
              </a:rPr>
              <a:t> </a:t>
            </a:r>
            <a:r>
              <a:rPr sz="2000" spc="155" dirty="0">
                <a:solidFill>
                  <a:srgbClr val="404040"/>
                </a:solidFill>
                <a:latin typeface="Arial MT"/>
                <a:cs typeface="Arial MT"/>
              </a:rPr>
              <a:t>to</a:t>
            </a:r>
            <a:r>
              <a:rPr sz="2000" spc="35" dirty="0">
                <a:solidFill>
                  <a:srgbClr val="404040"/>
                </a:solidFill>
                <a:latin typeface="Arial MT"/>
                <a:cs typeface="Arial MT"/>
              </a:rPr>
              <a:t> </a:t>
            </a:r>
            <a:r>
              <a:rPr sz="2000" spc="145" dirty="0">
                <a:solidFill>
                  <a:srgbClr val="404040"/>
                </a:solidFill>
                <a:latin typeface="Arial MT"/>
                <a:cs typeface="Arial MT"/>
              </a:rPr>
              <a:t>read</a:t>
            </a:r>
            <a:r>
              <a:rPr sz="2000" spc="45" dirty="0">
                <a:solidFill>
                  <a:srgbClr val="404040"/>
                </a:solidFill>
                <a:latin typeface="Arial MT"/>
                <a:cs typeface="Arial MT"/>
              </a:rPr>
              <a:t> </a:t>
            </a:r>
            <a:r>
              <a:rPr sz="2000" spc="130" dirty="0">
                <a:solidFill>
                  <a:srgbClr val="404040"/>
                </a:solidFill>
                <a:latin typeface="Arial MT"/>
                <a:cs typeface="Arial MT"/>
              </a:rPr>
              <a:t>the</a:t>
            </a:r>
            <a:r>
              <a:rPr sz="2000" spc="35" dirty="0">
                <a:solidFill>
                  <a:srgbClr val="404040"/>
                </a:solidFill>
                <a:latin typeface="Arial MT"/>
                <a:cs typeface="Arial MT"/>
              </a:rPr>
              <a:t> </a:t>
            </a:r>
            <a:r>
              <a:rPr sz="2000" spc="90" dirty="0">
                <a:solidFill>
                  <a:srgbClr val="404040"/>
                </a:solidFill>
                <a:latin typeface="Arial MT"/>
                <a:cs typeface="Arial MT"/>
              </a:rPr>
              <a:t>text</a:t>
            </a:r>
            <a:r>
              <a:rPr sz="2000" spc="30" dirty="0">
                <a:solidFill>
                  <a:srgbClr val="404040"/>
                </a:solidFill>
                <a:latin typeface="Arial MT"/>
                <a:cs typeface="Arial MT"/>
              </a:rPr>
              <a:t> </a:t>
            </a:r>
            <a:r>
              <a:rPr sz="2000" dirty="0">
                <a:solidFill>
                  <a:srgbClr val="404040"/>
                </a:solidFill>
                <a:latin typeface="Arial MT"/>
                <a:cs typeface="Arial MT"/>
              </a:rPr>
              <a:t>line</a:t>
            </a:r>
            <a:r>
              <a:rPr sz="2000" spc="40" dirty="0">
                <a:solidFill>
                  <a:srgbClr val="404040"/>
                </a:solidFill>
                <a:latin typeface="Arial MT"/>
                <a:cs typeface="Arial MT"/>
              </a:rPr>
              <a:t> </a:t>
            </a:r>
            <a:r>
              <a:rPr sz="2000" spc="155" dirty="0">
                <a:solidFill>
                  <a:srgbClr val="404040"/>
                </a:solidFill>
                <a:latin typeface="Arial MT"/>
                <a:cs typeface="Arial MT"/>
              </a:rPr>
              <a:t>by</a:t>
            </a:r>
            <a:r>
              <a:rPr sz="2000" spc="30" dirty="0">
                <a:solidFill>
                  <a:srgbClr val="404040"/>
                </a:solidFill>
                <a:latin typeface="Arial MT"/>
                <a:cs typeface="Arial MT"/>
              </a:rPr>
              <a:t> </a:t>
            </a:r>
            <a:r>
              <a:rPr sz="2000" dirty="0">
                <a:solidFill>
                  <a:srgbClr val="404040"/>
                </a:solidFill>
                <a:latin typeface="Arial MT"/>
                <a:cs typeface="Arial MT"/>
              </a:rPr>
              <a:t>line</a:t>
            </a:r>
            <a:r>
              <a:rPr sz="2000" spc="40" dirty="0">
                <a:solidFill>
                  <a:srgbClr val="404040"/>
                </a:solidFill>
                <a:latin typeface="Arial MT"/>
                <a:cs typeface="Arial MT"/>
              </a:rPr>
              <a:t> </a:t>
            </a:r>
            <a:r>
              <a:rPr sz="2000" spc="-150" dirty="0">
                <a:solidFill>
                  <a:srgbClr val="404040"/>
                </a:solidFill>
                <a:latin typeface="Arial MT"/>
                <a:cs typeface="Arial MT"/>
              </a:rPr>
              <a:t>is</a:t>
            </a:r>
            <a:r>
              <a:rPr sz="2000" spc="35" dirty="0">
                <a:solidFill>
                  <a:srgbClr val="404040"/>
                </a:solidFill>
                <a:latin typeface="Arial MT"/>
                <a:cs typeface="Arial MT"/>
              </a:rPr>
              <a:t> </a:t>
            </a:r>
            <a:r>
              <a:rPr sz="2000" dirty="0">
                <a:solidFill>
                  <a:srgbClr val="404040"/>
                </a:solidFill>
                <a:latin typeface="Arial MT"/>
                <a:cs typeface="Arial MT"/>
              </a:rPr>
              <a:t>as</a:t>
            </a:r>
            <a:r>
              <a:rPr sz="2000" spc="30" dirty="0">
                <a:solidFill>
                  <a:srgbClr val="404040"/>
                </a:solidFill>
                <a:latin typeface="Arial MT"/>
                <a:cs typeface="Arial MT"/>
              </a:rPr>
              <a:t> </a:t>
            </a:r>
            <a:r>
              <a:rPr sz="2000" spc="-10" dirty="0">
                <a:solidFill>
                  <a:srgbClr val="404040"/>
                </a:solidFill>
                <a:latin typeface="Arial MT"/>
                <a:cs typeface="Arial MT"/>
              </a:rPr>
              <a:t>follows:</a:t>
            </a:r>
            <a:endParaRPr sz="2000" dirty="0">
              <a:latin typeface="Arial MT"/>
              <a:cs typeface="Arial MT"/>
            </a:endParaRPr>
          </a:p>
        </p:txBody>
      </p:sp>
      <p:grpSp>
        <p:nvGrpSpPr>
          <p:cNvPr id="4" name="object 4"/>
          <p:cNvGrpSpPr/>
          <p:nvPr/>
        </p:nvGrpSpPr>
        <p:grpSpPr>
          <a:xfrm>
            <a:off x="1209294" y="3873246"/>
            <a:ext cx="2430780" cy="1074420"/>
            <a:chOff x="1209294" y="3873246"/>
            <a:chExt cx="2430780" cy="1074420"/>
          </a:xfrm>
        </p:grpSpPr>
        <p:pic>
          <p:nvPicPr>
            <p:cNvPr id="5" name="object 5"/>
            <p:cNvPicPr/>
            <p:nvPr/>
          </p:nvPicPr>
          <p:blipFill>
            <a:blip r:embed="rId3" cstate="print"/>
            <a:stretch>
              <a:fillRect/>
            </a:stretch>
          </p:blipFill>
          <p:spPr>
            <a:xfrm>
              <a:off x="1209294" y="3873246"/>
              <a:ext cx="2237993" cy="912113"/>
            </a:xfrm>
            <a:prstGeom prst="rect">
              <a:avLst/>
            </a:prstGeom>
          </p:spPr>
        </p:pic>
        <p:pic>
          <p:nvPicPr>
            <p:cNvPr id="6" name="object 6"/>
            <p:cNvPicPr/>
            <p:nvPr/>
          </p:nvPicPr>
          <p:blipFill>
            <a:blip r:embed="rId4" cstate="print"/>
            <a:stretch>
              <a:fillRect/>
            </a:stretch>
          </p:blipFill>
          <p:spPr>
            <a:xfrm>
              <a:off x="1795272" y="4091940"/>
              <a:ext cx="1844801" cy="855725"/>
            </a:xfrm>
            <a:prstGeom prst="rect">
              <a:avLst/>
            </a:prstGeom>
          </p:spPr>
        </p:pic>
      </p:grpSp>
      <p:sp>
        <p:nvSpPr>
          <p:cNvPr id="7" name="object 7"/>
          <p:cNvSpPr txBox="1"/>
          <p:nvPr/>
        </p:nvSpPr>
        <p:spPr>
          <a:xfrm>
            <a:off x="2125508" y="4197583"/>
            <a:ext cx="1184275" cy="609600"/>
          </a:xfrm>
          <a:prstGeom prst="rect">
            <a:avLst/>
          </a:prstGeom>
        </p:spPr>
        <p:txBody>
          <a:bodyPr vert="horz" wrap="square" lIns="0" tIns="42545" rIns="0" bIns="0" rtlCol="0">
            <a:spAutoFit/>
          </a:bodyPr>
          <a:lstStyle/>
          <a:p>
            <a:pPr marL="388620" marR="5080" indent="-376555">
              <a:lnSpc>
                <a:spcPts val="2200"/>
              </a:lnSpc>
              <a:spcBef>
                <a:spcPts val="335"/>
              </a:spcBef>
            </a:pPr>
            <a:r>
              <a:rPr sz="2000" b="1" spc="80" dirty="0">
                <a:latin typeface="Arial"/>
                <a:cs typeface="Arial"/>
              </a:rPr>
              <a:t>Open</a:t>
            </a:r>
            <a:r>
              <a:rPr sz="2000" b="1" spc="10" dirty="0">
                <a:latin typeface="Arial"/>
                <a:cs typeface="Arial"/>
              </a:rPr>
              <a:t> </a:t>
            </a:r>
            <a:r>
              <a:rPr sz="2000" b="1" spc="-25" dirty="0">
                <a:latin typeface="Arial"/>
                <a:cs typeface="Arial"/>
              </a:rPr>
              <a:t>the </a:t>
            </a:r>
            <a:r>
              <a:rPr sz="2000" b="1" spc="-20" dirty="0">
                <a:latin typeface="Arial"/>
                <a:cs typeface="Arial"/>
              </a:rPr>
              <a:t>File</a:t>
            </a:r>
            <a:endParaRPr sz="2000">
              <a:latin typeface="Arial"/>
              <a:cs typeface="Arial"/>
            </a:endParaRPr>
          </a:p>
        </p:txBody>
      </p:sp>
      <p:grpSp>
        <p:nvGrpSpPr>
          <p:cNvPr id="8" name="object 8"/>
          <p:cNvGrpSpPr/>
          <p:nvPr/>
        </p:nvGrpSpPr>
        <p:grpSpPr>
          <a:xfrm>
            <a:off x="3673602" y="3873246"/>
            <a:ext cx="2430780" cy="1074420"/>
            <a:chOff x="3673602" y="3873246"/>
            <a:chExt cx="2430780" cy="1074420"/>
          </a:xfrm>
        </p:grpSpPr>
        <p:pic>
          <p:nvPicPr>
            <p:cNvPr id="9" name="object 9"/>
            <p:cNvPicPr/>
            <p:nvPr/>
          </p:nvPicPr>
          <p:blipFill>
            <a:blip r:embed="rId5" cstate="print"/>
            <a:stretch>
              <a:fillRect/>
            </a:stretch>
          </p:blipFill>
          <p:spPr>
            <a:xfrm>
              <a:off x="3673602" y="3873246"/>
              <a:ext cx="2237231" cy="912113"/>
            </a:xfrm>
            <a:prstGeom prst="rect">
              <a:avLst/>
            </a:prstGeom>
          </p:spPr>
        </p:pic>
        <p:pic>
          <p:nvPicPr>
            <p:cNvPr id="10" name="object 10"/>
            <p:cNvPicPr/>
            <p:nvPr/>
          </p:nvPicPr>
          <p:blipFill>
            <a:blip r:embed="rId4" cstate="print"/>
            <a:stretch>
              <a:fillRect/>
            </a:stretch>
          </p:blipFill>
          <p:spPr>
            <a:xfrm>
              <a:off x="4259580" y="4091940"/>
              <a:ext cx="1844801" cy="855725"/>
            </a:xfrm>
            <a:prstGeom prst="rect">
              <a:avLst/>
            </a:prstGeom>
          </p:spPr>
        </p:pic>
      </p:grpSp>
      <p:sp>
        <p:nvSpPr>
          <p:cNvPr id="11" name="object 11"/>
          <p:cNvSpPr txBox="1"/>
          <p:nvPr/>
        </p:nvSpPr>
        <p:spPr>
          <a:xfrm>
            <a:off x="4566842" y="4197583"/>
            <a:ext cx="1229995" cy="609600"/>
          </a:xfrm>
          <a:prstGeom prst="rect">
            <a:avLst/>
          </a:prstGeom>
        </p:spPr>
        <p:txBody>
          <a:bodyPr vert="horz" wrap="square" lIns="0" tIns="42545" rIns="0" bIns="0" rtlCol="0">
            <a:spAutoFit/>
          </a:bodyPr>
          <a:lstStyle/>
          <a:p>
            <a:pPr marL="177800" marR="5080" indent="-165735">
              <a:lnSpc>
                <a:spcPts val="2200"/>
              </a:lnSpc>
              <a:spcBef>
                <a:spcPts val="335"/>
              </a:spcBef>
            </a:pPr>
            <a:r>
              <a:rPr sz="2000" b="1" dirty="0">
                <a:latin typeface="Arial"/>
                <a:cs typeface="Arial"/>
              </a:rPr>
              <a:t>Read</a:t>
            </a:r>
            <a:r>
              <a:rPr sz="2000" b="1" spc="135" dirty="0">
                <a:latin typeface="Arial"/>
                <a:cs typeface="Arial"/>
              </a:rPr>
              <a:t> </a:t>
            </a:r>
            <a:r>
              <a:rPr sz="2000" b="1" spc="-70" dirty="0">
                <a:latin typeface="Arial"/>
                <a:cs typeface="Arial"/>
              </a:rPr>
              <a:t>Line </a:t>
            </a:r>
            <a:r>
              <a:rPr sz="2000" b="1" spc="65" dirty="0">
                <a:latin typeface="Arial"/>
                <a:cs typeface="Arial"/>
              </a:rPr>
              <a:t>by</a:t>
            </a:r>
            <a:r>
              <a:rPr sz="2000" b="1" spc="5" dirty="0">
                <a:latin typeface="Arial"/>
                <a:cs typeface="Arial"/>
              </a:rPr>
              <a:t> </a:t>
            </a:r>
            <a:r>
              <a:rPr sz="2000" b="1" spc="-20" dirty="0">
                <a:latin typeface="Arial"/>
                <a:cs typeface="Arial"/>
              </a:rPr>
              <a:t>Line</a:t>
            </a:r>
            <a:endParaRPr sz="2000">
              <a:latin typeface="Arial"/>
              <a:cs typeface="Arial"/>
            </a:endParaRPr>
          </a:p>
        </p:txBody>
      </p:sp>
      <p:grpSp>
        <p:nvGrpSpPr>
          <p:cNvPr id="12" name="object 12"/>
          <p:cNvGrpSpPr/>
          <p:nvPr/>
        </p:nvGrpSpPr>
        <p:grpSpPr>
          <a:xfrm>
            <a:off x="6137909" y="3873246"/>
            <a:ext cx="2430780" cy="1074420"/>
            <a:chOff x="6137909" y="3873246"/>
            <a:chExt cx="2430780" cy="1074420"/>
          </a:xfrm>
        </p:grpSpPr>
        <p:pic>
          <p:nvPicPr>
            <p:cNvPr id="13" name="object 13"/>
            <p:cNvPicPr/>
            <p:nvPr/>
          </p:nvPicPr>
          <p:blipFill>
            <a:blip r:embed="rId6" cstate="print"/>
            <a:stretch>
              <a:fillRect/>
            </a:stretch>
          </p:blipFill>
          <p:spPr>
            <a:xfrm>
              <a:off x="6137909" y="3873246"/>
              <a:ext cx="2237231" cy="912113"/>
            </a:xfrm>
            <a:prstGeom prst="rect">
              <a:avLst/>
            </a:prstGeom>
          </p:spPr>
        </p:pic>
        <p:pic>
          <p:nvPicPr>
            <p:cNvPr id="14" name="object 14"/>
            <p:cNvPicPr/>
            <p:nvPr/>
          </p:nvPicPr>
          <p:blipFill>
            <a:blip r:embed="rId4" cstate="print"/>
            <a:stretch>
              <a:fillRect/>
            </a:stretch>
          </p:blipFill>
          <p:spPr>
            <a:xfrm>
              <a:off x="6723887" y="4091940"/>
              <a:ext cx="1844801" cy="855725"/>
            </a:xfrm>
            <a:prstGeom prst="rect">
              <a:avLst/>
            </a:prstGeom>
          </p:spPr>
        </p:pic>
      </p:grpSp>
      <p:sp>
        <p:nvSpPr>
          <p:cNvPr id="15" name="object 15"/>
          <p:cNvSpPr txBox="1"/>
          <p:nvPr/>
        </p:nvSpPr>
        <p:spPr>
          <a:xfrm>
            <a:off x="7297705" y="4337760"/>
            <a:ext cx="695960" cy="330200"/>
          </a:xfrm>
          <a:prstGeom prst="rect">
            <a:avLst/>
          </a:prstGeom>
        </p:spPr>
        <p:txBody>
          <a:bodyPr vert="horz" wrap="square" lIns="0" tIns="12065" rIns="0" bIns="0" rtlCol="0">
            <a:spAutoFit/>
          </a:bodyPr>
          <a:lstStyle/>
          <a:p>
            <a:pPr marL="12700">
              <a:lnSpc>
                <a:spcPct val="100000"/>
              </a:lnSpc>
              <a:spcBef>
                <a:spcPts val="95"/>
              </a:spcBef>
            </a:pPr>
            <a:r>
              <a:rPr sz="2000" b="1" spc="-10" dirty="0">
                <a:latin typeface="Arial"/>
                <a:cs typeface="Arial"/>
              </a:rPr>
              <a:t>Layer</a:t>
            </a:r>
            <a:endParaRPr sz="2000" dirty="0">
              <a:latin typeface="Arial"/>
              <a:cs typeface="Arial"/>
            </a:endParaRPr>
          </a:p>
        </p:txBody>
      </p:sp>
      <p:grpSp>
        <p:nvGrpSpPr>
          <p:cNvPr id="16" name="object 16"/>
          <p:cNvGrpSpPr/>
          <p:nvPr/>
        </p:nvGrpSpPr>
        <p:grpSpPr>
          <a:xfrm>
            <a:off x="8602218" y="3873246"/>
            <a:ext cx="2430780" cy="1074420"/>
            <a:chOff x="8602218" y="3873246"/>
            <a:chExt cx="2430780" cy="1074420"/>
          </a:xfrm>
        </p:grpSpPr>
        <p:pic>
          <p:nvPicPr>
            <p:cNvPr id="17" name="object 17"/>
            <p:cNvPicPr/>
            <p:nvPr/>
          </p:nvPicPr>
          <p:blipFill>
            <a:blip r:embed="rId7" cstate="print"/>
            <a:stretch>
              <a:fillRect/>
            </a:stretch>
          </p:blipFill>
          <p:spPr>
            <a:xfrm>
              <a:off x="8602218" y="3873246"/>
              <a:ext cx="2237230" cy="912113"/>
            </a:xfrm>
            <a:prstGeom prst="rect">
              <a:avLst/>
            </a:prstGeom>
          </p:spPr>
        </p:pic>
        <p:pic>
          <p:nvPicPr>
            <p:cNvPr id="18" name="object 18"/>
            <p:cNvPicPr/>
            <p:nvPr/>
          </p:nvPicPr>
          <p:blipFill>
            <a:blip r:embed="rId4" cstate="print"/>
            <a:stretch>
              <a:fillRect/>
            </a:stretch>
          </p:blipFill>
          <p:spPr>
            <a:xfrm>
              <a:off x="9188196" y="4091940"/>
              <a:ext cx="1844801" cy="855725"/>
            </a:xfrm>
            <a:prstGeom prst="rect">
              <a:avLst/>
            </a:prstGeom>
          </p:spPr>
        </p:pic>
      </p:grpSp>
      <p:sp>
        <p:nvSpPr>
          <p:cNvPr id="19" name="object 19"/>
          <p:cNvSpPr txBox="1"/>
          <p:nvPr/>
        </p:nvSpPr>
        <p:spPr>
          <a:xfrm>
            <a:off x="9518060" y="4197583"/>
            <a:ext cx="1184275" cy="609600"/>
          </a:xfrm>
          <a:prstGeom prst="rect">
            <a:avLst/>
          </a:prstGeom>
        </p:spPr>
        <p:txBody>
          <a:bodyPr vert="horz" wrap="square" lIns="0" tIns="42545" rIns="0" bIns="0" rtlCol="0">
            <a:spAutoFit/>
          </a:bodyPr>
          <a:lstStyle/>
          <a:p>
            <a:pPr marL="388620" marR="5080" indent="-376555">
              <a:lnSpc>
                <a:spcPts val="2200"/>
              </a:lnSpc>
              <a:spcBef>
                <a:spcPts val="335"/>
              </a:spcBef>
            </a:pPr>
            <a:r>
              <a:rPr sz="2000" b="1" dirty="0">
                <a:latin typeface="Arial"/>
                <a:cs typeface="Arial"/>
              </a:rPr>
              <a:t>Close </a:t>
            </a:r>
            <a:r>
              <a:rPr sz="2000" b="1" spc="-25" dirty="0">
                <a:latin typeface="Arial"/>
                <a:cs typeface="Arial"/>
              </a:rPr>
              <a:t>the </a:t>
            </a:r>
            <a:r>
              <a:rPr sz="2000" b="1" spc="-20" dirty="0">
                <a:latin typeface="Arial"/>
                <a:cs typeface="Arial"/>
              </a:rPr>
              <a:t>File</a:t>
            </a:r>
            <a:endParaRPr sz="2000">
              <a:latin typeface="Arial"/>
              <a:cs typeface="Arial"/>
            </a:endParaRPr>
          </a:p>
        </p:txBody>
      </p:sp>
      <p:sp>
        <p:nvSpPr>
          <p:cNvPr id="20" name="object 20"/>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7</a:t>
            </a:fld>
            <a:endParaRPr spc="-25" dirty="0"/>
          </a:p>
        </p:txBody>
      </p:sp>
      <p:sp>
        <p:nvSpPr>
          <p:cNvPr id="21" name="object 21"/>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22" name="object 22"/>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dirty="0"/>
              <a:t>Reading</a:t>
            </a:r>
            <a:r>
              <a:rPr spc="-70" dirty="0"/>
              <a:t> </a:t>
            </a:r>
            <a:r>
              <a:rPr spc="-229" dirty="0"/>
              <a:t>Text</a:t>
            </a:r>
            <a:r>
              <a:rPr spc="-90" dirty="0"/>
              <a:t> </a:t>
            </a:r>
            <a:r>
              <a:rPr spc="-290" dirty="0"/>
              <a:t>Files</a:t>
            </a:r>
            <a:r>
              <a:rPr spc="-85" dirty="0"/>
              <a:t> </a:t>
            </a:r>
            <a:r>
              <a:rPr spc="70" dirty="0"/>
              <a:t>[3-</a:t>
            </a:r>
            <a:r>
              <a:rPr spc="-25" dirty="0"/>
              <a:t>3]</a:t>
            </a:r>
          </a:p>
        </p:txBody>
      </p:sp>
      <p:sp>
        <p:nvSpPr>
          <p:cNvPr id="3" name="object 3"/>
          <p:cNvSpPr txBox="1"/>
          <p:nvPr/>
        </p:nvSpPr>
        <p:spPr>
          <a:xfrm>
            <a:off x="1084580" y="1845225"/>
            <a:ext cx="9534525" cy="1071880"/>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404040"/>
                </a:solidFill>
                <a:latin typeface="Arial"/>
                <a:cs typeface="Arial"/>
              </a:rPr>
              <a:t>Reading</a:t>
            </a:r>
            <a:r>
              <a:rPr sz="2800" b="1" spc="-95" dirty="0">
                <a:solidFill>
                  <a:srgbClr val="404040"/>
                </a:solidFill>
                <a:latin typeface="Arial"/>
                <a:cs typeface="Arial"/>
              </a:rPr>
              <a:t> </a:t>
            </a:r>
            <a:r>
              <a:rPr sz="2800" b="1" spc="-60" dirty="0">
                <a:solidFill>
                  <a:srgbClr val="404040"/>
                </a:solidFill>
                <a:latin typeface="Arial"/>
                <a:cs typeface="Arial"/>
              </a:rPr>
              <a:t>File</a:t>
            </a:r>
            <a:r>
              <a:rPr sz="2800" b="1" spc="-35" dirty="0">
                <a:solidFill>
                  <a:srgbClr val="404040"/>
                </a:solidFill>
                <a:latin typeface="Arial"/>
                <a:cs typeface="Arial"/>
              </a:rPr>
              <a:t> </a:t>
            </a:r>
            <a:r>
              <a:rPr sz="2800" b="1" spc="-10" dirty="0">
                <a:solidFill>
                  <a:srgbClr val="404040"/>
                </a:solidFill>
                <a:latin typeface="Arial"/>
                <a:cs typeface="Arial"/>
              </a:rPr>
              <a:t>Contents</a:t>
            </a:r>
            <a:r>
              <a:rPr sz="2800" b="1" spc="-60" dirty="0">
                <a:solidFill>
                  <a:srgbClr val="404040"/>
                </a:solidFill>
                <a:latin typeface="Arial"/>
                <a:cs typeface="Arial"/>
              </a:rPr>
              <a:t> </a:t>
            </a:r>
            <a:r>
              <a:rPr sz="2800" b="1" dirty="0">
                <a:solidFill>
                  <a:srgbClr val="404040"/>
                </a:solidFill>
                <a:latin typeface="Arial"/>
                <a:cs typeface="Arial"/>
              </a:rPr>
              <a:t>into</a:t>
            </a:r>
            <a:r>
              <a:rPr sz="2800" b="1" spc="-45" dirty="0">
                <a:solidFill>
                  <a:srgbClr val="404040"/>
                </a:solidFill>
                <a:latin typeface="Arial"/>
                <a:cs typeface="Arial"/>
              </a:rPr>
              <a:t> </a:t>
            </a:r>
            <a:r>
              <a:rPr sz="2800" b="1" spc="280" dirty="0">
                <a:solidFill>
                  <a:srgbClr val="404040"/>
                </a:solidFill>
                <a:latin typeface="Arial"/>
                <a:cs typeface="Arial"/>
              </a:rPr>
              <a:t>a</a:t>
            </a:r>
            <a:r>
              <a:rPr sz="2800" b="1" spc="-45" dirty="0">
                <a:solidFill>
                  <a:srgbClr val="404040"/>
                </a:solidFill>
                <a:latin typeface="Arial"/>
                <a:cs typeface="Arial"/>
              </a:rPr>
              <a:t> </a:t>
            </a:r>
            <a:r>
              <a:rPr sz="2800" b="1" spc="-270" dirty="0">
                <a:solidFill>
                  <a:srgbClr val="404040"/>
                </a:solidFill>
                <a:latin typeface="Arial"/>
                <a:cs typeface="Arial"/>
              </a:rPr>
              <a:t>List</a:t>
            </a:r>
            <a:r>
              <a:rPr sz="2800" b="1" spc="20" dirty="0">
                <a:solidFill>
                  <a:srgbClr val="404040"/>
                </a:solidFill>
                <a:latin typeface="Arial"/>
                <a:cs typeface="Arial"/>
              </a:rPr>
              <a:t> </a:t>
            </a:r>
            <a:r>
              <a:rPr sz="2800" b="1" spc="-105" dirty="0">
                <a:solidFill>
                  <a:srgbClr val="404040"/>
                </a:solidFill>
                <a:latin typeface="Arial"/>
                <a:cs typeface="Arial"/>
              </a:rPr>
              <a:t>Using</a:t>
            </a:r>
            <a:r>
              <a:rPr sz="2800" b="1" spc="-40" dirty="0">
                <a:solidFill>
                  <a:srgbClr val="404040"/>
                </a:solidFill>
                <a:latin typeface="Arial"/>
                <a:cs typeface="Arial"/>
              </a:rPr>
              <a:t> </a:t>
            </a:r>
            <a:r>
              <a:rPr sz="2800" b="1" spc="-10" dirty="0">
                <a:solidFill>
                  <a:srgbClr val="404040"/>
                </a:solidFill>
                <a:latin typeface="Courier New"/>
                <a:cs typeface="Courier New"/>
              </a:rPr>
              <a:t>readlines()</a:t>
            </a:r>
            <a:endParaRPr sz="2800">
              <a:latin typeface="Courier New"/>
              <a:cs typeface="Courier New"/>
            </a:endParaRPr>
          </a:p>
          <a:p>
            <a:pPr marL="213995" indent="-205104">
              <a:lnSpc>
                <a:spcPct val="100000"/>
              </a:lnSpc>
              <a:spcBef>
                <a:spcPts val="2475"/>
              </a:spcBef>
              <a:buClr>
                <a:srgbClr val="E38312"/>
              </a:buClr>
              <a:buSzPct val="95000"/>
              <a:buFont typeface="Wingdings"/>
              <a:buChar char=""/>
              <a:tabLst>
                <a:tab pos="213995" algn="l"/>
              </a:tabLst>
            </a:pPr>
            <a:r>
              <a:rPr sz="2000" spc="55" dirty="0">
                <a:solidFill>
                  <a:srgbClr val="404040"/>
                </a:solidFill>
                <a:latin typeface="Arial MT"/>
                <a:cs typeface="Arial MT"/>
              </a:rPr>
              <a:t>Working</a:t>
            </a:r>
            <a:r>
              <a:rPr sz="2000" spc="30" dirty="0">
                <a:solidFill>
                  <a:srgbClr val="404040"/>
                </a:solidFill>
                <a:latin typeface="Arial MT"/>
                <a:cs typeface="Arial MT"/>
              </a:rPr>
              <a:t> </a:t>
            </a:r>
            <a:r>
              <a:rPr sz="2000" spc="130" dirty="0">
                <a:solidFill>
                  <a:srgbClr val="404040"/>
                </a:solidFill>
                <a:latin typeface="Arial MT"/>
                <a:cs typeface="Arial MT"/>
              </a:rPr>
              <a:t>of</a:t>
            </a:r>
            <a:r>
              <a:rPr sz="2000" spc="20" dirty="0">
                <a:solidFill>
                  <a:srgbClr val="404040"/>
                </a:solidFill>
                <a:latin typeface="Arial MT"/>
                <a:cs typeface="Arial MT"/>
              </a:rPr>
              <a:t> </a:t>
            </a:r>
            <a:r>
              <a:rPr sz="2000" spc="-20" dirty="0">
                <a:solidFill>
                  <a:srgbClr val="404040"/>
                </a:solidFill>
                <a:latin typeface="Courier New"/>
                <a:cs typeface="Courier New"/>
              </a:rPr>
              <a:t>readlines()</a:t>
            </a:r>
            <a:r>
              <a:rPr sz="2000" spc="-640" dirty="0">
                <a:solidFill>
                  <a:srgbClr val="404040"/>
                </a:solidFill>
                <a:latin typeface="Courier New"/>
                <a:cs typeface="Courier New"/>
              </a:rPr>
              <a:t> </a:t>
            </a:r>
            <a:r>
              <a:rPr sz="2000" spc="170" dirty="0">
                <a:solidFill>
                  <a:srgbClr val="404040"/>
                </a:solidFill>
                <a:latin typeface="Arial MT"/>
                <a:cs typeface="Arial MT"/>
              </a:rPr>
              <a:t>method</a:t>
            </a:r>
            <a:r>
              <a:rPr sz="2000" spc="35" dirty="0">
                <a:solidFill>
                  <a:srgbClr val="404040"/>
                </a:solidFill>
                <a:latin typeface="Arial MT"/>
                <a:cs typeface="Arial MT"/>
              </a:rPr>
              <a:t> </a:t>
            </a:r>
            <a:r>
              <a:rPr sz="2000" spc="155" dirty="0">
                <a:solidFill>
                  <a:srgbClr val="404040"/>
                </a:solidFill>
                <a:latin typeface="Arial MT"/>
                <a:cs typeface="Arial MT"/>
              </a:rPr>
              <a:t>to</a:t>
            </a:r>
            <a:r>
              <a:rPr sz="2000" spc="20" dirty="0">
                <a:solidFill>
                  <a:srgbClr val="404040"/>
                </a:solidFill>
                <a:latin typeface="Arial MT"/>
                <a:cs typeface="Arial MT"/>
              </a:rPr>
              <a:t> </a:t>
            </a:r>
            <a:r>
              <a:rPr sz="2000" spc="145" dirty="0">
                <a:solidFill>
                  <a:srgbClr val="404040"/>
                </a:solidFill>
                <a:latin typeface="Arial MT"/>
                <a:cs typeface="Arial MT"/>
              </a:rPr>
              <a:t>read</a:t>
            </a:r>
            <a:r>
              <a:rPr sz="2000" spc="25" dirty="0">
                <a:solidFill>
                  <a:srgbClr val="404040"/>
                </a:solidFill>
                <a:latin typeface="Arial MT"/>
                <a:cs typeface="Arial MT"/>
              </a:rPr>
              <a:t> </a:t>
            </a:r>
            <a:r>
              <a:rPr sz="2000" dirty="0">
                <a:solidFill>
                  <a:srgbClr val="404040"/>
                </a:solidFill>
                <a:latin typeface="Arial MT"/>
                <a:cs typeface="Arial MT"/>
              </a:rPr>
              <a:t>file</a:t>
            </a:r>
            <a:r>
              <a:rPr sz="2000" spc="10" dirty="0">
                <a:solidFill>
                  <a:srgbClr val="404040"/>
                </a:solidFill>
                <a:latin typeface="Arial MT"/>
                <a:cs typeface="Arial MT"/>
              </a:rPr>
              <a:t> </a:t>
            </a:r>
            <a:r>
              <a:rPr sz="2000" spc="105" dirty="0">
                <a:solidFill>
                  <a:srgbClr val="404040"/>
                </a:solidFill>
                <a:latin typeface="Arial MT"/>
                <a:cs typeface="Arial MT"/>
              </a:rPr>
              <a:t>contents</a:t>
            </a:r>
            <a:r>
              <a:rPr sz="2000" spc="40" dirty="0">
                <a:solidFill>
                  <a:srgbClr val="404040"/>
                </a:solidFill>
                <a:latin typeface="Arial MT"/>
                <a:cs typeface="Arial MT"/>
              </a:rPr>
              <a:t> </a:t>
            </a:r>
            <a:r>
              <a:rPr sz="2000" spc="85" dirty="0">
                <a:solidFill>
                  <a:srgbClr val="404040"/>
                </a:solidFill>
                <a:latin typeface="Arial MT"/>
                <a:cs typeface="Arial MT"/>
              </a:rPr>
              <a:t>into</a:t>
            </a:r>
            <a:r>
              <a:rPr sz="2000" spc="20" dirty="0">
                <a:solidFill>
                  <a:srgbClr val="404040"/>
                </a:solidFill>
                <a:latin typeface="Arial MT"/>
                <a:cs typeface="Arial MT"/>
              </a:rPr>
              <a:t> </a:t>
            </a:r>
            <a:r>
              <a:rPr sz="2000" spc="240" dirty="0">
                <a:solidFill>
                  <a:srgbClr val="404040"/>
                </a:solidFill>
                <a:latin typeface="Arial MT"/>
                <a:cs typeface="Arial MT"/>
              </a:rPr>
              <a:t>a</a:t>
            </a:r>
            <a:r>
              <a:rPr sz="2000" spc="15" dirty="0">
                <a:solidFill>
                  <a:srgbClr val="404040"/>
                </a:solidFill>
                <a:latin typeface="Arial MT"/>
                <a:cs typeface="Arial MT"/>
              </a:rPr>
              <a:t> </a:t>
            </a:r>
            <a:r>
              <a:rPr sz="2000" spc="-40" dirty="0">
                <a:solidFill>
                  <a:srgbClr val="404040"/>
                </a:solidFill>
                <a:latin typeface="Arial MT"/>
                <a:cs typeface="Arial MT"/>
              </a:rPr>
              <a:t>list</a:t>
            </a:r>
            <a:r>
              <a:rPr sz="2000" spc="5" dirty="0">
                <a:solidFill>
                  <a:srgbClr val="404040"/>
                </a:solidFill>
                <a:latin typeface="Arial MT"/>
                <a:cs typeface="Arial MT"/>
              </a:rPr>
              <a:t> </a:t>
            </a:r>
            <a:r>
              <a:rPr sz="2000" spc="-150" dirty="0">
                <a:solidFill>
                  <a:srgbClr val="404040"/>
                </a:solidFill>
                <a:latin typeface="Arial MT"/>
                <a:cs typeface="Arial MT"/>
              </a:rPr>
              <a:t>is</a:t>
            </a:r>
            <a:r>
              <a:rPr sz="2000" spc="20" dirty="0">
                <a:solidFill>
                  <a:srgbClr val="404040"/>
                </a:solidFill>
                <a:latin typeface="Arial MT"/>
                <a:cs typeface="Arial MT"/>
              </a:rPr>
              <a:t> </a:t>
            </a:r>
            <a:r>
              <a:rPr sz="2000" dirty="0">
                <a:solidFill>
                  <a:srgbClr val="404040"/>
                </a:solidFill>
                <a:latin typeface="Arial MT"/>
                <a:cs typeface="Arial MT"/>
              </a:rPr>
              <a:t>as</a:t>
            </a:r>
            <a:r>
              <a:rPr sz="2000" spc="10" dirty="0">
                <a:solidFill>
                  <a:srgbClr val="404040"/>
                </a:solidFill>
                <a:latin typeface="Arial MT"/>
                <a:cs typeface="Arial MT"/>
              </a:rPr>
              <a:t> </a:t>
            </a:r>
            <a:r>
              <a:rPr sz="2000" spc="-10" dirty="0">
                <a:solidFill>
                  <a:srgbClr val="404040"/>
                </a:solidFill>
                <a:latin typeface="Arial MT"/>
                <a:cs typeface="Arial MT"/>
              </a:rPr>
              <a:t>follows:</a:t>
            </a:r>
            <a:endParaRPr sz="2000">
              <a:latin typeface="Arial MT"/>
              <a:cs typeface="Arial MT"/>
            </a:endParaRPr>
          </a:p>
        </p:txBody>
      </p:sp>
      <p:grpSp>
        <p:nvGrpSpPr>
          <p:cNvPr id="4" name="object 4"/>
          <p:cNvGrpSpPr/>
          <p:nvPr/>
        </p:nvGrpSpPr>
        <p:grpSpPr>
          <a:xfrm>
            <a:off x="1209294" y="3873246"/>
            <a:ext cx="2430780" cy="1074420"/>
            <a:chOff x="1209294" y="3873246"/>
            <a:chExt cx="2430780" cy="1074420"/>
          </a:xfrm>
        </p:grpSpPr>
        <p:pic>
          <p:nvPicPr>
            <p:cNvPr id="5" name="object 5"/>
            <p:cNvPicPr/>
            <p:nvPr/>
          </p:nvPicPr>
          <p:blipFill>
            <a:blip r:embed="rId3" cstate="print"/>
            <a:stretch>
              <a:fillRect/>
            </a:stretch>
          </p:blipFill>
          <p:spPr>
            <a:xfrm>
              <a:off x="1209294" y="3873246"/>
              <a:ext cx="2237993" cy="912113"/>
            </a:xfrm>
            <a:prstGeom prst="rect">
              <a:avLst/>
            </a:prstGeom>
          </p:spPr>
        </p:pic>
        <p:pic>
          <p:nvPicPr>
            <p:cNvPr id="6" name="object 6"/>
            <p:cNvPicPr/>
            <p:nvPr/>
          </p:nvPicPr>
          <p:blipFill>
            <a:blip r:embed="rId4" cstate="print"/>
            <a:stretch>
              <a:fillRect/>
            </a:stretch>
          </p:blipFill>
          <p:spPr>
            <a:xfrm>
              <a:off x="1795272" y="4091940"/>
              <a:ext cx="1844801" cy="855725"/>
            </a:xfrm>
            <a:prstGeom prst="rect">
              <a:avLst/>
            </a:prstGeom>
          </p:spPr>
        </p:pic>
      </p:grpSp>
      <p:sp>
        <p:nvSpPr>
          <p:cNvPr id="7" name="object 7"/>
          <p:cNvSpPr txBox="1"/>
          <p:nvPr/>
        </p:nvSpPr>
        <p:spPr>
          <a:xfrm>
            <a:off x="2125508" y="4197583"/>
            <a:ext cx="1184275" cy="609600"/>
          </a:xfrm>
          <a:prstGeom prst="rect">
            <a:avLst/>
          </a:prstGeom>
        </p:spPr>
        <p:txBody>
          <a:bodyPr vert="horz" wrap="square" lIns="0" tIns="42545" rIns="0" bIns="0" rtlCol="0">
            <a:spAutoFit/>
          </a:bodyPr>
          <a:lstStyle/>
          <a:p>
            <a:pPr marL="388620" marR="5080" indent="-376555">
              <a:lnSpc>
                <a:spcPts val="2200"/>
              </a:lnSpc>
              <a:spcBef>
                <a:spcPts val="335"/>
              </a:spcBef>
            </a:pPr>
            <a:r>
              <a:rPr sz="2000" b="1" spc="80" dirty="0">
                <a:latin typeface="Arial"/>
                <a:cs typeface="Arial"/>
              </a:rPr>
              <a:t>Open</a:t>
            </a:r>
            <a:r>
              <a:rPr sz="2000" b="1" spc="10" dirty="0">
                <a:latin typeface="Arial"/>
                <a:cs typeface="Arial"/>
              </a:rPr>
              <a:t> </a:t>
            </a:r>
            <a:r>
              <a:rPr sz="2000" b="1" spc="-25" dirty="0">
                <a:latin typeface="Arial"/>
                <a:cs typeface="Arial"/>
              </a:rPr>
              <a:t>the </a:t>
            </a:r>
            <a:r>
              <a:rPr sz="2000" b="1" spc="-20" dirty="0">
                <a:latin typeface="Arial"/>
                <a:cs typeface="Arial"/>
              </a:rPr>
              <a:t>File</a:t>
            </a:r>
            <a:endParaRPr sz="2000">
              <a:latin typeface="Arial"/>
              <a:cs typeface="Arial"/>
            </a:endParaRPr>
          </a:p>
        </p:txBody>
      </p:sp>
      <p:grpSp>
        <p:nvGrpSpPr>
          <p:cNvPr id="8" name="object 8"/>
          <p:cNvGrpSpPr/>
          <p:nvPr/>
        </p:nvGrpSpPr>
        <p:grpSpPr>
          <a:xfrm>
            <a:off x="3673602" y="3873246"/>
            <a:ext cx="2430780" cy="1074420"/>
            <a:chOff x="3673602" y="3873246"/>
            <a:chExt cx="2430780" cy="1074420"/>
          </a:xfrm>
        </p:grpSpPr>
        <p:pic>
          <p:nvPicPr>
            <p:cNvPr id="9" name="object 9"/>
            <p:cNvPicPr/>
            <p:nvPr/>
          </p:nvPicPr>
          <p:blipFill>
            <a:blip r:embed="rId5" cstate="print"/>
            <a:stretch>
              <a:fillRect/>
            </a:stretch>
          </p:blipFill>
          <p:spPr>
            <a:xfrm>
              <a:off x="3673602" y="3873246"/>
              <a:ext cx="2237231" cy="912113"/>
            </a:xfrm>
            <a:prstGeom prst="rect">
              <a:avLst/>
            </a:prstGeom>
          </p:spPr>
        </p:pic>
        <p:pic>
          <p:nvPicPr>
            <p:cNvPr id="10" name="object 10"/>
            <p:cNvPicPr/>
            <p:nvPr/>
          </p:nvPicPr>
          <p:blipFill>
            <a:blip r:embed="rId4" cstate="print"/>
            <a:stretch>
              <a:fillRect/>
            </a:stretch>
          </p:blipFill>
          <p:spPr>
            <a:xfrm>
              <a:off x="4259580" y="4091940"/>
              <a:ext cx="1844801" cy="855725"/>
            </a:xfrm>
            <a:prstGeom prst="rect">
              <a:avLst/>
            </a:prstGeom>
          </p:spPr>
        </p:pic>
      </p:grpSp>
      <p:sp>
        <p:nvSpPr>
          <p:cNvPr id="11" name="object 11"/>
          <p:cNvSpPr txBox="1"/>
          <p:nvPr/>
        </p:nvSpPr>
        <p:spPr>
          <a:xfrm>
            <a:off x="4655964" y="4197583"/>
            <a:ext cx="1051560" cy="609600"/>
          </a:xfrm>
          <a:prstGeom prst="rect">
            <a:avLst/>
          </a:prstGeom>
        </p:spPr>
        <p:txBody>
          <a:bodyPr vert="horz" wrap="square" lIns="0" tIns="42545" rIns="0" bIns="0" rtlCol="0">
            <a:spAutoFit/>
          </a:bodyPr>
          <a:lstStyle/>
          <a:p>
            <a:pPr marL="226060" marR="5080" indent="-213995">
              <a:lnSpc>
                <a:spcPts val="2200"/>
              </a:lnSpc>
              <a:spcBef>
                <a:spcPts val="335"/>
              </a:spcBef>
            </a:pPr>
            <a:r>
              <a:rPr sz="2000" b="1" dirty="0">
                <a:latin typeface="Arial"/>
                <a:cs typeface="Arial"/>
              </a:rPr>
              <a:t>Read</a:t>
            </a:r>
            <a:r>
              <a:rPr sz="2000" b="1" spc="135" dirty="0">
                <a:latin typeface="Arial"/>
                <a:cs typeface="Arial"/>
              </a:rPr>
              <a:t> </a:t>
            </a:r>
            <a:r>
              <a:rPr sz="2000" b="1" spc="-40" dirty="0">
                <a:latin typeface="Arial"/>
                <a:cs typeface="Arial"/>
              </a:rPr>
              <a:t>All </a:t>
            </a:r>
            <a:r>
              <a:rPr sz="2000" b="1" spc="-10" dirty="0">
                <a:latin typeface="Arial"/>
                <a:cs typeface="Arial"/>
              </a:rPr>
              <a:t>Lines</a:t>
            </a:r>
            <a:endParaRPr sz="2000">
              <a:latin typeface="Arial"/>
              <a:cs typeface="Arial"/>
            </a:endParaRPr>
          </a:p>
        </p:txBody>
      </p:sp>
      <p:grpSp>
        <p:nvGrpSpPr>
          <p:cNvPr id="12" name="object 12"/>
          <p:cNvGrpSpPr/>
          <p:nvPr/>
        </p:nvGrpSpPr>
        <p:grpSpPr>
          <a:xfrm>
            <a:off x="6137909" y="3873246"/>
            <a:ext cx="2430780" cy="1074420"/>
            <a:chOff x="6137909" y="3873246"/>
            <a:chExt cx="2430780" cy="1074420"/>
          </a:xfrm>
        </p:grpSpPr>
        <p:pic>
          <p:nvPicPr>
            <p:cNvPr id="13" name="object 13"/>
            <p:cNvPicPr/>
            <p:nvPr/>
          </p:nvPicPr>
          <p:blipFill>
            <a:blip r:embed="rId6" cstate="print"/>
            <a:stretch>
              <a:fillRect/>
            </a:stretch>
          </p:blipFill>
          <p:spPr>
            <a:xfrm>
              <a:off x="6137909" y="3873246"/>
              <a:ext cx="2237231" cy="912113"/>
            </a:xfrm>
            <a:prstGeom prst="rect">
              <a:avLst/>
            </a:prstGeom>
          </p:spPr>
        </p:pic>
        <p:pic>
          <p:nvPicPr>
            <p:cNvPr id="14" name="object 14"/>
            <p:cNvPicPr/>
            <p:nvPr/>
          </p:nvPicPr>
          <p:blipFill>
            <a:blip r:embed="rId4" cstate="print"/>
            <a:stretch>
              <a:fillRect/>
            </a:stretch>
          </p:blipFill>
          <p:spPr>
            <a:xfrm>
              <a:off x="6723887" y="4091940"/>
              <a:ext cx="1844801" cy="855725"/>
            </a:xfrm>
            <a:prstGeom prst="rect">
              <a:avLst/>
            </a:prstGeom>
          </p:spPr>
        </p:pic>
      </p:grpSp>
      <p:sp>
        <p:nvSpPr>
          <p:cNvPr id="15" name="object 15"/>
          <p:cNvSpPr txBox="1"/>
          <p:nvPr/>
        </p:nvSpPr>
        <p:spPr>
          <a:xfrm>
            <a:off x="7024179" y="4197583"/>
            <a:ext cx="1243965" cy="609600"/>
          </a:xfrm>
          <a:prstGeom prst="rect">
            <a:avLst/>
          </a:prstGeom>
        </p:spPr>
        <p:txBody>
          <a:bodyPr vert="horz" wrap="square" lIns="0" tIns="42545" rIns="0" bIns="0" rtlCol="0">
            <a:spAutoFit/>
          </a:bodyPr>
          <a:lstStyle/>
          <a:p>
            <a:pPr marL="384810" marR="5080" indent="-372745">
              <a:lnSpc>
                <a:spcPts val="2200"/>
              </a:lnSpc>
              <a:spcBef>
                <a:spcPts val="335"/>
              </a:spcBef>
            </a:pPr>
            <a:r>
              <a:rPr sz="2000" b="1" spc="-10" dirty="0">
                <a:latin typeface="Arial"/>
                <a:cs typeface="Arial"/>
              </a:rPr>
              <a:t>Modifying </a:t>
            </a:r>
            <a:r>
              <a:rPr sz="2000" b="1" spc="-20" dirty="0">
                <a:latin typeface="Arial"/>
                <a:cs typeface="Arial"/>
              </a:rPr>
              <a:t>Lists</a:t>
            </a:r>
            <a:endParaRPr sz="2000">
              <a:latin typeface="Arial"/>
              <a:cs typeface="Arial"/>
            </a:endParaRPr>
          </a:p>
        </p:txBody>
      </p:sp>
      <p:grpSp>
        <p:nvGrpSpPr>
          <p:cNvPr id="16" name="object 16"/>
          <p:cNvGrpSpPr/>
          <p:nvPr/>
        </p:nvGrpSpPr>
        <p:grpSpPr>
          <a:xfrm>
            <a:off x="8602218" y="3873246"/>
            <a:ext cx="2430780" cy="1074420"/>
            <a:chOff x="8602218" y="3873246"/>
            <a:chExt cx="2430780" cy="1074420"/>
          </a:xfrm>
        </p:grpSpPr>
        <p:pic>
          <p:nvPicPr>
            <p:cNvPr id="17" name="object 17"/>
            <p:cNvPicPr/>
            <p:nvPr/>
          </p:nvPicPr>
          <p:blipFill>
            <a:blip r:embed="rId7" cstate="print"/>
            <a:stretch>
              <a:fillRect/>
            </a:stretch>
          </p:blipFill>
          <p:spPr>
            <a:xfrm>
              <a:off x="8602218" y="3873246"/>
              <a:ext cx="2237230" cy="912113"/>
            </a:xfrm>
            <a:prstGeom prst="rect">
              <a:avLst/>
            </a:prstGeom>
          </p:spPr>
        </p:pic>
        <p:pic>
          <p:nvPicPr>
            <p:cNvPr id="18" name="object 18"/>
            <p:cNvPicPr/>
            <p:nvPr/>
          </p:nvPicPr>
          <p:blipFill>
            <a:blip r:embed="rId4" cstate="print"/>
            <a:stretch>
              <a:fillRect/>
            </a:stretch>
          </p:blipFill>
          <p:spPr>
            <a:xfrm>
              <a:off x="9188196" y="4091940"/>
              <a:ext cx="1844801" cy="855725"/>
            </a:xfrm>
            <a:prstGeom prst="rect">
              <a:avLst/>
            </a:prstGeom>
          </p:spPr>
        </p:pic>
      </p:grpSp>
      <p:sp>
        <p:nvSpPr>
          <p:cNvPr id="19" name="object 19"/>
          <p:cNvSpPr txBox="1"/>
          <p:nvPr/>
        </p:nvSpPr>
        <p:spPr>
          <a:xfrm>
            <a:off x="9518060" y="4197583"/>
            <a:ext cx="1184275" cy="609600"/>
          </a:xfrm>
          <a:prstGeom prst="rect">
            <a:avLst/>
          </a:prstGeom>
        </p:spPr>
        <p:txBody>
          <a:bodyPr vert="horz" wrap="square" lIns="0" tIns="42545" rIns="0" bIns="0" rtlCol="0">
            <a:spAutoFit/>
          </a:bodyPr>
          <a:lstStyle/>
          <a:p>
            <a:pPr marL="388620" marR="5080" indent="-376555">
              <a:lnSpc>
                <a:spcPts val="2200"/>
              </a:lnSpc>
              <a:spcBef>
                <a:spcPts val="335"/>
              </a:spcBef>
            </a:pPr>
            <a:r>
              <a:rPr sz="2000" b="1" dirty="0">
                <a:latin typeface="Arial"/>
                <a:cs typeface="Arial"/>
              </a:rPr>
              <a:t>Close </a:t>
            </a:r>
            <a:r>
              <a:rPr sz="2000" b="1" spc="-25" dirty="0">
                <a:latin typeface="Arial"/>
                <a:cs typeface="Arial"/>
              </a:rPr>
              <a:t>the </a:t>
            </a:r>
            <a:r>
              <a:rPr sz="2000" b="1" spc="-20" dirty="0">
                <a:latin typeface="Arial"/>
                <a:cs typeface="Arial"/>
              </a:rPr>
              <a:t>File</a:t>
            </a:r>
            <a:endParaRPr sz="2000">
              <a:latin typeface="Arial"/>
              <a:cs typeface="Arial"/>
            </a:endParaRPr>
          </a:p>
        </p:txBody>
      </p:sp>
      <p:sp>
        <p:nvSpPr>
          <p:cNvPr id="20" name="object 20"/>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8</a:t>
            </a:fld>
            <a:endParaRPr spc="-25" dirty="0"/>
          </a:p>
        </p:txBody>
      </p:sp>
      <p:sp>
        <p:nvSpPr>
          <p:cNvPr id="21" name="object 21"/>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22" name="object 22"/>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75" dirty="0"/>
              <a:t>Writing</a:t>
            </a:r>
            <a:r>
              <a:rPr spc="-105" dirty="0"/>
              <a:t> </a:t>
            </a:r>
            <a:r>
              <a:rPr spc="-229" dirty="0"/>
              <a:t>Text</a:t>
            </a:r>
            <a:r>
              <a:rPr spc="-105" dirty="0"/>
              <a:t> </a:t>
            </a:r>
            <a:r>
              <a:rPr spc="-290" dirty="0"/>
              <a:t>Files</a:t>
            </a:r>
            <a:r>
              <a:rPr spc="-110" dirty="0"/>
              <a:t> </a:t>
            </a:r>
            <a:r>
              <a:rPr spc="70" dirty="0"/>
              <a:t>[1-</a:t>
            </a:r>
            <a:r>
              <a:rPr spc="-25" dirty="0"/>
              <a:t>3]</a:t>
            </a:r>
          </a:p>
        </p:txBody>
      </p:sp>
      <p:sp>
        <p:nvSpPr>
          <p:cNvPr id="3" name="object 3"/>
          <p:cNvSpPr txBox="1"/>
          <p:nvPr/>
        </p:nvSpPr>
        <p:spPr>
          <a:xfrm>
            <a:off x="1084580" y="1845225"/>
            <a:ext cx="2945130" cy="452755"/>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404040"/>
                </a:solidFill>
                <a:latin typeface="Courier New"/>
                <a:cs typeface="Courier New"/>
              </a:rPr>
              <a:t>write()</a:t>
            </a:r>
            <a:r>
              <a:rPr sz="2800" b="1" spc="-880" dirty="0">
                <a:solidFill>
                  <a:srgbClr val="404040"/>
                </a:solidFill>
                <a:latin typeface="Courier New"/>
                <a:cs typeface="Courier New"/>
              </a:rPr>
              <a:t> </a:t>
            </a:r>
            <a:r>
              <a:rPr sz="2800" b="1" spc="60" dirty="0">
                <a:solidFill>
                  <a:srgbClr val="404040"/>
                </a:solidFill>
                <a:latin typeface="Arial"/>
                <a:cs typeface="Arial"/>
              </a:rPr>
              <a:t>Method</a:t>
            </a:r>
            <a:endParaRPr sz="2800">
              <a:latin typeface="Arial"/>
              <a:cs typeface="Arial"/>
            </a:endParaRPr>
          </a:p>
        </p:txBody>
      </p:sp>
      <p:grpSp>
        <p:nvGrpSpPr>
          <p:cNvPr id="4" name="object 4"/>
          <p:cNvGrpSpPr/>
          <p:nvPr/>
        </p:nvGrpSpPr>
        <p:grpSpPr>
          <a:xfrm>
            <a:off x="1085850" y="2161032"/>
            <a:ext cx="10205720" cy="3975100"/>
            <a:chOff x="1085850" y="2161032"/>
            <a:chExt cx="10205720" cy="3975100"/>
          </a:xfrm>
        </p:grpSpPr>
        <p:pic>
          <p:nvPicPr>
            <p:cNvPr id="5" name="object 5"/>
            <p:cNvPicPr/>
            <p:nvPr/>
          </p:nvPicPr>
          <p:blipFill>
            <a:blip r:embed="rId3" cstate="print"/>
            <a:stretch>
              <a:fillRect/>
            </a:stretch>
          </p:blipFill>
          <p:spPr>
            <a:xfrm>
              <a:off x="7316723" y="2161032"/>
              <a:ext cx="3974591" cy="3974591"/>
            </a:xfrm>
            <a:prstGeom prst="rect">
              <a:avLst/>
            </a:prstGeom>
          </p:spPr>
        </p:pic>
        <p:pic>
          <p:nvPicPr>
            <p:cNvPr id="6" name="object 6"/>
            <p:cNvPicPr/>
            <p:nvPr/>
          </p:nvPicPr>
          <p:blipFill>
            <a:blip r:embed="rId4" cstate="print"/>
            <a:stretch>
              <a:fillRect/>
            </a:stretch>
          </p:blipFill>
          <p:spPr>
            <a:xfrm>
              <a:off x="1085850" y="3435096"/>
              <a:ext cx="6342125" cy="829817"/>
            </a:xfrm>
            <a:prstGeom prst="rect">
              <a:avLst/>
            </a:prstGeom>
          </p:spPr>
        </p:pic>
        <p:pic>
          <p:nvPicPr>
            <p:cNvPr id="7" name="object 7"/>
            <p:cNvPicPr/>
            <p:nvPr/>
          </p:nvPicPr>
          <p:blipFill>
            <a:blip r:embed="rId5" cstate="print"/>
            <a:stretch>
              <a:fillRect/>
            </a:stretch>
          </p:blipFill>
          <p:spPr>
            <a:xfrm>
              <a:off x="1391411" y="2951988"/>
              <a:ext cx="5649467" cy="1024889"/>
            </a:xfrm>
            <a:prstGeom prst="rect">
              <a:avLst/>
            </a:prstGeom>
          </p:spPr>
        </p:pic>
        <p:pic>
          <p:nvPicPr>
            <p:cNvPr id="8" name="object 8"/>
            <p:cNvPicPr/>
            <p:nvPr/>
          </p:nvPicPr>
          <p:blipFill>
            <a:blip r:embed="rId4" cstate="print"/>
            <a:stretch>
              <a:fillRect/>
            </a:stretch>
          </p:blipFill>
          <p:spPr>
            <a:xfrm>
              <a:off x="1085850" y="4886706"/>
              <a:ext cx="6342125" cy="829055"/>
            </a:xfrm>
            <a:prstGeom prst="rect">
              <a:avLst/>
            </a:prstGeom>
          </p:spPr>
        </p:pic>
        <p:pic>
          <p:nvPicPr>
            <p:cNvPr id="9" name="object 9"/>
            <p:cNvPicPr/>
            <p:nvPr/>
          </p:nvPicPr>
          <p:blipFill>
            <a:blip r:embed="rId6" cstate="print"/>
            <a:stretch>
              <a:fillRect/>
            </a:stretch>
          </p:blipFill>
          <p:spPr>
            <a:xfrm>
              <a:off x="1391411" y="4347210"/>
              <a:ext cx="5649467" cy="1184147"/>
            </a:xfrm>
            <a:prstGeom prst="rect">
              <a:avLst/>
            </a:prstGeom>
          </p:spPr>
        </p:pic>
      </p:grpSp>
      <p:sp>
        <p:nvSpPr>
          <p:cNvPr id="10" name="object 10"/>
          <p:cNvSpPr txBox="1"/>
          <p:nvPr/>
        </p:nvSpPr>
        <p:spPr>
          <a:xfrm>
            <a:off x="1613620" y="3114868"/>
            <a:ext cx="5170170" cy="2211705"/>
          </a:xfrm>
          <a:prstGeom prst="rect">
            <a:avLst/>
          </a:prstGeom>
        </p:spPr>
        <p:txBody>
          <a:bodyPr vert="horz" wrap="square" lIns="0" tIns="27305" rIns="0" bIns="0" rtlCol="0">
            <a:spAutoFit/>
          </a:bodyPr>
          <a:lstStyle/>
          <a:p>
            <a:pPr marL="12700" marR="5080" algn="just">
              <a:lnSpc>
                <a:spcPts val="2350"/>
              </a:lnSpc>
              <a:spcBef>
                <a:spcPts val="215"/>
              </a:spcBef>
            </a:pPr>
            <a:r>
              <a:rPr sz="2000" dirty="0">
                <a:solidFill>
                  <a:srgbClr val="FFFFFF"/>
                </a:solidFill>
                <a:latin typeface="Arial MT"/>
                <a:cs typeface="Arial MT"/>
              </a:rPr>
              <a:t>The</a:t>
            </a:r>
            <a:r>
              <a:rPr sz="2000" spc="75" dirty="0">
                <a:solidFill>
                  <a:srgbClr val="FFFFFF"/>
                </a:solidFill>
                <a:latin typeface="Arial MT"/>
                <a:cs typeface="Arial MT"/>
              </a:rPr>
              <a:t>  </a:t>
            </a:r>
            <a:r>
              <a:rPr sz="2000" dirty="0">
                <a:solidFill>
                  <a:srgbClr val="FFFFFF"/>
                </a:solidFill>
                <a:latin typeface="Courier New"/>
                <a:cs typeface="Courier New"/>
              </a:rPr>
              <a:t>write()</a:t>
            </a:r>
            <a:r>
              <a:rPr sz="2000" spc="65" dirty="0">
                <a:solidFill>
                  <a:srgbClr val="FFFFFF"/>
                </a:solidFill>
                <a:latin typeface="Courier New"/>
                <a:cs typeface="Courier New"/>
              </a:rPr>
              <a:t> </a:t>
            </a:r>
            <a:r>
              <a:rPr sz="2000" spc="170" dirty="0">
                <a:solidFill>
                  <a:srgbClr val="FFFFFF"/>
                </a:solidFill>
                <a:latin typeface="Arial MT"/>
                <a:cs typeface="Arial MT"/>
              </a:rPr>
              <a:t>method</a:t>
            </a:r>
            <a:r>
              <a:rPr sz="2000" spc="80" dirty="0">
                <a:solidFill>
                  <a:srgbClr val="FFFFFF"/>
                </a:solidFill>
                <a:latin typeface="Arial MT"/>
                <a:cs typeface="Arial MT"/>
              </a:rPr>
              <a:t>  </a:t>
            </a:r>
            <a:r>
              <a:rPr sz="2000" dirty="0">
                <a:solidFill>
                  <a:srgbClr val="FFFFFF"/>
                </a:solidFill>
                <a:latin typeface="Arial MT"/>
                <a:cs typeface="Arial MT"/>
              </a:rPr>
              <a:t>allows</a:t>
            </a:r>
            <a:r>
              <a:rPr sz="2000" spc="80" dirty="0">
                <a:solidFill>
                  <a:srgbClr val="FFFFFF"/>
                </a:solidFill>
                <a:latin typeface="Arial MT"/>
                <a:cs typeface="Arial MT"/>
              </a:rPr>
              <a:t>  </a:t>
            </a:r>
            <a:r>
              <a:rPr sz="2000" spc="65" dirty="0">
                <a:solidFill>
                  <a:srgbClr val="FFFFFF"/>
                </a:solidFill>
                <a:latin typeface="Arial MT"/>
                <a:cs typeface="Arial MT"/>
              </a:rPr>
              <a:t>for</a:t>
            </a:r>
            <a:r>
              <a:rPr sz="2000" spc="75" dirty="0">
                <a:solidFill>
                  <a:srgbClr val="FFFFFF"/>
                </a:solidFill>
                <a:latin typeface="Arial MT"/>
                <a:cs typeface="Arial MT"/>
              </a:rPr>
              <a:t>  </a:t>
            </a:r>
            <a:r>
              <a:rPr sz="2000" spc="55" dirty="0">
                <a:solidFill>
                  <a:srgbClr val="FFFFFF"/>
                </a:solidFill>
                <a:latin typeface="Arial MT"/>
                <a:cs typeface="Arial MT"/>
              </a:rPr>
              <a:t>writing </a:t>
            </a:r>
            <a:r>
              <a:rPr sz="2000" spc="155" dirty="0">
                <a:solidFill>
                  <a:srgbClr val="FFFFFF"/>
                </a:solidFill>
                <a:latin typeface="Arial MT"/>
                <a:cs typeface="Arial MT"/>
              </a:rPr>
              <a:t>content</a:t>
            </a:r>
            <a:r>
              <a:rPr sz="2000" spc="15" dirty="0">
                <a:solidFill>
                  <a:srgbClr val="FFFFFF"/>
                </a:solidFill>
                <a:latin typeface="Arial MT"/>
                <a:cs typeface="Arial MT"/>
              </a:rPr>
              <a:t> </a:t>
            </a:r>
            <a:r>
              <a:rPr sz="2000" spc="155" dirty="0">
                <a:solidFill>
                  <a:srgbClr val="FFFFFF"/>
                </a:solidFill>
                <a:latin typeface="Arial MT"/>
                <a:cs typeface="Arial MT"/>
              </a:rPr>
              <a:t>to</a:t>
            </a:r>
            <a:r>
              <a:rPr sz="2000" spc="10" dirty="0">
                <a:solidFill>
                  <a:srgbClr val="FFFFFF"/>
                </a:solidFill>
                <a:latin typeface="Arial MT"/>
                <a:cs typeface="Arial MT"/>
              </a:rPr>
              <a:t> </a:t>
            </a:r>
            <a:r>
              <a:rPr sz="2000" spc="240" dirty="0">
                <a:solidFill>
                  <a:srgbClr val="FFFFFF"/>
                </a:solidFill>
                <a:latin typeface="Arial MT"/>
                <a:cs typeface="Arial MT"/>
              </a:rPr>
              <a:t>a</a:t>
            </a:r>
            <a:r>
              <a:rPr sz="2000" spc="5" dirty="0">
                <a:solidFill>
                  <a:srgbClr val="FFFFFF"/>
                </a:solidFill>
                <a:latin typeface="Arial MT"/>
                <a:cs typeface="Arial MT"/>
              </a:rPr>
              <a:t> </a:t>
            </a:r>
            <a:r>
              <a:rPr sz="2000" spc="90" dirty="0">
                <a:solidFill>
                  <a:srgbClr val="FFFFFF"/>
                </a:solidFill>
                <a:latin typeface="Arial MT"/>
                <a:cs typeface="Arial MT"/>
              </a:rPr>
              <a:t>text</a:t>
            </a:r>
            <a:r>
              <a:rPr sz="2000" spc="5" dirty="0">
                <a:solidFill>
                  <a:srgbClr val="FFFFFF"/>
                </a:solidFill>
                <a:latin typeface="Arial MT"/>
                <a:cs typeface="Arial MT"/>
              </a:rPr>
              <a:t> </a:t>
            </a:r>
            <a:r>
              <a:rPr sz="2000" spc="-20" dirty="0">
                <a:solidFill>
                  <a:srgbClr val="FFFFFF"/>
                </a:solidFill>
                <a:latin typeface="Arial MT"/>
                <a:cs typeface="Arial MT"/>
              </a:rPr>
              <a:t>file.</a:t>
            </a:r>
            <a:endParaRPr sz="2000">
              <a:latin typeface="Arial MT"/>
              <a:cs typeface="Arial MT"/>
            </a:endParaRPr>
          </a:p>
          <a:p>
            <a:pPr>
              <a:lnSpc>
                <a:spcPct val="100000"/>
              </a:lnSpc>
            </a:pPr>
            <a:endParaRPr sz="2000">
              <a:latin typeface="Arial MT"/>
              <a:cs typeface="Arial MT"/>
            </a:endParaRPr>
          </a:p>
          <a:p>
            <a:pPr>
              <a:lnSpc>
                <a:spcPct val="100000"/>
              </a:lnSpc>
              <a:spcBef>
                <a:spcPts val="1180"/>
              </a:spcBef>
            </a:pPr>
            <a:endParaRPr sz="2000">
              <a:latin typeface="Arial MT"/>
              <a:cs typeface="Arial MT"/>
            </a:endParaRPr>
          </a:p>
          <a:p>
            <a:pPr marL="12700" marR="5080" algn="just">
              <a:lnSpc>
                <a:spcPct val="91900"/>
              </a:lnSpc>
            </a:pPr>
            <a:r>
              <a:rPr sz="2000" dirty="0">
                <a:solidFill>
                  <a:srgbClr val="FFFFFF"/>
                </a:solidFill>
                <a:latin typeface="Arial MT"/>
                <a:cs typeface="Arial MT"/>
              </a:rPr>
              <a:t>This</a:t>
            </a:r>
            <a:r>
              <a:rPr sz="2000" spc="484" dirty="0">
                <a:solidFill>
                  <a:srgbClr val="FFFFFF"/>
                </a:solidFill>
                <a:latin typeface="Arial MT"/>
                <a:cs typeface="Arial MT"/>
              </a:rPr>
              <a:t> </a:t>
            </a:r>
            <a:r>
              <a:rPr sz="2000" spc="170" dirty="0">
                <a:solidFill>
                  <a:srgbClr val="FFFFFF"/>
                </a:solidFill>
                <a:latin typeface="Arial MT"/>
                <a:cs typeface="Arial MT"/>
              </a:rPr>
              <a:t>method</a:t>
            </a:r>
            <a:r>
              <a:rPr sz="2000" spc="480" dirty="0">
                <a:solidFill>
                  <a:srgbClr val="FFFFFF"/>
                </a:solidFill>
                <a:latin typeface="Arial MT"/>
                <a:cs typeface="Arial MT"/>
              </a:rPr>
              <a:t> </a:t>
            </a:r>
            <a:r>
              <a:rPr sz="2000" dirty="0">
                <a:solidFill>
                  <a:srgbClr val="FFFFFF"/>
                </a:solidFill>
                <a:latin typeface="Arial MT"/>
                <a:cs typeface="Arial MT"/>
              </a:rPr>
              <a:t>forms</a:t>
            </a:r>
            <a:r>
              <a:rPr sz="2000" spc="490" dirty="0">
                <a:solidFill>
                  <a:srgbClr val="FFFFFF"/>
                </a:solidFill>
                <a:latin typeface="Arial MT"/>
                <a:cs typeface="Arial MT"/>
              </a:rPr>
              <a:t> </a:t>
            </a:r>
            <a:r>
              <a:rPr sz="2000" spc="135" dirty="0">
                <a:solidFill>
                  <a:srgbClr val="FFFFFF"/>
                </a:solidFill>
                <a:latin typeface="Arial MT"/>
                <a:cs typeface="Arial MT"/>
              </a:rPr>
              <a:t>the</a:t>
            </a:r>
            <a:r>
              <a:rPr sz="2000" spc="484" dirty="0">
                <a:solidFill>
                  <a:srgbClr val="FFFFFF"/>
                </a:solidFill>
                <a:latin typeface="Arial MT"/>
                <a:cs typeface="Arial MT"/>
              </a:rPr>
              <a:t> </a:t>
            </a:r>
            <a:r>
              <a:rPr sz="2000" spc="145" dirty="0">
                <a:solidFill>
                  <a:srgbClr val="FFFFFF"/>
                </a:solidFill>
                <a:latin typeface="Arial MT"/>
                <a:cs typeface="Arial MT"/>
              </a:rPr>
              <a:t>core</a:t>
            </a:r>
            <a:r>
              <a:rPr sz="2000" spc="484" dirty="0">
                <a:solidFill>
                  <a:srgbClr val="FFFFFF"/>
                </a:solidFill>
                <a:latin typeface="Arial MT"/>
                <a:cs typeface="Arial MT"/>
              </a:rPr>
              <a:t> </a:t>
            </a:r>
            <a:r>
              <a:rPr sz="2000" spc="50" dirty="0">
                <a:solidFill>
                  <a:srgbClr val="FFFFFF"/>
                </a:solidFill>
                <a:latin typeface="Arial MT"/>
                <a:cs typeface="Arial MT"/>
              </a:rPr>
              <a:t>process</a:t>
            </a:r>
            <a:r>
              <a:rPr sz="2000" spc="490" dirty="0">
                <a:solidFill>
                  <a:srgbClr val="FFFFFF"/>
                </a:solidFill>
                <a:latin typeface="Arial MT"/>
                <a:cs typeface="Arial MT"/>
              </a:rPr>
              <a:t> </a:t>
            </a:r>
            <a:r>
              <a:rPr sz="2000" spc="40" dirty="0">
                <a:solidFill>
                  <a:srgbClr val="FFFFFF"/>
                </a:solidFill>
                <a:latin typeface="Arial MT"/>
                <a:cs typeface="Arial MT"/>
              </a:rPr>
              <a:t>for </a:t>
            </a:r>
            <a:r>
              <a:rPr sz="2000" spc="110" dirty="0">
                <a:solidFill>
                  <a:srgbClr val="FFFFFF"/>
                </a:solidFill>
                <a:latin typeface="Arial MT"/>
                <a:cs typeface="Arial MT"/>
              </a:rPr>
              <a:t>creating,</a:t>
            </a:r>
            <a:r>
              <a:rPr sz="2000" spc="85" dirty="0">
                <a:solidFill>
                  <a:srgbClr val="FFFFFF"/>
                </a:solidFill>
                <a:latin typeface="Arial MT"/>
                <a:cs typeface="Arial MT"/>
              </a:rPr>
              <a:t>  </a:t>
            </a:r>
            <a:r>
              <a:rPr sz="2000" spc="100" dirty="0">
                <a:solidFill>
                  <a:srgbClr val="FFFFFF"/>
                </a:solidFill>
                <a:latin typeface="Arial MT"/>
                <a:cs typeface="Arial MT"/>
              </a:rPr>
              <a:t>modifying,</a:t>
            </a:r>
            <a:r>
              <a:rPr sz="2000" spc="85" dirty="0">
                <a:solidFill>
                  <a:srgbClr val="FFFFFF"/>
                </a:solidFill>
                <a:latin typeface="Arial MT"/>
                <a:cs typeface="Arial MT"/>
              </a:rPr>
              <a:t>  </a:t>
            </a:r>
            <a:r>
              <a:rPr sz="2000" spc="60" dirty="0">
                <a:solidFill>
                  <a:srgbClr val="FFFFFF"/>
                </a:solidFill>
                <a:latin typeface="Arial MT"/>
                <a:cs typeface="Arial MT"/>
              </a:rPr>
              <a:t>or</a:t>
            </a:r>
            <a:r>
              <a:rPr sz="2000" spc="80" dirty="0">
                <a:solidFill>
                  <a:srgbClr val="FFFFFF"/>
                </a:solidFill>
                <a:latin typeface="Arial MT"/>
                <a:cs typeface="Arial MT"/>
              </a:rPr>
              <a:t>  </a:t>
            </a:r>
            <a:r>
              <a:rPr sz="2000" spc="114" dirty="0">
                <a:solidFill>
                  <a:srgbClr val="FFFFFF"/>
                </a:solidFill>
                <a:latin typeface="Arial MT"/>
                <a:cs typeface="Arial MT"/>
              </a:rPr>
              <a:t>extending</a:t>
            </a:r>
            <a:r>
              <a:rPr sz="2000" spc="85" dirty="0">
                <a:solidFill>
                  <a:srgbClr val="FFFFFF"/>
                </a:solidFill>
                <a:latin typeface="Arial MT"/>
                <a:cs typeface="Arial MT"/>
              </a:rPr>
              <a:t>  </a:t>
            </a:r>
            <a:r>
              <a:rPr sz="2000" spc="195" dirty="0">
                <a:solidFill>
                  <a:srgbClr val="FFFFFF"/>
                </a:solidFill>
                <a:latin typeface="Arial MT"/>
                <a:cs typeface="Arial MT"/>
              </a:rPr>
              <a:t>data </a:t>
            </a:r>
            <a:r>
              <a:rPr sz="2000" spc="65" dirty="0">
                <a:solidFill>
                  <a:srgbClr val="FFFFFF"/>
                </a:solidFill>
                <a:latin typeface="Arial MT"/>
                <a:cs typeface="Arial MT"/>
              </a:rPr>
              <a:t>within</a:t>
            </a:r>
            <a:r>
              <a:rPr sz="2000" spc="10" dirty="0">
                <a:solidFill>
                  <a:srgbClr val="FFFFFF"/>
                </a:solidFill>
                <a:latin typeface="Arial MT"/>
                <a:cs typeface="Arial MT"/>
              </a:rPr>
              <a:t> </a:t>
            </a:r>
            <a:r>
              <a:rPr sz="2000" spc="240" dirty="0">
                <a:solidFill>
                  <a:srgbClr val="FFFFFF"/>
                </a:solidFill>
                <a:latin typeface="Arial MT"/>
                <a:cs typeface="Arial MT"/>
              </a:rPr>
              <a:t>a</a:t>
            </a:r>
            <a:r>
              <a:rPr sz="2000" spc="10" dirty="0">
                <a:solidFill>
                  <a:srgbClr val="FFFFFF"/>
                </a:solidFill>
                <a:latin typeface="Arial MT"/>
                <a:cs typeface="Arial MT"/>
              </a:rPr>
              <a:t> </a:t>
            </a:r>
            <a:r>
              <a:rPr sz="2000" spc="-20" dirty="0">
                <a:solidFill>
                  <a:srgbClr val="FFFFFF"/>
                </a:solidFill>
                <a:latin typeface="Arial MT"/>
                <a:cs typeface="Arial MT"/>
              </a:rPr>
              <a:t>file.</a:t>
            </a:r>
            <a:endParaRPr sz="2000">
              <a:latin typeface="Arial MT"/>
              <a:cs typeface="Arial MT"/>
            </a:endParaRPr>
          </a:p>
        </p:txBody>
      </p:sp>
      <p:sp>
        <p:nvSpPr>
          <p:cNvPr id="11" name="object 11"/>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9</a:t>
            </a:fld>
            <a:endParaRPr spc="-25" dirty="0"/>
          </a:p>
        </p:txBody>
      </p:sp>
      <p:sp>
        <p:nvSpPr>
          <p:cNvPr id="12" name="object 12"/>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3" name="object 13"/>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75" dirty="0"/>
              <a:t>Writing</a:t>
            </a:r>
            <a:r>
              <a:rPr spc="-105" dirty="0"/>
              <a:t> </a:t>
            </a:r>
            <a:r>
              <a:rPr spc="-229" dirty="0"/>
              <a:t>Text</a:t>
            </a:r>
            <a:r>
              <a:rPr spc="-105" dirty="0"/>
              <a:t> </a:t>
            </a:r>
            <a:r>
              <a:rPr spc="-290" dirty="0"/>
              <a:t>Files</a:t>
            </a:r>
            <a:r>
              <a:rPr spc="-110" dirty="0"/>
              <a:t> </a:t>
            </a:r>
            <a:r>
              <a:rPr spc="70" dirty="0"/>
              <a:t>[2-</a:t>
            </a:r>
            <a:r>
              <a:rPr spc="-25" dirty="0"/>
              <a:t>3]</a:t>
            </a:r>
          </a:p>
        </p:txBody>
      </p:sp>
      <p:sp>
        <p:nvSpPr>
          <p:cNvPr id="3" name="object 3"/>
          <p:cNvSpPr txBox="1"/>
          <p:nvPr/>
        </p:nvSpPr>
        <p:spPr>
          <a:xfrm>
            <a:off x="1084580" y="1845225"/>
            <a:ext cx="4008754" cy="452755"/>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404040"/>
                </a:solidFill>
                <a:latin typeface="Courier New"/>
                <a:cs typeface="Courier New"/>
              </a:rPr>
              <a:t>writelines()</a:t>
            </a:r>
            <a:r>
              <a:rPr sz="2800" b="1" spc="-869" dirty="0">
                <a:solidFill>
                  <a:srgbClr val="404040"/>
                </a:solidFill>
                <a:latin typeface="Courier New"/>
                <a:cs typeface="Courier New"/>
              </a:rPr>
              <a:t> </a:t>
            </a:r>
            <a:r>
              <a:rPr sz="2800" b="1" spc="60" dirty="0">
                <a:solidFill>
                  <a:srgbClr val="404040"/>
                </a:solidFill>
                <a:latin typeface="Arial"/>
                <a:cs typeface="Arial"/>
              </a:rPr>
              <a:t>Method</a:t>
            </a:r>
            <a:endParaRPr sz="2800">
              <a:latin typeface="Arial"/>
              <a:cs typeface="Arial"/>
            </a:endParaRPr>
          </a:p>
        </p:txBody>
      </p:sp>
      <p:grpSp>
        <p:nvGrpSpPr>
          <p:cNvPr id="4" name="object 4"/>
          <p:cNvGrpSpPr/>
          <p:nvPr/>
        </p:nvGrpSpPr>
        <p:grpSpPr>
          <a:xfrm>
            <a:off x="1216977" y="2817944"/>
            <a:ext cx="9820275" cy="1374775"/>
            <a:chOff x="1216977" y="2817944"/>
            <a:chExt cx="9820275" cy="1374775"/>
          </a:xfrm>
        </p:grpSpPr>
        <p:sp>
          <p:nvSpPr>
            <p:cNvPr id="5" name="object 5"/>
            <p:cNvSpPr/>
            <p:nvPr/>
          </p:nvSpPr>
          <p:spPr>
            <a:xfrm>
              <a:off x="1224914" y="3328035"/>
              <a:ext cx="9804400" cy="856615"/>
            </a:xfrm>
            <a:custGeom>
              <a:avLst/>
              <a:gdLst/>
              <a:ahLst/>
              <a:cxnLst/>
              <a:rect l="l" t="t" r="r" b="b"/>
              <a:pathLst>
                <a:path w="9804400" h="856614">
                  <a:moveTo>
                    <a:pt x="0" y="0"/>
                  </a:moveTo>
                  <a:lnTo>
                    <a:pt x="9803892" y="0"/>
                  </a:lnTo>
                  <a:lnTo>
                    <a:pt x="9803892" y="856488"/>
                  </a:lnTo>
                  <a:lnTo>
                    <a:pt x="0" y="856488"/>
                  </a:lnTo>
                  <a:lnTo>
                    <a:pt x="0" y="0"/>
                  </a:lnTo>
                  <a:close/>
                </a:path>
              </a:pathLst>
            </a:custGeom>
            <a:ln w="15875">
              <a:solidFill>
                <a:srgbClr val="BC572C"/>
              </a:solidFill>
            </a:ln>
          </p:spPr>
          <p:txBody>
            <a:bodyPr wrap="square" lIns="0" tIns="0" rIns="0" bIns="0" rtlCol="0"/>
            <a:lstStyle/>
            <a:p>
              <a:endParaRPr/>
            </a:p>
          </p:txBody>
        </p:sp>
        <p:sp>
          <p:nvSpPr>
            <p:cNvPr id="6" name="object 6"/>
            <p:cNvSpPr/>
            <p:nvPr/>
          </p:nvSpPr>
          <p:spPr>
            <a:xfrm>
              <a:off x="1692020" y="2825882"/>
              <a:ext cx="9334500" cy="1003935"/>
            </a:xfrm>
            <a:custGeom>
              <a:avLst/>
              <a:gdLst/>
              <a:ahLst/>
              <a:cxnLst/>
              <a:rect l="l" t="t" r="r" b="b"/>
              <a:pathLst>
                <a:path w="9334500" h="1003935">
                  <a:moveTo>
                    <a:pt x="9167241" y="0"/>
                  </a:moveTo>
                  <a:lnTo>
                    <a:pt x="167259" y="0"/>
                  </a:lnTo>
                  <a:lnTo>
                    <a:pt x="122797" y="5974"/>
                  </a:lnTo>
                  <a:lnTo>
                    <a:pt x="82843" y="22834"/>
                  </a:lnTo>
                  <a:lnTo>
                    <a:pt x="48991" y="48987"/>
                  </a:lnTo>
                  <a:lnTo>
                    <a:pt x="22837" y="82837"/>
                  </a:lnTo>
                  <a:lnTo>
                    <a:pt x="5975" y="122793"/>
                  </a:lnTo>
                  <a:lnTo>
                    <a:pt x="0" y="167259"/>
                  </a:lnTo>
                  <a:lnTo>
                    <a:pt x="0" y="836282"/>
                  </a:lnTo>
                  <a:lnTo>
                    <a:pt x="5975" y="880749"/>
                  </a:lnTo>
                  <a:lnTo>
                    <a:pt x="22837" y="920706"/>
                  </a:lnTo>
                  <a:lnTo>
                    <a:pt x="48991" y="954560"/>
                  </a:lnTo>
                  <a:lnTo>
                    <a:pt x="82843" y="980716"/>
                  </a:lnTo>
                  <a:lnTo>
                    <a:pt x="122797" y="997578"/>
                  </a:lnTo>
                  <a:lnTo>
                    <a:pt x="167259" y="1003554"/>
                  </a:lnTo>
                  <a:lnTo>
                    <a:pt x="9167241" y="1003554"/>
                  </a:lnTo>
                  <a:lnTo>
                    <a:pt x="9211702" y="997578"/>
                  </a:lnTo>
                  <a:lnTo>
                    <a:pt x="9251656" y="980716"/>
                  </a:lnTo>
                  <a:lnTo>
                    <a:pt x="9285508" y="954560"/>
                  </a:lnTo>
                  <a:lnTo>
                    <a:pt x="9311662" y="920706"/>
                  </a:lnTo>
                  <a:lnTo>
                    <a:pt x="9328524" y="880749"/>
                  </a:lnTo>
                  <a:lnTo>
                    <a:pt x="9334500" y="836282"/>
                  </a:lnTo>
                  <a:lnTo>
                    <a:pt x="9334500" y="167259"/>
                  </a:lnTo>
                  <a:lnTo>
                    <a:pt x="9328524" y="122793"/>
                  </a:lnTo>
                  <a:lnTo>
                    <a:pt x="9311662" y="82837"/>
                  </a:lnTo>
                  <a:lnTo>
                    <a:pt x="9285508" y="48987"/>
                  </a:lnTo>
                  <a:lnTo>
                    <a:pt x="9251656" y="22834"/>
                  </a:lnTo>
                  <a:lnTo>
                    <a:pt x="9211702" y="5974"/>
                  </a:lnTo>
                  <a:lnTo>
                    <a:pt x="9167241" y="0"/>
                  </a:lnTo>
                  <a:close/>
                </a:path>
              </a:pathLst>
            </a:custGeom>
            <a:solidFill>
              <a:srgbClr val="BC572C"/>
            </a:solidFill>
          </p:spPr>
          <p:txBody>
            <a:bodyPr wrap="square" lIns="0" tIns="0" rIns="0" bIns="0" rtlCol="0"/>
            <a:lstStyle/>
            <a:p>
              <a:endParaRPr/>
            </a:p>
          </p:txBody>
        </p:sp>
        <p:sp>
          <p:nvSpPr>
            <p:cNvPr id="7" name="object 7"/>
            <p:cNvSpPr/>
            <p:nvPr/>
          </p:nvSpPr>
          <p:spPr>
            <a:xfrm>
              <a:off x="1692020" y="2825882"/>
              <a:ext cx="9334500" cy="1003935"/>
            </a:xfrm>
            <a:custGeom>
              <a:avLst/>
              <a:gdLst/>
              <a:ahLst/>
              <a:cxnLst/>
              <a:rect l="l" t="t" r="r" b="b"/>
              <a:pathLst>
                <a:path w="9334500" h="1003935">
                  <a:moveTo>
                    <a:pt x="0" y="167259"/>
                  </a:moveTo>
                  <a:lnTo>
                    <a:pt x="5975" y="122793"/>
                  </a:lnTo>
                  <a:lnTo>
                    <a:pt x="22837" y="82837"/>
                  </a:lnTo>
                  <a:lnTo>
                    <a:pt x="48991" y="48987"/>
                  </a:lnTo>
                  <a:lnTo>
                    <a:pt x="82843" y="22834"/>
                  </a:lnTo>
                  <a:lnTo>
                    <a:pt x="122797" y="5974"/>
                  </a:lnTo>
                  <a:lnTo>
                    <a:pt x="167259" y="0"/>
                  </a:lnTo>
                  <a:lnTo>
                    <a:pt x="9167241" y="0"/>
                  </a:lnTo>
                  <a:lnTo>
                    <a:pt x="9211702" y="5974"/>
                  </a:lnTo>
                  <a:lnTo>
                    <a:pt x="9251656" y="22834"/>
                  </a:lnTo>
                  <a:lnTo>
                    <a:pt x="9285508" y="48987"/>
                  </a:lnTo>
                  <a:lnTo>
                    <a:pt x="9311662" y="82837"/>
                  </a:lnTo>
                  <a:lnTo>
                    <a:pt x="9328524" y="122793"/>
                  </a:lnTo>
                  <a:lnTo>
                    <a:pt x="9334500" y="167259"/>
                  </a:lnTo>
                  <a:lnTo>
                    <a:pt x="9334500" y="836282"/>
                  </a:lnTo>
                  <a:lnTo>
                    <a:pt x="9328524" y="880749"/>
                  </a:lnTo>
                  <a:lnTo>
                    <a:pt x="9311662" y="920706"/>
                  </a:lnTo>
                  <a:lnTo>
                    <a:pt x="9285508" y="954560"/>
                  </a:lnTo>
                  <a:lnTo>
                    <a:pt x="9251656" y="980716"/>
                  </a:lnTo>
                  <a:lnTo>
                    <a:pt x="9211702" y="997578"/>
                  </a:lnTo>
                  <a:lnTo>
                    <a:pt x="9167241" y="1003554"/>
                  </a:lnTo>
                  <a:lnTo>
                    <a:pt x="167259" y="1003554"/>
                  </a:lnTo>
                  <a:lnTo>
                    <a:pt x="122797" y="997578"/>
                  </a:lnTo>
                  <a:lnTo>
                    <a:pt x="82843" y="980716"/>
                  </a:lnTo>
                  <a:lnTo>
                    <a:pt x="48991" y="954560"/>
                  </a:lnTo>
                  <a:lnTo>
                    <a:pt x="22837" y="920706"/>
                  </a:lnTo>
                  <a:lnTo>
                    <a:pt x="5975" y="880749"/>
                  </a:lnTo>
                  <a:lnTo>
                    <a:pt x="0" y="836282"/>
                  </a:lnTo>
                  <a:lnTo>
                    <a:pt x="0" y="167259"/>
                  </a:lnTo>
                  <a:close/>
                </a:path>
              </a:pathLst>
            </a:custGeom>
            <a:ln w="15874">
              <a:solidFill>
                <a:srgbClr val="FFFFFF"/>
              </a:solidFill>
            </a:ln>
          </p:spPr>
          <p:txBody>
            <a:bodyPr wrap="square" lIns="0" tIns="0" rIns="0" bIns="0" rtlCol="0"/>
            <a:lstStyle/>
            <a:p>
              <a:endParaRPr/>
            </a:p>
          </p:txBody>
        </p:sp>
      </p:grpSp>
      <p:sp>
        <p:nvSpPr>
          <p:cNvPr id="8" name="object 8"/>
          <p:cNvSpPr txBox="1"/>
          <p:nvPr/>
        </p:nvSpPr>
        <p:spPr>
          <a:xfrm>
            <a:off x="1986996" y="2995439"/>
            <a:ext cx="8743315" cy="628650"/>
          </a:xfrm>
          <a:prstGeom prst="rect">
            <a:avLst/>
          </a:prstGeom>
        </p:spPr>
        <p:txBody>
          <a:bodyPr vert="horz" wrap="square" lIns="0" tIns="27305" rIns="0" bIns="0" rtlCol="0">
            <a:spAutoFit/>
          </a:bodyPr>
          <a:lstStyle/>
          <a:p>
            <a:pPr marL="12700" marR="5080">
              <a:lnSpc>
                <a:spcPts val="2350"/>
              </a:lnSpc>
              <a:spcBef>
                <a:spcPts val="215"/>
              </a:spcBef>
              <a:tabLst>
                <a:tab pos="595630" algn="l"/>
                <a:tab pos="3723004" algn="l"/>
                <a:tab pos="4084954" algn="l"/>
                <a:tab pos="5090160" algn="l"/>
                <a:tab pos="5934075" algn="l"/>
                <a:tab pos="6263640" algn="l"/>
                <a:tab pos="6706870" algn="l"/>
                <a:tab pos="7109459" algn="l"/>
                <a:tab pos="8002270" algn="l"/>
                <a:tab pos="8401050" algn="l"/>
              </a:tabLst>
            </a:pPr>
            <a:r>
              <a:rPr sz="2000" spc="-25" dirty="0">
                <a:solidFill>
                  <a:srgbClr val="FFFFFF"/>
                </a:solidFill>
                <a:latin typeface="Arial MT"/>
                <a:cs typeface="Arial MT"/>
              </a:rPr>
              <a:t>The</a:t>
            </a:r>
            <a:r>
              <a:rPr sz="2000" dirty="0">
                <a:solidFill>
                  <a:srgbClr val="FFFFFF"/>
                </a:solidFill>
                <a:latin typeface="Arial MT"/>
                <a:cs typeface="Arial MT"/>
              </a:rPr>
              <a:t>	</a:t>
            </a:r>
            <a:r>
              <a:rPr sz="2000" dirty="0">
                <a:solidFill>
                  <a:srgbClr val="FFFFFF"/>
                </a:solidFill>
                <a:latin typeface="Courier New"/>
                <a:cs typeface="Courier New"/>
              </a:rPr>
              <a:t>writelines()</a:t>
            </a:r>
            <a:r>
              <a:rPr sz="2000" spc="-125" dirty="0">
                <a:solidFill>
                  <a:srgbClr val="FFFFFF"/>
                </a:solidFill>
                <a:latin typeface="Courier New"/>
                <a:cs typeface="Courier New"/>
              </a:rPr>
              <a:t> </a:t>
            </a:r>
            <a:r>
              <a:rPr sz="2000" spc="160" dirty="0">
                <a:solidFill>
                  <a:srgbClr val="FFFFFF"/>
                </a:solidFill>
                <a:latin typeface="Arial MT"/>
                <a:cs typeface="Arial MT"/>
              </a:rPr>
              <a:t>method</a:t>
            </a:r>
            <a:r>
              <a:rPr sz="2000" dirty="0">
                <a:solidFill>
                  <a:srgbClr val="FFFFFF"/>
                </a:solidFill>
                <a:latin typeface="Arial MT"/>
                <a:cs typeface="Arial MT"/>
              </a:rPr>
              <a:t>	</a:t>
            </a:r>
            <a:r>
              <a:rPr sz="2000" spc="-25" dirty="0">
                <a:solidFill>
                  <a:srgbClr val="FFFFFF"/>
                </a:solidFill>
                <a:latin typeface="Arial MT"/>
                <a:cs typeface="Arial MT"/>
              </a:rPr>
              <a:t>in</a:t>
            </a:r>
            <a:r>
              <a:rPr sz="2000" dirty="0">
                <a:solidFill>
                  <a:srgbClr val="FFFFFF"/>
                </a:solidFill>
                <a:latin typeface="Arial MT"/>
                <a:cs typeface="Arial MT"/>
              </a:rPr>
              <a:t>	</a:t>
            </a:r>
            <a:r>
              <a:rPr sz="2000" spc="60" dirty="0">
                <a:solidFill>
                  <a:srgbClr val="FFFFFF"/>
                </a:solidFill>
                <a:latin typeface="Arial MT"/>
                <a:cs typeface="Arial MT"/>
              </a:rPr>
              <a:t>Python</a:t>
            </a:r>
            <a:r>
              <a:rPr sz="2000" dirty="0">
                <a:solidFill>
                  <a:srgbClr val="FFFFFF"/>
                </a:solidFill>
                <a:latin typeface="Arial MT"/>
                <a:cs typeface="Arial MT"/>
              </a:rPr>
              <a:t>	</a:t>
            </a:r>
            <a:r>
              <a:rPr sz="2000" spc="-10" dirty="0">
                <a:solidFill>
                  <a:srgbClr val="FFFFFF"/>
                </a:solidFill>
                <a:latin typeface="Arial MT"/>
                <a:cs typeface="Arial MT"/>
              </a:rPr>
              <a:t>writes</a:t>
            </a:r>
            <a:r>
              <a:rPr sz="2000" dirty="0">
                <a:solidFill>
                  <a:srgbClr val="FFFFFF"/>
                </a:solidFill>
                <a:latin typeface="Arial MT"/>
                <a:cs typeface="Arial MT"/>
              </a:rPr>
              <a:t>	</a:t>
            </a:r>
            <a:r>
              <a:rPr sz="2000" spc="190" dirty="0">
                <a:solidFill>
                  <a:srgbClr val="FFFFFF"/>
                </a:solidFill>
                <a:latin typeface="Arial MT"/>
                <a:cs typeface="Arial MT"/>
              </a:rPr>
              <a:t>a</a:t>
            </a:r>
            <a:r>
              <a:rPr sz="2000" dirty="0">
                <a:solidFill>
                  <a:srgbClr val="FFFFFF"/>
                </a:solidFill>
                <a:latin typeface="Arial MT"/>
                <a:cs typeface="Arial MT"/>
              </a:rPr>
              <a:t>	</a:t>
            </a:r>
            <a:r>
              <a:rPr sz="2000" spc="-20" dirty="0">
                <a:solidFill>
                  <a:srgbClr val="FFFFFF"/>
                </a:solidFill>
                <a:latin typeface="Arial MT"/>
                <a:cs typeface="Arial MT"/>
              </a:rPr>
              <a:t>list</a:t>
            </a:r>
            <a:r>
              <a:rPr sz="2000" dirty="0">
                <a:solidFill>
                  <a:srgbClr val="FFFFFF"/>
                </a:solidFill>
                <a:latin typeface="Arial MT"/>
                <a:cs typeface="Arial MT"/>
              </a:rPr>
              <a:t>	</a:t>
            </a:r>
            <a:r>
              <a:rPr sz="2000" spc="105" dirty="0">
                <a:solidFill>
                  <a:srgbClr val="FFFFFF"/>
                </a:solidFill>
                <a:latin typeface="Arial MT"/>
                <a:cs typeface="Arial MT"/>
              </a:rPr>
              <a:t>of</a:t>
            </a:r>
            <a:r>
              <a:rPr sz="2000" dirty="0">
                <a:solidFill>
                  <a:srgbClr val="FFFFFF"/>
                </a:solidFill>
                <a:latin typeface="Arial MT"/>
                <a:cs typeface="Arial MT"/>
              </a:rPr>
              <a:t>	</a:t>
            </a:r>
            <a:r>
              <a:rPr sz="2000" spc="-10" dirty="0">
                <a:solidFill>
                  <a:srgbClr val="FFFFFF"/>
                </a:solidFill>
                <a:latin typeface="Arial MT"/>
                <a:cs typeface="Arial MT"/>
              </a:rPr>
              <a:t>strings</a:t>
            </a:r>
            <a:r>
              <a:rPr sz="2000" dirty="0">
                <a:solidFill>
                  <a:srgbClr val="FFFFFF"/>
                </a:solidFill>
                <a:latin typeface="Arial MT"/>
                <a:cs typeface="Arial MT"/>
              </a:rPr>
              <a:t>	</a:t>
            </a:r>
            <a:r>
              <a:rPr sz="2000" spc="35" dirty="0">
                <a:solidFill>
                  <a:srgbClr val="FFFFFF"/>
                </a:solidFill>
                <a:latin typeface="Arial MT"/>
                <a:cs typeface="Arial MT"/>
              </a:rPr>
              <a:t>or</a:t>
            </a:r>
            <a:r>
              <a:rPr sz="2000" dirty="0">
                <a:solidFill>
                  <a:srgbClr val="FFFFFF"/>
                </a:solidFill>
                <a:latin typeface="Arial MT"/>
                <a:cs typeface="Arial MT"/>
              </a:rPr>
              <a:t>	</a:t>
            </a:r>
            <a:r>
              <a:rPr sz="2000" spc="145" dirty="0">
                <a:solidFill>
                  <a:srgbClr val="FFFFFF"/>
                </a:solidFill>
                <a:latin typeface="Arial MT"/>
                <a:cs typeface="Arial MT"/>
              </a:rPr>
              <a:t>an </a:t>
            </a:r>
            <a:r>
              <a:rPr sz="2000" spc="95" dirty="0">
                <a:solidFill>
                  <a:srgbClr val="FFFFFF"/>
                </a:solidFill>
                <a:latin typeface="Arial MT"/>
                <a:cs typeface="Arial MT"/>
              </a:rPr>
              <a:t>iterable</a:t>
            </a:r>
            <a:r>
              <a:rPr sz="2000" dirty="0">
                <a:solidFill>
                  <a:srgbClr val="FFFFFF"/>
                </a:solidFill>
                <a:latin typeface="Arial MT"/>
                <a:cs typeface="Arial MT"/>
              </a:rPr>
              <a:t> </a:t>
            </a:r>
            <a:r>
              <a:rPr sz="2000" spc="60" dirty="0">
                <a:solidFill>
                  <a:srgbClr val="FFFFFF"/>
                </a:solidFill>
                <a:latin typeface="Arial MT"/>
                <a:cs typeface="Arial MT"/>
              </a:rPr>
              <a:t>(such</a:t>
            </a:r>
            <a:r>
              <a:rPr sz="2000" spc="10" dirty="0">
                <a:solidFill>
                  <a:srgbClr val="FFFFFF"/>
                </a:solidFill>
                <a:latin typeface="Arial MT"/>
                <a:cs typeface="Arial MT"/>
              </a:rPr>
              <a:t> </a:t>
            </a:r>
            <a:r>
              <a:rPr sz="2000" dirty="0">
                <a:solidFill>
                  <a:srgbClr val="FFFFFF"/>
                </a:solidFill>
                <a:latin typeface="Arial MT"/>
                <a:cs typeface="Arial MT"/>
              </a:rPr>
              <a:t>as</a:t>
            </a:r>
            <a:r>
              <a:rPr sz="2000" spc="-5" dirty="0">
                <a:solidFill>
                  <a:srgbClr val="FFFFFF"/>
                </a:solidFill>
                <a:latin typeface="Arial MT"/>
                <a:cs typeface="Arial MT"/>
              </a:rPr>
              <a:t> </a:t>
            </a:r>
            <a:r>
              <a:rPr sz="2000" spc="240" dirty="0">
                <a:solidFill>
                  <a:srgbClr val="FFFFFF"/>
                </a:solidFill>
                <a:latin typeface="Arial MT"/>
                <a:cs typeface="Arial MT"/>
              </a:rPr>
              <a:t>a</a:t>
            </a:r>
            <a:r>
              <a:rPr sz="2000" spc="-5" dirty="0">
                <a:solidFill>
                  <a:srgbClr val="FFFFFF"/>
                </a:solidFill>
                <a:latin typeface="Arial MT"/>
                <a:cs typeface="Arial MT"/>
              </a:rPr>
              <a:t> </a:t>
            </a:r>
            <a:r>
              <a:rPr sz="2000" spc="-30" dirty="0">
                <a:solidFill>
                  <a:srgbClr val="FFFFFF"/>
                </a:solidFill>
                <a:latin typeface="Arial MT"/>
                <a:cs typeface="Arial MT"/>
              </a:rPr>
              <a:t>list</a:t>
            </a:r>
            <a:r>
              <a:rPr sz="2000" spc="-5" dirty="0">
                <a:solidFill>
                  <a:srgbClr val="FFFFFF"/>
                </a:solidFill>
                <a:latin typeface="Arial MT"/>
                <a:cs typeface="Arial MT"/>
              </a:rPr>
              <a:t> </a:t>
            </a:r>
            <a:r>
              <a:rPr sz="2000" spc="60" dirty="0">
                <a:solidFill>
                  <a:srgbClr val="FFFFFF"/>
                </a:solidFill>
                <a:latin typeface="Arial MT"/>
                <a:cs typeface="Arial MT"/>
              </a:rPr>
              <a:t>or</a:t>
            </a:r>
            <a:r>
              <a:rPr sz="2000" spc="-5" dirty="0">
                <a:solidFill>
                  <a:srgbClr val="FFFFFF"/>
                </a:solidFill>
                <a:latin typeface="Arial MT"/>
                <a:cs typeface="Arial MT"/>
              </a:rPr>
              <a:t> </a:t>
            </a:r>
            <a:r>
              <a:rPr sz="2000" spc="240" dirty="0">
                <a:solidFill>
                  <a:srgbClr val="FFFFFF"/>
                </a:solidFill>
                <a:latin typeface="Arial MT"/>
                <a:cs typeface="Arial MT"/>
              </a:rPr>
              <a:t>a</a:t>
            </a:r>
            <a:r>
              <a:rPr sz="2000" spc="-5" dirty="0">
                <a:solidFill>
                  <a:srgbClr val="FFFFFF"/>
                </a:solidFill>
                <a:latin typeface="Arial MT"/>
                <a:cs typeface="Arial MT"/>
              </a:rPr>
              <a:t> </a:t>
            </a:r>
            <a:r>
              <a:rPr sz="2000" spc="114" dirty="0">
                <a:solidFill>
                  <a:srgbClr val="FFFFFF"/>
                </a:solidFill>
                <a:latin typeface="Arial MT"/>
                <a:cs typeface="Arial MT"/>
              </a:rPr>
              <a:t>generator)</a:t>
            </a:r>
            <a:r>
              <a:rPr sz="2000" spc="5" dirty="0">
                <a:solidFill>
                  <a:srgbClr val="FFFFFF"/>
                </a:solidFill>
                <a:latin typeface="Arial MT"/>
                <a:cs typeface="Arial MT"/>
              </a:rPr>
              <a:t> </a:t>
            </a:r>
            <a:r>
              <a:rPr sz="2000" spc="155" dirty="0">
                <a:solidFill>
                  <a:srgbClr val="FFFFFF"/>
                </a:solidFill>
                <a:latin typeface="Arial MT"/>
                <a:cs typeface="Arial MT"/>
              </a:rPr>
              <a:t>to</a:t>
            </a:r>
            <a:r>
              <a:rPr sz="2000" dirty="0">
                <a:solidFill>
                  <a:srgbClr val="FFFFFF"/>
                </a:solidFill>
                <a:latin typeface="Arial MT"/>
                <a:cs typeface="Arial MT"/>
              </a:rPr>
              <a:t> </a:t>
            </a:r>
            <a:r>
              <a:rPr sz="2000" spc="240" dirty="0">
                <a:solidFill>
                  <a:srgbClr val="FFFFFF"/>
                </a:solidFill>
                <a:latin typeface="Arial MT"/>
                <a:cs typeface="Arial MT"/>
              </a:rPr>
              <a:t>a</a:t>
            </a:r>
            <a:r>
              <a:rPr sz="2000" spc="-5" dirty="0">
                <a:solidFill>
                  <a:srgbClr val="FFFFFF"/>
                </a:solidFill>
                <a:latin typeface="Arial MT"/>
                <a:cs typeface="Arial MT"/>
              </a:rPr>
              <a:t> </a:t>
            </a:r>
            <a:r>
              <a:rPr sz="2000" spc="90" dirty="0">
                <a:solidFill>
                  <a:srgbClr val="FFFFFF"/>
                </a:solidFill>
                <a:latin typeface="Arial MT"/>
                <a:cs typeface="Arial MT"/>
              </a:rPr>
              <a:t>text</a:t>
            </a:r>
            <a:r>
              <a:rPr sz="2000" spc="-5" dirty="0">
                <a:solidFill>
                  <a:srgbClr val="FFFFFF"/>
                </a:solidFill>
                <a:latin typeface="Arial MT"/>
                <a:cs typeface="Arial MT"/>
              </a:rPr>
              <a:t> </a:t>
            </a:r>
            <a:r>
              <a:rPr sz="2000" spc="-10" dirty="0">
                <a:solidFill>
                  <a:srgbClr val="FFFFFF"/>
                </a:solidFill>
                <a:latin typeface="Arial MT"/>
                <a:cs typeface="Arial MT"/>
              </a:rPr>
              <a:t>file.</a:t>
            </a:r>
            <a:endParaRPr sz="2000">
              <a:latin typeface="Arial MT"/>
              <a:cs typeface="Arial MT"/>
            </a:endParaRPr>
          </a:p>
        </p:txBody>
      </p:sp>
      <p:grpSp>
        <p:nvGrpSpPr>
          <p:cNvPr id="9" name="object 9"/>
          <p:cNvGrpSpPr/>
          <p:nvPr/>
        </p:nvGrpSpPr>
        <p:grpSpPr>
          <a:xfrm>
            <a:off x="1216977" y="4360232"/>
            <a:ext cx="9820275" cy="1374775"/>
            <a:chOff x="1216977" y="4360232"/>
            <a:chExt cx="9820275" cy="1374775"/>
          </a:xfrm>
        </p:grpSpPr>
        <p:sp>
          <p:nvSpPr>
            <p:cNvPr id="10" name="object 10"/>
            <p:cNvSpPr/>
            <p:nvPr/>
          </p:nvSpPr>
          <p:spPr>
            <a:xfrm>
              <a:off x="1224914" y="4870323"/>
              <a:ext cx="9804400" cy="856615"/>
            </a:xfrm>
            <a:custGeom>
              <a:avLst/>
              <a:gdLst/>
              <a:ahLst/>
              <a:cxnLst/>
              <a:rect l="l" t="t" r="r" b="b"/>
              <a:pathLst>
                <a:path w="9804400" h="856614">
                  <a:moveTo>
                    <a:pt x="0" y="0"/>
                  </a:moveTo>
                  <a:lnTo>
                    <a:pt x="9803892" y="0"/>
                  </a:lnTo>
                  <a:lnTo>
                    <a:pt x="9803892" y="856488"/>
                  </a:lnTo>
                  <a:lnTo>
                    <a:pt x="0" y="856488"/>
                  </a:lnTo>
                  <a:lnTo>
                    <a:pt x="0" y="0"/>
                  </a:lnTo>
                  <a:close/>
                </a:path>
              </a:pathLst>
            </a:custGeom>
            <a:ln w="15875">
              <a:solidFill>
                <a:srgbClr val="855540"/>
              </a:solidFill>
            </a:ln>
          </p:spPr>
          <p:txBody>
            <a:bodyPr wrap="square" lIns="0" tIns="0" rIns="0" bIns="0" rtlCol="0"/>
            <a:lstStyle/>
            <a:p>
              <a:endParaRPr/>
            </a:p>
          </p:txBody>
        </p:sp>
        <p:sp>
          <p:nvSpPr>
            <p:cNvPr id="11" name="object 11"/>
            <p:cNvSpPr/>
            <p:nvPr/>
          </p:nvSpPr>
          <p:spPr>
            <a:xfrm>
              <a:off x="1692020" y="4368170"/>
              <a:ext cx="9334500" cy="1003935"/>
            </a:xfrm>
            <a:custGeom>
              <a:avLst/>
              <a:gdLst/>
              <a:ahLst/>
              <a:cxnLst/>
              <a:rect l="l" t="t" r="r" b="b"/>
              <a:pathLst>
                <a:path w="9334500" h="1003935">
                  <a:moveTo>
                    <a:pt x="9167241" y="0"/>
                  </a:moveTo>
                  <a:lnTo>
                    <a:pt x="167259" y="0"/>
                  </a:lnTo>
                  <a:lnTo>
                    <a:pt x="122797" y="5974"/>
                  </a:lnTo>
                  <a:lnTo>
                    <a:pt x="82843" y="22834"/>
                  </a:lnTo>
                  <a:lnTo>
                    <a:pt x="48991" y="48987"/>
                  </a:lnTo>
                  <a:lnTo>
                    <a:pt x="22837" y="82837"/>
                  </a:lnTo>
                  <a:lnTo>
                    <a:pt x="5975" y="122793"/>
                  </a:lnTo>
                  <a:lnTo>
                    <a:pt x="0" y="167258"/>
                  </a:lnTo>
                  <a:lnTo>
                    <a:pt x="0" y="836282"/>
                  </a:lnTo>
                  <a:lnTo>
                    <a:pt x="5975" y="880749"/>
                  </a:lnTo>
                  <a:lnTo>
                    <a:pt x="22837" y="920706"/>
                  </a:lnTo>
                  <a:lnTo>
                    <a:pt x="48991" y="954560"/>
                  </a:lnTo>
                  <a:lnTo>
                    <a:pt x="82843" y="980716"/>
                  </a:lnTo>
                  <a:lnTo>
                    <a:pt x="122797" y="997578"/>
                  </a:lnTo>
                  <a:lnTo>
                    <a:pt x="167259" y="1003553"/>
                  </a:lnTo>
                  <a:lnTo>
                    <a:pt x="9167241" y="1003553"/>
                  </a:lnTo>
                  <a:lnTo>
                    <a:pt x="9211702" y="997578"/>
                  </a:lnTo>
                  <a:lnTo>
                    <a:pt x="9251656" y="980716"/>
                  </a:lnTo>
                  <a:lnTo>
                    <a:pt x="9285508" y="954560"/>
                  </a:lnTo>
                  <a:lnTo>
                    <a:pt x="9311662" y="920706"/>
                  </a:lnTo>
                  <a:lnTo>
                    <a:pt x="9328524" y="880749"/>
                  </a:lnTo>
                  <a:lnTo>
                    <a:pt x="9334500" y="836282"/>
                  </a:lnTo>
                  <a:lnTo>
                    <a:pt x="9334500" y="167258"/>
                  </a:lnTo>
                  <a:lnTo>
                    <a:pt x="9328524" y="122793"/>
                  </a:lnTo>
                  <a:lnTo>
                    <a:pt x="9311662" y="82837"/>
                  </a:lnTo>
                  <a:lnTo>
                    <a:pt x="9285508" y="48987"/>
                  </a:lnTo>
                  <a:lnTo>
                    <a:pt x="9251656" y="22834"/>
                  </a:lnTo>
                  <a:lnTo>
                    <a:pt x="9211702" y="5974"/>
                  </a:lnTo>
                  <a:lnTo>
                    <a:pt x="9167241" y="0"/>
                  </a:lnTo>
                  <a:close/>
                </a:path>
              </a:pathLst>
            </a:custGeom>
            <a:solidFill>
              <a:srgbClr val="855540"/>
            </a:solidFill>
          </p:spPr>
          <p:txBody>
            <a:bodyPr wrap="square" lIns="0" tIns="0" rIns="0" bIns="0" rtlCol="0"/>
            <a:lstStyle/>
            <a:p>
              <a:endParaRPr/>
            </a:p>
          </p:txBody>
        </p:sp>
        <p:sp>
          <p:nvSpPr>
            <p:cNvPr id="12" name="object 12"/>
            <p:cNvSpPr/>
            <p:nvPr/>
          </p:nvSpPr>
          <p:spPr>
            <a:xfrm>
              <a:off x="1692020" y="4368170"/>
              <a:ext cx="9334500" cy="1003935"/>
            </a:xfrm>
            <a:custGeom>
              <a:avLst/>
              <a:gdLst/>
              <a:ahLst/>
              <a:cxnLst/>
              <a:rect l="l" t="t" r="r" b="b"/>
              <a:pathLst>
                <a:path w="9334500" h="1003935">
                  <a:moveTo>
                    <a:pt x="0" y="167258"/>
                  </a:moveTo>
                  <a:lnTo>
                    <a:pt x="5975" y="122793"/>
                  </a:lnTo>
                  <a:lnTo>
                    <a:pt x="22837" y="82837"/>
                  </a:lnTo>
                  <a:lnTo>
                    <a:pt x="48991" y="48987"/>
                  </a:lnTo>
                  <a:lnTo>
                    <a:pt x="82843" y="22834"/>
                  </a:lnTo>
                  <a:lnTo>
                    <a:pt x="122797" y="5974"/>
                  </a:lnTo>
                  <a:lnTo>
                    <a:pt x="167259" y="0"/>
                  </a:lnTo>
                  <a:lnTo>
                    <a:pt x="9167241" y="0"/>
                  </a:lnTo>
                  <a:lnTo>
                    <a:pt x="9211702" y="5974"/>
                  </a:lnTo>
                  <a:lnTo>
                    <a:pt x="9251656" y="22834"/>
                  </a:lnTo>
                  <a:lnTo>
                    <a:pt x="9285508" y="48987"/>
                  </a:lnTo>
                  <a:lnTo>
                    <a:pt x="9311662" y="82837"/>
                  </a:lnTo>
                  <a:lnTo>
                    <a:pt x="9328524" y="122793"/>
                  </a:lnTo>
                  <a:lnTo>
                    <a:pt x="9334500" y="167258"/>
                  </a:lnTo>
                  <a:lnTo>
                    <a:pt x="9334500" y="836282"/>
                  </a:lnTo>
                  <a:lnTo>
                    <a:pt x="9328524" y="880749"/>
                  </a:lnTo>
                  <a:lnTo>
                    <a:pt x="9311662" y="920706"/>
                  </a:lnTo>
                  <a:lnTo>
                    <a:pt x="9285508" y="954560"/>
                  </a:lnTo>
                  <a:lnTo>
                    <a:pt x="9251656" y="980716"/>
                  </a:lnTo>
                  <a:lnTo>
                    <a:pt x="9211702" y="997578"/>
                  </a:lnTo>
                  <a:lnTo>
                    <a:pt x="9167241" y="1003553"/>
                  </a:lnTo>
                  <a:lnTo>
                    <a:pt x="167259" y="1003553"/>
                  </a:lnTo>
                  <a:lnTo>
                    <a:pt x="122797" y="997578"/>
                  </a:lnTo>
                  <a:lnTo>
                    <a:pt x="82843" y="980716"/>
                  </a:lnTo>
                  <a:lnTo>
                    <a:pt x="48991" y="954560"/>
                  </a:lnTo>
                  <a:lnTo>
                    <a:pt x="22837" y="920706"/>
                  </a:lnTo>
                  <a:lnTo>
                    <a:pt x="5975" y="880749"/>
                  </a:lnTo>
                  <a:lnTo>
                    <a:pt x="0" y="836282"/>
                  </a:lnTo>
                  <a:lnTo>
                    <a:pt x="0" y="167258"/>
                  </a:lnTo>
                  <a:close/>
                </a:path>
              </a:pathLst>
            </a:custGeom>
            <a:ln w="15874">
              <a:solidFill>
                <a:srgbClr val="FFFFFF"/>
              </a:solidFill>
            </a:ln>
          </p:spPr>
          <p:txBody>
            <a:bodyPr wrap="square" lIns="0" tIns="0" rIns="0" bIns="0" rtlCol="0"/>
            <a:lstStyle/>
            <a:p>
              <a:endParaRPr/>
            </a:p>
          </p:txBody>
        </p:sp>
      </p:grpSp>
      <p:sp>
        <p:nvSpPr>
          <p:cNvPr id="13" name="object 13"/>
          <p:cNvSpPr txBox="1"/>
          <p:nvPr/>
        </p:nvSpPr>
        <p:spPr>
          <a:xfrm>
            <a:off x="1986996" y="4547585"/>
            <a:ext cx="8744585" cy="609600"/>
          </a:xfrm>
          <a:prstGeom prst="rect">
            <a:avLst/>
          </a:prstGeom>
        </p:spPr>
        <p:txBody>
          <a:bodyPr vert="horz" wrap="square" lIns="0" tIns="42545" rIns="0" bIns="0" rtlCol="0">
            <a:spAutoFit/>
          </a:bodyPr>
          <a:lstStyle/>
          <a:p>
            <a:pPr marL="12700" marR="5080">
              <a:lnSpc>
                <a:spcPts val="2200"/>
              </a:lnSpc>
              <a:spcBef>
                <a:spcPts val="335"/>
              </a:spcBef>
              <a:tabLst>
                <a:tab pos="556260" algn="l"/>
                <a:tab pos="1672589" algn="l"/>
                <a:tab pos="1953895" algn="l"/>
                <a:tab pos="3452495" algn="l"/>
                <a:tab pos="4666615" algn="l"/>
                <a:tab pos="5485130" algn="l"/>
                <a:tab pos="6991984" algn="l"/>
                <a:tab pos="7757795" algn="l"/>
                <a:tab pos="8141970" algn="l"/>
              </a:tabLst>
            </a:pPr>
            <a:r>
              <a:rPr sz="2000" spc="-20" dirty="0">
                <a:solidFill>
                  <a:srgbClr val="FFFFFF"/>
                </a:solidFill>
                <a:latin typeface="Arial MT"/>
                <a:cs typeface="Arial MT"/>
              </a:rPr>
              <a:t>This</a:t>
            </a:r>
            <a:r>
              <a:rPr sz="2000" dirty="0">
                <a:solidFill>
                  <a:srgbClr val="FFFFFF"/>
                </a:solidFill>
                <a:latin typeface="Arial MT"/>
                <a:cs typeface="Arial MT"/>
              </a:rPr>
              <a:t>	</a:t>
            </a:r>
            <a:r>
              <a:rPr sz="2000" spc="160" dirty="0">
                <a:solidFill>
                  <a:srgbClr val="FFFFFF"/>
                </a:solidFill>
                <a:latin typeface="Arial MT"/>
                <a:cs typeface="Arial MT"/>
              </a:rPr>
              <a:t>method</a:t>
            </a:r>
            <a:r>
              <a:rPr sz="2000" dirty="0">
                <a:solidFill>
                  <a:srgbClr val="FFFFFF"/>
                </a:solidFill>
                <a:latin typeface="Arial MT"/>
                <a:cs typeface="Arial MT"/>
              </a:rPr>
              <a:t>	</a:t>
            </a:r>
            <a:r>
              <a:rPr sz="2000" spc="-25" dirty="0">
                <a:solidFill>
                  <a:srgbClr val="FFFFFF"/>
                </a:solidFill>
                <a:latin typeface="Arial MT"/>
                <a:cs typeface="Arial MT"/>
              </a:rPr>
              <a:t>is</a:t>
            </a:r>
            <a:r>
              <a:rPr sz="2000" dirty="0">
                <a:solidFill>
                  <a:srgbClr val="FFFFFF"/>
                </a:solidFill>
                <a:latin typeface="Arial MT"/>
                <a:cs typeface="Arial MT"/>
              </a:rPr>
              <a:t>	</a:t>
            </a:r>
            <a:r>
              <a:rPr sz="2000" spc="70" dirty="0">
                <a:solidFill>
                  <a:srgbClr val="FFFFFF"/>
                </a:solidFill>
                <a:latin typeface="Arial MT"/>
                <a:cs typeface="Arial MT"/>
              </a:rPr>
              <a:t>particularly</a:t>
            </a:r>
            <a:r>
              <a:rPr sz="2000" dirty="0">
                <a:solidFill>
                  <a:srgbClr val="FFFFFF"/>
                </a:solidFill>
                <a:latin typeface="Arial MT"/>
                <a:cs typeface="Arial MT"/>
              </a:rPr>
              <a:t>	</a:t>
            </a:r>
            <a:r>
              <a:rPr sz="2000" spc="110" dirty="0">
                <a:solidFill>
                  <a:srgbClr val="FFFFFF"/>
                </a:solidFill>
                <a:latin typeface="Arial MT"/>
                <a:cs typeface="Arial MT"/>
              </a:rPr>
              <a:t>valuable</a:t>
            </a:r>
            <a:r>
              <a:rPr sz="2000" dirty="0">
                <a:solidFill>
                  <a:srgbClr val="FFFFFF"/>
                </a:solidFill>
                <a:latin typeface="Arial MT"/>
                <a:cs typeface="Arial MT"/>
              </a:rPr>
              <a:t>	</a:t>
            </a:r>
            <a:r>
              <a:rPr sz="2000" spc="120" dirty="0">
                <a:solidFill>
                  <a:srgbClr val="FFFFFF"/>
                </a:solidFill>
                <a:latin typeface="Arial MT"/>
                <a:cs typeface="Arial MT"/>
              </a:rPr>
              <a:t>when</a:t>
            </a:r>
            <a:r>
              <a:rPr sz="2000" dirty="0">
                <a:solidFill>
                  <a:srgbClr val="FFFFFF"/>
                </a:solidFill>
                <a:latin typeface="Arial MT"/>
                <a:cs typeface="Arial MT"/>
              </a:rPr>
              <a:t>	</a:t>
            </a:r>
            <a:r>
              <a:rPr sz="2000" spc="85" dirty="0">
                <a:solidFill>
                  <a:srgbClr val="FFFFFF"/>
                </a:solidFill>
                <a:latin typeface="Arial MT"/>
                <a:cs typeface="Arial MT"/>
              </a:rPr>
              <a:t>developers</a:t>
            </a:r>
            <a:r>
              <a:rPr sz="2000" dirty="0">
                <a:solidFill>
                  <a:srgbClr val="FFFFFF"/>
                </a:solidFill>
                <a:latin typeface="Arial MT"/>
                <a:cs typeface="Arial MT"/>
              </a:rPr>
              <a:t>	</a:t>
            </a:r>
            <a:r>
              <a:rPr sz="2000" spc="130" dirty="0">
                <a:solidFill>
                  <a:srgbClr val="FFFFFF"/>
                </a:solidFill>
                <a:latin typeface="Arial MT"/>
                <a:cs typeface="Arial MT"/>
              </a:rPr>
              <a:t>have</a:t>
            </a:r>
            <a:r>
              <a:rPr sz="2000" dirty="0">
                <a:solidFill>
                  <a:srgbClr val="FFFFFF"/>
                </a:solidFill>
                <a:latin typeface="Arial MT"/>
                <a:cs typeface="Arial MT"/>
              </a:rPr>
              <a:t>	</a:t>
            </a:r>
            <a:r>
              <a:rPr sz="2000" spc="130" dirty="0">
                <a:solidFill>
                  <a:srgbClr val="FFFFFF"/>
                </a:solidFill>
                <a:latin typeface="Arial MT"/>
                <a:cs typeface="Arial MT"/>
              </a:rPr>
              <a:t>to</a:t>
            </a:r>
            <a:r>
              <a:rPr sz="2000" dirty="0">
                <a:solidFill>
                  <a:srgbClr val="FFFFFF"/>
                </a:solidFill>
                <a:latin typeface="Arial MT"/>
                <a:cs typeface="Arial MT"/>
              </a:rPr>
              <a:t>	</a:t>
            </a:r>
            <a:r>
              <a:rPr sz="2000" spc="65" dirty="0">
                <a:solidFill>
                  <a:srgbClr val="FFFFFF"/>
                </a:solidFill>
                <a:latin typeface="Arial MT"/>
                <a:cs typeface="Arial MT"/>
              </a:rPr>
              <a:t>write numerous</a:t>
            </a:r>
            <a:r>
              <a:rPr sz="2000" spc="30" dirty="0">
                <a:solidFill>
                  <a:srgbClr val="FFFFFF"/>
                </a:solidFill>
                <a:latin typeface="Arial MT"/>
                <a:cs typeface="Arial MT"/>
              </a:rPr>
              <a:t> </a:t>
            </a:r>
            <a:r>
              <a:rPr sz="2000" dirty="0">
                <a:solidFill>
                  <a:srgbClr val="FFFFFF"/>
                </a:solidFill>
                <a:latin typeface="Arial MT"/>
                <a:cs typeface="Arial MT"/>
              </a:rPr>
              <a:t>lines</a:t>
            </a:r>
            <a:r>
              <a:rPr sz="2000" spc="20" dirty="0">
                <a:solidFill>
                  <a:srgbClr val="FFFFFF"/>
                </a:solidFill>
                <a:latin typeface="Arial MT"/>
                <a:cs typeface="Arial MT"/>
              </a:rPr>
              <a:t> </a:t>
            </a:r>
            <a:r>
              <a:rPr sz="2000" spc="130" dirty="0">
                <a:solidFill>
                  <a:srgbClr val="FFFFFF"/>
                </a:solidFill>
                <a:latin typeface="Arial MT"/>
                <a:cs typeface="Arial MT"/>
              </a:rPr>
              <a:t>of</a:t>
            </a:r>
            <a:r>
              <a:rPr sz="2000" spc="10" dirty="0">
                <a:solidFill>
                  <a:srgbClr val="FFFFFF"/>
                </a:solidFill>
                <a:latin typeface="Arial MT"/>
                <a:cs typeface="Arial MT"/>
              </a:rPr>
              <a:t> </a:t>
            </a:r>
            <a:r>
              <a:rPr sz="2000" spc="90" dirty="0">
                <a:solidFill>
                  <a:srgbClr val="FFFFFF"/>
                </a:solidFill>
                <a:latin typeface="Arial MT"/>
                <a:cs typeface="Arial MT"/>
              </a:rPr>
              <a:t>text</a:t>
            </a:r>
            <a:r>
              <a:rPr sz="2000" spc="20" dirty="0">
                <a:solidFill>
                  <a:srgbClr val="FFFFFF"/>
                </a:solidFill>
                <a:latin typeface="Arial MT"/>
                <a:cs typeface="Arial MT"/>
              </a:rPr>
              <a:t> </a:t>
            </a:r>
            <a:r>
              <a:rPr sz="2000" spc="155" dirty="0">
                <a:solidFill>
                  <a:srgbClr val="FFFFFF"/>
                </a:solidFill>
                <a:latin typeface="Arial MT"/>
                <a:cs typeface="Arial MT"/>
              </a:rPr>
              <a:t>to</a:t>
            </a:r>
            <a:r>
              <a:rPr sz="2000" spc="15" dirty="0">
                <a:solidFill>
                  <a:srgbClr val="FFFFFF"/>
                </a:solidFill>
                <a:latin typeface="Arial MT"/>
                <a:cs typeface="Arial MT"/>
              </a:rPr>
              <a:t> </a:t>
            </a:r>
            <a:r>
              <a:rPr sz="2000" spc="240" dirty="0">
                <a:solidFill>
                  <a:srgbClr val="FFFFFF"/>
                </a:solidFill>
                <a:latin typeface="Arial MT"/>
                <a:cs typeface="Arial MT"/>
              </a:rPr>
              <a:t>a</a:t>
            </a:r>
            <a:r>
              <a:rPr sz="2000" spc="10" dirty="0">
                <a:solidFill>
                  <a:srgbClr val="FFFFFF"/>
                </a:solidFill>
                <a:latin typeface="Arial MT"/>
                <a:cs typeface="Arial MT"/>
              </a:rPr>
              <a:t> </a:t>
            </a:r>
            <a:r>
              <a:rPr sz="2000" dirty="0">
                <a:solidFill>
                  <a:srgbClr val="FFFFFF"/>
                </a:solidFill>
                <a:latin typeface="Arial MT"/>
                <a:cs typeface="Arial MT"/>
              </a:rPr>
              <a:t>file</a:t>
            </a:r>
            <a:r>
              <a:rPr sz="2000" spc="20" dirty="0">
                <a:solidFill>
                  <a:srgbClr val="FFFFFF"/>
                </a:solidFill>
                <a:latin typeface="Arial MT"/>
                <a:cs typeface="Arial MT"/>
              </a:rPr>
              <a:t> </a:t>
            </a:r>
            <a:r>
              <a:rPr sz="2000" spc="65" dirty="0">
                <a:solidFill>
                  <a:srgbClr val="FFFFFF"/>
                </a:solidFill>
                <a:latin typeface="Arial MT"/>
                <a:cs typeface="Arial MT"/>
              </a:rPr>
              <a:t>efficiently.</a:t>
            </a:r>
            <a:endParaRPr sz="2000">
              <a:latin typeface="Arial MT"/>
              <a:cs typeface="Arial MT"/>
            </a:endParaRPr>
          </a:p>
        </p:txBody>
      </p:sp>
      <p:sp>
        <p:nvSpPr>
          <p:cNvPr id="14" name="object 1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10</a:t>
            </a:fld>
            <a:endParaRPr spc="-25" dirty="0"/>
          </a:p>
        </p:txBody>
      </p:sp>
      <p:sp>
        <p:nvSpPr>
          <p:cNvPr id="15" name="object 1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6" name="object 1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75" dirty="0"/>
              <a:t>Writing</a:t>
            </a:r>
            <a:r>
              <a:rPr spc="-105" dirty="0"/>
              <a:t> </a:t>
            </a:r>
            <a:r>
              <a:rPr spc="-229" dirty="0"/>
              <a:t>Text</a:t>
            </a:r>
            <a:r>
              <a:rPr spc="-105" dirty="0"/>
              <a:t> </a:t>
            </a:r>
            <a:r>
              <a:rPr spc="-290" dirty="0"/>
              <a:t>Files</a:t>
            </a:r>
            <a:r>
              <a:rPr spc="-110" dirty="0"/>
              <a:t> </a:t>
            </a:r>
            <a:r>
              <a:rPr spc="70" dirty="0"/>
              <a:t>[3-</a:t>
            </a:r>
            <a:r>
              <a:rPr spc="-25" dirty="0"/>
              <a:t>3]</a:t>
            </a:r>
          </a:p>
        </p:txBody>
      </p:sp>
      <p:sp>
        <p:nvSpPr>
          <p:cNvPr id="3" name="object 3"/>
          <p:cNvSpPr txBox="1"/>
          <p:nvPr/>
        </p:nvSpPr>
        <p:spPr>
          <a:xfrm>
            <a:off x="1084580" y="1871896"/>
            <a:ext cx="9999345" cy="2282190"/>
          </a:xfrm>
          <a:prstGeom prst="rect">
            <a:avLst/>
          </a:prstGeom>
        </p:spPr>
        <p:txBody>
          <a:bodyPr vert="horz" wrap="square" lIns="0" tIns="12700" rIns="0" bIns="0" rtlCol="0">
            <a:spAutoFit/>
          </a:bodyPr>
          <a:lstStyle/>
          <a:p>
            <a:pPr marL="12700">
              <a:lnSpc>
                <a:spcPct val="100000"/>
              </a:lnSpc>
              <a:spcBef>
                <a:spcPts val="100"/>
              </a:spcBef>
            </a:pPr>
            <a:r>
              <a:rPr sz="2800" b="1" spc="-70" dirty="0">
                <a:solidFill>
                  <a:srgbClr val="404040"/>
                </a:solidFill>
                <a:latin typeface="Arial"/>
                <a:cs typeface="Arial"/>
              </a:rPr>
              <a:t>Writing</a:t>
            </a:r>
            <a:r>
              <a:rPr sz="2800" b="1" spc="-75" dirty="0">
                <a:solidFill>
                  <a:srgbClr val="404040"/>
                </a:solidFill>
                <a:latin typeface="Arial"/>
                <a:cs typeface="Arial"/>
              </a:rPr>
              <a:t> </a:t>
            </a:r>
            <a:r>
              <a:rPr sz="2800" b="1" dirty="0">
                <a:solidFill>
                  <a:srgbClr val="404040"/>
                </a:solidFill>
                <a:latin typeface="Arial"/>
                <a:cs typeface="Arial"/>
              </a:rPr>
              <a:t>to</a:t>
            </a:r>
            <a:r>
              <a:rPr sz="2800" b="1" spc="-85" dirty="0">
                <a:solidFill>
                  <a:srgbClr val="404040"/>
                </a:solidFill>
                <a:latin typeface="Arial"/>
                <a:cs typeface="Arial"/>
              </a:rPr>
              <a:t> </a:t>
            </a:r>
            <a:r>
              <a:rPr sz="2800" b="1" spc="280" dirty="0">
                <a:solidFill>
                  <a:srgbClr val="404040"/>
                </a:solidFill>
                <a:latin typeface="Arial"/>
                <a:cs typeface="Arial"/>
              </a:rPr>
              <a:t>a</a:t>
            </a:r>
            <a:r>
              <a:rPr sz="2800" b="1" spc="-80" dirty="0">
                <a:solidFill>
                  <a:srgbClr val="404040"/>
                </a:solidFill>
                <a:latin typeface="Arial"/>
                <a:cs typeface="Arial"/>
              </a:rPr>
              <a:t> </a:t>
            </a:r>
            <a:r>
              <a:rPr sz="2800" b="1" spc="-60" dirty="0">
                <a:solidFill>
                  <a:srgbClr val="404040"/>
                </a:solidFill>
                <a:latin typeface="Arial"/>
                <a:cs typeface="Arial"/>
              </a:rPr>
              <a:t>File</a:t>
            </a:r>
            <a:r>
              <a:rPr sz="2800" b="1" spc="-75" dirty="0">
                <a:solidFill>
                  <a:srgbClr val="404040"/>
                </a:solidFill>
                <a:latin typeface="Arial"/>
                <a:cs typeface="Arial"/>
              </a:rPr>
              <a:t> </a:t>
            </a:r>
            <a:r>
              <a:rPr sz="2800" b="1" dirty="0">
                <a:solidFill>
                  <a:srgbClr val="404040"/>
                </a:solidFill>
                <a:latin typeface="Arial"/>
                <a:cs typeface="Arial"/>
              </a:rPr>
              <a:t>with</a:t>
            </a:r>
            <a:r>
              <a:rPr sz="2800" b="1" spc="-90" dirty="0">
                <a:solidFill>
                  <a:srgbClr val="404040"/>
                </a:solidFill>
                <a:latin typeface="Arial"/>
                <a:cs typeface="Arial"/>
              </a:rPr>
              <a:t> </a:t>
            </a:r>
            <a:r>
              <a:rPr sz="2800" b="1" spc="-10" dirty="0">
                <a:solidFill>
                  <a:srgbClr val="404040"/>
                </a:solidFill>
                <a:latin typeface="Arial"/>
                <a:cs typeface="Arial"/>
              </a:rPr>
              <a:t>Formatting</a:t>
            </a:r>
            <a:endParaRPr sz="2800">
              <a:latin typeface="Arial"/>
              <a:cs typeface="Arial"/>
            </a:endParaRPr>
          </a:p>
          <a:p>
            <a:pPr marL="104139" marR="5080" indent="-95885">
              <a:lnSpc>
                <a:spcPct val="100000"/>
              </a:lnSpc>
              <a:spcBef>
                <a:spcPts val="2410"/>
              </a:spcBef>
              <a:buClr>
                <a:srgbClr val="E38312"/>
              </a:buClr>
              <a:buSzPct val="95000"/>
              <a:buFont typeface="Wingdings"/>
              <a:buChar char=""/>
              <a:tabLst>
                <a:tab pos="104139" algn="l"/>
                <a:tab pos="213360" algn="l"/>
              </a:tabLst>
            </a:pPr>
            <a:r>
              <a:rPr sz="2000" dirty="0">
                <a:solidFill>
                  <a:srgbClr val="404040"/>
                </a:solidFill>
                <a:latin typeface="Arial MT"/>
                <a:cs typeface="Arial MT"/>
              </a:rPr>
              <a:t>	Writing</a:t>
            </a:r>
            <a:r>
              <a:rPr sz="2000" spc="60" dirty="0">
                <a:solidFill>
                  <a:srgbClr val="404040"/>
                </a:solidFill>
                <a:latin typeface="Arial MT"/>
                <a:cs typeface="Arial MT"/>
              </a:rPr>
              <a:t> </a:t>
            </a:r>
            <a:r>
              <a:rPr sz="2000" dirty="0">
                <a:solidFill>
                  <a:srgbClr val="404040"/>
                </a:solidFill>
                <a:latin typeface="Arial MT"/>
                <a:cs typeface="Arial MT"/>
              </a:rPr>
              <a:t>in</a:t>
            </a:r>
            <a:r>
              <a:rPr sz="2000" spc="55" dirty="0">
                <a:solidFill>
                  <a:srgbClr val="404040"/>
                </a:solidFill>
                <a:latin typeface="Arial MT"/>
                <a:cs typeface="Arial MT"/>
              </a:rPr>
              <a:t> </a:t>
            </a:r>
            <a:r>
              <a:rPr sz="2000" spc="240" dirty="0">
                <a:solidFill>
                  <a:srgbClr val="404040"/>
                </a:solidFill>
                <a:latin typeface="Arial MT"/>
                <a:cs typeface="Arial MT"/>
              </a:rPr>
              <a:t>a</a:t>
            </a:r>
            <a:r>
              <a:rPr sz="2000" spc="45" dirty="0">
                <a:solidFill>
                  <a:srgbClr val="404040"/>
                </a:solidFill>
                <a:latin typeface="Arial MT"/>
                <a:cs typeface="Arial MT"/>
              </a:rPr>
              <a:t> </a:t>
            </a:r>
            <a:r>
              <a:rPr sz="2000" spc="145" dirty="0">
                <a:solidFill>
                  <a:srgbClr val="404040"/>
                </a:solidFill>
                <a:latin typeface="Arial MT"/>
                <a:cs typeface="Arial MT"/>
              </a:rPr>
              <a:t>formatted</a:t>
            </a:r>
            <a:r>
              <a:rPr sz="2000" spc="55" dirty="0">
                <a:solidFill>
                  <a:srgbClr val="404040"/>
                </a:solidFill>
                <a:latin typeface="Arial MT"/>
                <a:cs typeface="Arial MT"/>
              </a:rPr>
              <a:t> </a:t>
            </a:r>
            <a:r>
              <a:rPr sz="2000" spc="175" dirty="0">
                <a:solidFill>
                  <a:srgbClr val="404040"/>
                </a:solidFill>
                <a:latin typeface="Arial MT"/>
                <a:cs typeface="Arial MT"/>
              </a:rPr>
              <a:t>document</a:t>
            </a:r>
            <a:r>
              <a:rPr sz="2000" spc="80" dirty="0">
                <a:solidFill>
                  <a:srgbClr val="404040"/>
                </a:solidFill>
                <a:latin typeface="Arial MT"/>
                <a:cs typeface="Arial MT"/>
              </a:rPr>
              <a:t> </a:t>
            </a:r>
            <a:r>
              <a:rPr sz="2000" dirty="0">
                <a:solidFill>
                  <a:srgbClr val="404040"/>
                </a:solidFill>
                <a:latin typeface="Arial MT"/>
                <a:cs typeface="Arial MT"/>
              </a:rPr>
              <a:t>helps</a:t>
            </a:r>
            <a:r>
              <a:rPr sz="2000" spc="60" dirty="0">
                <a:solidFill>
                  <a:srgbClr val="404040"/>
                </a:solidFill>
                <a:latin typeface="Arial MT"/>
                <a:cs typeface="Arial MT"/>
              </a:rPr>
              <a:t> </a:t>
            </a:r>
            <a:r>
              <a:rPr sz="2000" spc="155" dirty="0">
                <a:solidFill>
                  <a:srgbClr val="404040"/>
                </a:solidFill>
                <a:latin typeface="Arial MT"/>
                <a:cs typeface="Arial MT"/>
              </a:rPr>
              <a:t>to</a:t>
            </a:r>
            <a:r>
              <a:rPr sz="2000" spc="50" dirty="0">
                <a:solidFill>
                  <a:srgbClr val="404040"/>
                </a:solidFill>
                <a:latin typeface="Arial MT"/>
                <a:cs typeface="Arial MT"/>
              </a:rPr>
              <a:t> </a:t>
            </a:r>
            <a:r>
              <a:rPr sz="2000" spc="245" dirty="0">
                <a:solidFill>
                  <a:srgbClr val="404040"/>
                </a:solidFill>
                <a:latin typeface="Arial MT"/>
                <a:cs typeface="Arial MT"/>
              </a:rPr>
              <a:t>add</a:t>
            </a:r>
            <a:r>
              <a:rPr sz="2000" spc="65" dirty="0">
                <a:solidFill>
                  <a:srgbClr val="404040"/>
                </a:solidFill>
                <a:latin typeface="Arial MT"/>
                <a:cs typeface="Arial MT"/>
              </a:rPr>
              <a:t> </a:t>
            </a:r>
            <a:r>
              <a:rPr sz="2000" spc="60" dirty="0">
                <a:solidFill>
                  <a:srgbClr val="404040"/>
                </a:solidFill>
                <a:latin typeface="Arial MT"/>
                <a:cs typeface="Arial MT"/>
              </a:rPr>
              <a:t>variables</a:t>
            </a:r>
            <a:r>
              <a:rPr sz="2000" spc="55" dirty="0">
                <a:solidFill>
                  <a:srgbClr val="404040"/>
                </a:solidFill>
                <a:latin typeface="Arial MT"/>
                <a:cs typeface="Arial MT"/>
              </a:rPr>
              <a:t> </a:t>
            </a:r>
            <a:r>
              <a:rPr sz="2000" spc="195" dirty="0">
                <a:solidFill>
                  <a:srgbClr val="404040"/>
                </a:solidFill>
                <a:latin typeface="Arial MT"/>
                <a:cs typeface="Arial MT"/>
              </a:rPr>
              <a:t>and</a:t>
            </a:r>
            <a:r>
              <a:rPr sz="2000" spc="65" dirty="0">
                <a:solidFill>
                  <a:srgbClr val="404040"/>
                </a:solidFill>
                <a:latin typeface="Arial MT"/>
                <a:cs typeface="Arial MT"/>
              </a:rPr>
              <a:t> </a:t>
            </a:r>
            <a:r>
              <a:rPr sz="2000" spc="155" dirty="0">
                <a:solidFill>
                  <a:srgbClr val="404040"/>
                </a:solidFill>
                <a:latin typeface="Arial MT"/>
                <a:cs typeface="Arial MT"/>
              </a:rPr>
              <a:t>dynamic</a:t>
            </a:r>
            <a:r>
              <a:rPr sz="2000" spc="75" dirty="0">
                <a:solidFill>
                  <a:srgbClr val="404040"/>
                </a:solidFill>
                <a:latin typeface="Arial MT"/>
                <a:cs typeface="Arial MT"/>
              </a:rPr>
              <a:t> </a:t>
            </a:r>
            <a:r>
              <a:rPr sz="2000" spc="70" dirty="0">
                <a:solidFill>
                  <a:srgbClr val="404040"/>
                </a:solidFill>
                <a:latin typeface="Arial MT"/>
                <a:cs typeface="Arial MT"/>
              </a:rPr>
              <a:t>elements </a:t>
            </a:r>
            <a:r>
              <a:rPr sz="2000" spc="155" dirty="0">
                <a:solidFill>
                  <a:srgbClr val="404040"/>
                </a:solidFill>
                <a:latin typeface="Arial MT"/>
                <a:cs typeface="Arial MT"/>
              </a:rPr>
              <a:t>to</a:t>
            </a:r>
            <a:r>
              <a:rPr sz="2000" dirty="0">
                <a:solidFill>
                  <a:srgbClr val="404040"/>
                </a:solidFill>
                <a:latin typeface="Arial MT"/>
                <a:cs typeface="Arial MT"/>
              </a:rPr>
              <a:t> </a:t>
            </a:r>
            <a:r>
              <a:rPr sz="2000" spc="130" dirty="0">
                <a:solidFill>
                  <a:srgbClr val="404040"/>
                </a:solidFill>
                <a:latin typeface="Arial MT"/>
                <a:cs typeface="Arial MT"/>
              </a:rPr>
              <a:t>the</a:t>
            </a:r>
            <a:r>
              <a:rPr sz="2000" spc="5" dirty="0">
                <a:solidFill>
                  <a:srgbClr val="404040"/>
                </a:solidFill>
                <a:latin typeface="Arial MT"/>
                <a:cs typeface="Arial MT"/>
              </a:rPr>
              <a:t> </a:t>
            </a:r>
            <a:r>
              <a:rPr sz="2000" spc="55" dirty="0">
                <a:solidFill>
                  <a:srgbClr val="404040"/>
                </a:solidFill>
                <a:latin typeface="Arial MT"/>
                <a:cs typeface="Arial MT"/>
              </a:rPr>
              <a:t>text.</a:t>
            </a:r>
            <a:endParaRPr sz="2000">
              <a:latin typeface="Arial MT"/>
              <a:cs typeface="Arial MT"/>
            </a:endParaRPr>
          </a:p>
          <a:p>
            <a:pPr>
              <a:lnSpc>
                <a:spcPct val="100000"/>
              </a:lnSpc>
              <a:spcBef>
                <a:spcPts val="95"/>
              </a:spcBef>
              <a:buClr>
                <a:srgbClr val="E38312"/>
              </a:buClr>
              <a:buFont typeface="Wingdings"/>
              <a:buChar char=""/>
            </a:pPr>
            <a:endParaRPr sz="2000">
              <a:latin typeface="Arial MT"/>
              <a:cs typeface="Arial MT"/>
            </a:endParaRPr>
          </a:p>
          <a:p>
            <a:pPr marL="104139" marR="297180" indent="-95885">
              <a:lnSpc>
                <a:spcPct val="100000"/>
              </a:lnSpc>
              <a:buClr>
                <a:srgbClr val="E38312"/>
              </a:buClr>
              <a:buSzPct val="95000"/>
              <a:buFont typeface="Wingdings"/>
              <a:buChar char=""/>
              <a:tabLst>
                <a:tab pos="104139" algn="l"/>
                <a:tab pos="213360" algn="l"/>
              </a:tabLst>
            </a:pPr>
            <a:r>
              <a:rPr sz="2000" spc="-145" dirty="0">
                <a:solidFill>
                  <a:srgbClr val="404040"/>
                </a:solidFill>
                <a:latin typeface="Arial MT"/>
                <a:cs typeface="Arial MT"/>
              </a:rPr>
              <a:t>	This</a:t>
            </a:r>
            <a:r>
              <a:rPr sz="2000" spc="15" dirty="0">
                <a:solidFill>
                  <a:srgbClr val="404040"/>
                </a:solidFill>
                <a:latin typeface="Arial MT"/>
                <a:cs typeface="Arial MT"/>
              </a:rPr>
              <a:t> </a:t>
            </a:r>
            <a:r>
              <a:rPr sz="2000" spc="204" dirty="0">
                <a:solidFill>
                  <a:srgbClr val="404040"/>
                </a:solidFill>
                <a:latin typeface="Arial MT"/>
                <a:cs typeface="Arial MT"/>
              </a:rPr>
              <a:t>can</a:t>
            </a:r>
            <a:r>
              <a:rPr sz="2000" spc="35" dirty="0">
                <a:solidFill>
                  <a:srgbClr val="404040"/>
                </a:solidFill>
                <a:latin typeface="Arial MT"/>
                <a:cs typeface="Arial MT"/>
              </a:rPr>
              <a:t> </a:t>
            </a:r>
            <a:r>
              <a:rPr sz="2000" spc="210" dirty="0">
                <a:solidFill>
                  <a:srgbClr val="404040"/>
                </a:solidFill>
                <a:latin typeface="Arial MT"/>
                <a:cs typeface="Arial MT"/>
              </a:rPr>
              <a:t>be</a:t>
            </a:r>
            <a:r>
              <a:rPr sz="2000" spc="20" dirty="0">
                <a:solidFill>
                  <a:srgbClr val="404040"/>
                </a:solidFill>
                <a:latin typeface="Arial MT"/>
                <a:cs typeface="Arial MT"/>
              </a:rPr>
              <a:t> </a:t>
            </a:r>
            <a:r>
              <a:rPr sz="2000" spc="155" dirty="0">
                <a:solidFill>
                  <a:srgbClr val="404040"/>
                </a:solidFill>
                <a:latin typeface="Arial MT"/>
                <a:cs typeface="Arial MT"/>
              </a:rPr>
              <a:t>achieved</a:t>
            </a:r>
            <a:r>
              <a:rPr sz="2000" spc="50" dirty="0">
                <a:solidFill>
                  <a:srgbClr val="404040"/>
                </a:solidFill>
                <a:latin typeface="Arial MT"/>
                <a:cs typeface="Arial MT"/>
              </a:rPr>
              <a:t> </a:t>
            </a:r>
            <a:r>
              <a:rPr sz="2000" spc="105" dirty="0">
                <a:solidFill>
                  <a:srgbClr val="404040"/>
                </a:solidFill>
                <a:latin typeface="Arial MT"/>
                <a:cs typeface="Arial MT"/>
              </a:rPr>
              <a:t>through</a:t>
            </a:r>
            <a:r>
              <a:rPr sz="2000" spc="40" dirty="0">
                <a:solidFill>
                  <a:srgbClr val="404040"/>
                </a:solidFill>
                <a:latin typeface="Arial MT"/>
                <a:cs typeface="Arial MT"/>
              </a:rPr>
              <a:t> </a:t>
            </a:r>
            <a:r>
              <a:rPr sz="2000" dirty="0">
                <a:solidFill>
                  <a:srgbClr val="404040"/>
                </a:solidFill>
                <a:latin typeface="Arial MT"/>
                <a:cs typeface="Arial MT"/>
              </a:rPr>
              <a:t>string</a:t>
            </a:r>
            <a:r>
              <a:rPr sz="2000" spc="25" dirty="0">
                <a:solidFill>
                  <a:srgbClr val="404040"/>
                </a:solidFill>
                <a:latin typeface="Arial MT"/>
                <a:cs typeface="Arial MT"/>
              </a:rPr>
              <a:t> </a:t>
            </a:r>
            <a:r>
              <a:rPr sz="2000" spc="100" dirty="0">
                <a:solidFill>
                  <a:srgbClr val="404040"/>
                </a:solidFill>
                <a:latin typeface="Arial MT"/>
                <a:cs typeface="Arial MT"/>
              </a:rPr>
              <a:t>formatting.</a:t>
            </a:r>
            <a:r>
              <a:rPr sz="2000" spc="30" dirty="0">
                <a:solidFill>
                  <a:srgbClr val="404040"/>
                </a:solidFill>
                <a:latin typeface="Arial MT"/>
                <a:cs typeface="Arial MT"/>
              </a:rPr>
              <a:t> </a:t>
            </a:r>
            <a:r>
              <a:rPr sz="2000" dirty="0">
                <a:solidFill>
                  <a:srgbClr val="404040"/>
                </a:solidFill>
                <a:latin typeface="Arial MT"/>
                <a:cs typeface="Arial MT"/>
              </a:rPr>
              <a:t>Two</a:t>
            </a:r>
            <a:r>
              <a:rPr sz="2000" spc="20" dirty="0">
                <a:solidFill>
                  <a:srgbClr val="404040"/>
                </a:solidFill>
                <a:latin typeface="Arial MT"/>
                <a:cs typeface="Arial MT"/>
              </a:rPr>
              <a:t> </a:t>
            </a:r>
            <a:r>
              <a:rPr sz="2000" spc="190" dirty="0">
                <a:solidFill>
                  <a:srgbClr val="404040"/>
                </a:solidFill>
                <a:latin typeface="Arial MT"/>
                <a:cs typeface="Arial MT"/>
              </a:rPr>
              <a:t>common</a:t>
            </a:r>
            <a:r>
              <a:rPr sz="2000" spc="55" dirty="0">
                <a:solidFill>
                  <a:srgbClr val="404040"/>
                </a:solidFill>
                <a:latin typeface="Arial MT"/>
                <a:cs typeface="Arial MT"/>
              </a:rPr>
              <a:t> </a:t>
            </a:r>
            <a:r>
              <a:rPr sz="2000" spc="140" dirty="0">
                <a:solidFill>
                  <a:srgbClr val="404040"/>
                </a:solidFill>
                <a:latin typeface="Arial MT"/>
                <a:cs typeface="Arial MT"/>
              </a:rPr>
              <a:t>approaches</a:t>
            </a:r>
            <a:r>
              <a:rPr sz="2000" spc="40" dirty="0">
                <a:solidFill>
                  <a:srgbClr val="404040"/>
                </a:solidFill>
                <a:latin typeface="Arial MT"/>
                <a:cs typeface="Arial MT"/>
              </a:rPr>
              <a:t> </a:t>
            </a:r>
            <a:r>
              <a:rPr sz="2000" spc="130" dirty="0">
                <a:solidFill>
                  <a:srgbClr val="404040"/>
                </a:solidFill>
                <a:latin typeface="Arial MT"/>
                <a:cs typeface="Arial MT"/>
              </a:rPr>
              <a:t>to </a:t>
            </a:r>
            <a:r>
              <a:rPr sz="2000" dirty="0">
                <a:solidFill>
                  <a:srgbClr val="404040"/>
                </a:solidFill>
                <a:latin typeface="Arial MT"/>
                <a:cs typeface="Arial MT"/>
              </a:rPr>
              <a:t>string</a:t>
            </a:r>
            <a:r>
              <a:rPr sz="2000" spc="25" dirty="0">
                <a:solidFill>
                  <a:srgbClr val="404040"/>
                </a:solidFill>
                <a:latin typeface="Arial MT"/>
                <a:cs typeface="Arial MT"/>
              </a:rPr>
              <a:t> </a:t>
            </a:r>
            <a:r>
              <a:rPr sz="2000" spc="114" dirty="0">
                <a:solidFill>
                  <a:srgbClr val="404040"/>
                </a:solidFill>
                <a:latin typeface="Arial MT"/>
                <a:cs typeface="Arial MT"/>
              </a:rPr>
              <a:t>formatting</a:t>
            </a:r>
            <a:r>
              <a:rPr sz="2000" spc="25" dirty="0">
                <a:solidFill>
                  <a:srgbClr val="404040"/>
                </a:solidFill>
                <a:latin typeface="Arial MT"/>
                <a:cs typeface="Arial MT"/>
              </a:rPr>
              <a:t> </a:t>
            </a:r>
            <a:r>
              <a:rPr sz="2000" dirty="0">
                <a:solidFill>
                  <a:srgbClr val="404040"/>
                </a:solidFill>
                <a:latin typeface="Arial MT"/>
                <a:cs typeface="Arial MT"/>
              </a:rPr>
              <a:t>in</a:t>
            </a:r>
            <a:r>
              <a:rPr sz="2000" spc="25" dirty="0">
                <a:solidFill>
                  <a:srgbClr val="404040"/>
                </a:solidFill>
                <a:latin typeface="Arial MT"/>
                <a:cs typeface="Arial MT"/>
              </a:rPr>
              <a:t> </a:t>
            </a:r>
            <a:r>
              <a:rPr sz="2000" spc="70" dirty="0">
                <a:solidFill>
                  <a:srgbClr val="404040"/>
                </a:solidFill>
                <a:latin typeface="Arial MT"/>
                <a:cs typeface="Arial MT"/>
              </a:rPr>
              <a:t>Python</a:t>
            </a:r>
            <a:r>
              <a:rPr sz="2000" spc="35" dirty="0">
                <a:solidFill>
                  <a:srgbClr val="404040"/>
                </a:solidFill>
                <a:latin typeface="Arial MT"/>
                <a:cs typeface="Arial MT"/>
              </a:rPr>
              <a:t> </a:t>
            </a:r>
            <a:r>
              <a:rPr sz="2000" spc="114" dirty="0">
                <a:solidFill>
                  <a:srgbClr val="404040"/>
                </a:solidFill>
                <a:latin typeface="Arial MT"/>
                <a:cs typeface="Arial MT"/>
              </a:rPr>
              <a:t>are</a:t>
            </a:r>
            <a:r>
              <a:rPr sz="2000" spc="15" dirty="0">
                <a:solidFill>
                  <a:srgbClr val="404040"/>
                </a:solidFill>
                <a:latin typeface="Arial MT"/>
                <a:cs typeface="Arial MT"/>
              </a:rPr>
              <a:t> </a:t>
            </a:r>
            <a:r>
              <a:rPr sz="2000" dirty="0">
                <a:solidFill>
                  <a:srgbClr val="404040"/>
                </a:solidFill>
                <a:latin typeface="Arial MT"/>
                <a:cs typeface="Arial MT"/>
              </a:rPr>
              <a:t>as</a:t>
            </a:r>
            <a:r>
              <a:rPr sz="2000" spc="20" dirty="0">
                <a:solidFill>
                  <a:srgbClr val="404040"/>
                </a:solidFill>
                <a:latin typeface="Arial MT"/>
                <a:cs typeface="Arial MT"/>
              </a:rPr>
              <a:t> </a:t>
            </a:r>
            <a:r>
              <a:rPr sz="2000" spc="-10" dirty="0">
                <a:solidFill>
                  <a:srgbClr val="404040"/>
                </a:solidFill>
                <a:latin typeface="Arial MT"/>
                <a:cs typeface="Arial MT"/>
              </a:rPr>
              <a:t>follows:</a:t>
            </a:r>
            <a:endParaRPr sz="2000">
              <a:latin typeface="Arial MT"/>
              <a:cs typeface="Arial MT"/>
            </a:endParaRPr>
          </a:p>
        </p:txBody>
      </p:sp>
      <p:grpSp>
        <p:nvGrpSpPr>
          <p:cNvPr id="4" name="object 4"/>
          <p:cNvGrpSpPr/>
          <p:nvPr/>
        </p:nvGrpSpPr>
        <p:grpSpPr>
          <a:xfrm>
            <a:off x="3083814" y="4411217"/>
            <a:ext cx="6015990" cy="1612900"/>
            <a:chOff x="3083814" y="4411217"/>
            <a:chExt cx="6015990" cy="1612900"/>
          </a:xfrm>
        </p:grpSpPr>
        <p:pic>
          <p:nvPicPr>
            <p:cNvPr id="5" name="object 5"/>
            <p:cNvPicPr/>
            <p:nvPr/>
          </p:nvPicPr>
          <p:blipFill>
            <a:blip r:embed="rId3" cstate="print"/>
            <a:stretch>
              <a:fillRect/>
            </a:stretch>
          </p:blipFill>
          <p:spPr>
            <a:xfrm>
              <a:off x="3083814" y="4411217"/>
              <a:ext cx="6015990" cy="791717"/>
            </a:xfrm>
            <a:prstGeom prst="rect">
              <a:avLst/>
            </a:prstGeom>
          </p:spPr>
        </p:pic>
        <p:pic>
          <p:nvPicPr>
            <p:cNvPr id="6" name="object 6"/>
            <p:cNvPicPr/>
            <p:nvPr/>
          </p:nvPicPr>
          <p:blipFill>
            <a:blip r:embed="rId4" cstate="print"/>
            <a:stretch>
              <a:fillRect/>
            </a:stretch>
          </p:blipFill>
          <p:spPr>
            <a:xfrm>
              <a:off x="3083814" y="5231892"/>
              <a:ext cx="6015990" cy="791717"/>
            </a:xfrm>
            <a:prstGeom prst="rect">
              <a:avLst/>
            </a:prstGeom>
          </p:spPr>
        </p:pic>
      </p:grpSp>
      <p:sp>
        <p:nvSpPr>
          <p:cNvPr id="7" name="object 7"/>
          <p:cNvSpPr txBox="1"/>
          <p:nvPr/>
        </p:nvSpPr>
        <p:spPr>
          <a:xfrm>
            <a:off x="3248552" y="4607293"/>
            <a:ext cx="4343400" cy="1151255"/>
          </a:xfrm>
          <a:prstGeom prst="rect">
            <a:avLst/>
          </a:prstGeom>
        </p:spPr>
        <p:txBody>
          <a:bodyPr vert="horz" wrap="square" lIns="0" tIns="12065" rIns="0" bIns="0" rtlCol="0">
            <a:spAutoFit/>
          </a:bodyPr>
          <a:lstStyle/>
          <a:p>
            <a:pPr marL="12700">
              <a:lnSpc>
                <a:spcPct val="100000"/>
              </a:lnSpc>
              <a:spcBef>
                <a:spcPts val="95"/>
              </a:spcBef>
            </a:pPr>
            <a:r>
              <a:rPr sz="2000" b="1" spc="-45" dirty="0">
                <a:solidFill>
                  <a:srgbClr val="FFFFFF"/>
                </a:solidFill>
                <a:latin typeface="Arial"/>
                <a:cs typeface="Arial"/>
              </a:rPr>
              <a:t>Writing</a:t>
            </a:r>
            <a:r>
              <a:rPr sz="2000" b="1" spc="-50" dirty="0">
                <a:solidFill>
                  <a:srgbClr val="FFFFFF"/>
                </a:solidFill>
                <a:latin typeface="Arial"/>
                <a:cs typeface="Arial"/>
              </a:rPr>
              <a:t> </a:t>
            </a:r>
            <a:r>
              <a:rPr sz="2000" b="1" spc="65" dirty="0">
                <a:solidFill>
                  <a:srgbClr val="FFFFFF"/>
                </a:solidFill>
                <a:latin typeface="Arial"/>
                <a:cs typeface="Arial"/>
              </a:rPr>
              <a:t>Data</a:t>
            </a:r>
            <a:r>
              <a:rPr sz="2000" b="1" spc="-45" dirty="0">
                <a:solidFill>
                  <a:srgbClr val="FFFFFF"/>
                </a:solidFill>
                <a:latin typeface="Arial"/>
                <a:cs typeface="Arial"/>
              </a:rPr>
              <a:t> </a:t>
            </a:r>
            <a:r>
              <a:rPr sz="2000" b="1" spc="-40" dirty="0">
                <a:solidFill>
                  <a:srgbClr val="FFFFFF"/>
                </a:solidFill>
                <a:latin typeface="Arial"/>
                <a:cs typeface="Arial"/>
              </a:rPr>
              <a:t>using</a:t>
            </a:r>
            <a:r>
              <a:rPr sz="2000" b="1" spc="-45" dirty="0">
                <a:solidFill>
                  <a:srgbClr val="FFFFFF"/>
                </a:solidFill>
                <a:latin typeface="Arial"/>
                <a:cs typeface="Arial"/>
              </a:rPr>
              <a:t> </a:t>
            </a:r>
            <a:r>
              <a:rPr sz="2000" b="1" dirty="0">
                <a:solidFill>
                  <a:srgbClr val="FFFFFF"/>
                </a:solidFill>
                <a:latin typeface="Arial"/>
                <a:cs typeface="Arial"/>
              </a:rPr>
              <a:t>Array</a:t>
            </a:r>
            <a:r>
              <a:rPr sz="2000" b="1" spc="-45" dirty="0">
                <a:solidFill>
                  <a:srgbClr val="FFFFFF"/>
                </a:solidFill>
                <a:latin typeface="Arial"/>
                <a:cs typeface="Arial"/>
              </a:rPr>
              <a:t> </a:t>
            </a:r>
            <a:r>
              <a:rPr sz="2000" b="1" spc="-10" dirty="0">
                <a:solidFill>
                  <a:srgbClr val="FFFFFF"/>
                </a:solidFill>
                <a:latin typeface="Arial"/>
                <a:cs typeface="Arial"/>
              </a:rPr>
              <a:t>Formatting</a:t>
            </a:r>
            <a:endParaRPr sz="2000">
              <a:latin typeface="Arial"/>
              <a:cs typeface="Arial"/>
            </a:endParaRPr>
          </a:p>
          <a:p>
            <a:pPr>
              <a:lnSpc>
                <a:spcPct val="100000"/>
              </a:lnSpc>
              <a:spcBef>
                <a:spcPts val="1764"/>
              </a:spcBef>
            </a:pPr>
            <a:endParaRPr sz="2000">
              <a:latin typeface="Arial"/>
              <a:cs typeface="Arial"/>
            </a:endParaRPr>
          </a:p>
          <a:p>
            <a:pPr marL="12700">
              <a:lnSpc>
                <a:spcPct val="100000"/>
              </a:lnSpc>
            </a:pPr>
            <a:r>
              <a:rPr sz="2000" b="1" spc="-45" dirty="0">
                <a:solidFill>
                  <a:srgbClr val="FFFFFF"/>
                </a:solidFill>
                <a:latin typeface="Arial"/>
                <a:cs typeface="Arial"/>
              </a:rPr>
              <a:t>Writing</a:t>
            </a:r>
            <a:r>
              <a:rPr sz="2000" b="1" spc="-40" dirty="0">
                <a:solidFill>
                  <a:srgbClr val="FFFFFF"/>
                </a:solidFill>
                <a:latin typeface="Arial"/>
                <a:cs typeface="Arial"/>
              </a:rPr>
              <a:t> </a:t>
            </a:r>
            <a:r>
              <a:rPr sz="2000" b="1" dirty="0">
                <a:solidFill>
                  <a:srgbClr val="FFFFFF"/>
                </a:solidFill>
                <a:latin typeface="Arial"/>
                <a:cs typeface="Arial"/>
              </a:rPr>
              <a:t>to</a:t>
            </a:r>
            <a:r>
              <a:rPr sz="2000" b="1" spc="-40" dirty="0">
                <a:solidFill>
                  <a:srgbClr val="FFFFFF"/>
                </a:solidFill>
                <a:latin typeface="Arial"/>
                <a:cs typeface="Arial"/>
              </a:rPr>
              <a:t> </a:t>
            </a:r>
            <a:r>
              <a:rPr sz="2000" b="1" spc="-95" dirty="0">
                <a:solidFill>
                  <a:srgbClr val="FFFFFF"/>
                </a:solidFill>
                <a:latin typeface="Arial"/>
                <a:cs typeface="Arial"/>
              </a:rPr>
              <a:t>Files</a:t>
            </a:r>
            <a:r>
              <a:rPr sz="2000" b="1" spc="-40" dirty="0">
                <a:solidFill>
                  <a:srgbClr val="FFFFFF"/>
                </a:solidFill>
                <a:latin typeface="Arial"/>
                <a:cs typeface="Arial"/>
              </a:rPr>
              <a:t> </a:t>
            </a:r>
            <a:r>
              <a:rPr sz="2000" b="1" spc="-75" dirty="0">
                <a:solidFill>
                  <a:srgbClr val="FFFFFF"/>
                </a:solidFill>
                <a:latin typeface="Arial"/>
                <a:cs typeface="Arial"/>
              </a:rPr>
              <a:t>Using</a:t>
            </a:r>
            <a:r>
              <a:rPr sz="2000" b="1" spc="-30" dirty="0">
                <a:solidFill>
                  <a:srgbClr val="FFFFFF"/>
                </a:solidFill>
                <a:latin typeface="Arial"/>
                <a:cs typeface="Arial"/>
              </a:rPr>
              <a:t> </a:t>
            </a:r>
            <a:r>
              <a:rPr sz="2000" b="1" spc="-60" dirty="0">
                <a:solidFill>
                  <a:srgbClr val="FFFFFF"/>
                </a:solidFill>
                <a:latin typeface="Arial"/>
                <a:cs typeface="Arial"/>
              </a:rPr>
              <a:t>F-</a:t>
            </a:r>
            <a:r>
              <a:rPr sz="2000" b="1" spc="-10" dirty="0">
                <a:solidFill>
                  <a:srgbClr val="FFFFFF"/>
                </a:solidFill>
                <a:latin typeface="Arial"/>
                <a:cs typeface="Arial"/>
              </a:rPr>
              <a:t>strings</a:t>
            </a:r>
            <a:endParaRPr sz="2000">
              <a:latin typeface="Arial"/>
              <a:cs typeface="Arial"/>
            </a:endParaRPr>
          </a:p>
        </p:txBody>
      </p:sp>
      <p:sp>
        <p:nvSpPr>
          <p:cNvPr id="8" name="object 8"/>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11</a:t>
            </a:fld>
            <a:endParaRPr spc="-25" dirty="0"/>
          </a:p>
        </p:txBody>
      </p:sp>
      <p:sp>
        <p:nvSpPr>
          <p:cNvPr id="9" name="object 9"/>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0" name="object 10"/>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40" dirty="0"/>
              <a:t>Summary</a:t>
            </a:r>
          </a:p>
        </p:txBody>
      </p:sp>
      <p:sp>
        <p:nvSpPr>
          <p:cNvPr id="4" name="object 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12</a:t>
            </a:fld>
            <a:endParaRPr spc="-25" dirty="0"/>
          </a:p>
        </p:txBody>
      </p:sp>
      <p:sp>
        <p:nvSpPr>
          <p:cNvPr id="5" name="object 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6" name="object 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
        <p:nvSpPr>
          <p:cNvPr id="3" name="object 3"/>
          <p:cNvSpPr txBox="1">
            <a:spLocks noGrp="1"/>
          </p:cNvSpPr>
          <p:nvPr>
            <p:ph type="body" idx="1"/>
          </p:nvPr>
        </p:nvSpPr>
        <p:spPr>
          <a:xfrm>
            <a:off x="838200" y="1825625"/>
            <a:ext cx="10515600" cy="4063677"/>
          </a:xfrm>
          <a:prstGeom prst="rect">
            <a:avLst/>
          </a:prstGeom>
        </p:spPr>
        <p:txBody>
          <a:bodyPr vert="horz" wrap="square" lIns="0" tIns="12700" rIns="0" bIns="0" rtlCol="0">
            <a:spAutoFit/>
          </a:bodyPr>
          <a:lstStyle/>
          <a:p>
            <a:pPr marL="104139" marR="5080" indent="-95885">
              <a:lnSpc>
                <a:spcPct val="106000"/>
              </a:lnSpc>
              <a:spcBef>
                <a:spcPts val="100"/>
              </a:spcBef>
              <a:buClr>
                <a:srgbClr val="E38312"/>
              </a:buClr>
              <a:buSzPct val="95000"/>
              <a:buFont typeface="Wingdings"/>
              <a:buChar char=""/>
              <a:tabLst>
                <a:tab pos="104139" algn="l"/>
                <a:tab pos="213360" algn="l"/>
              </a:tabLst>
            </a:pPr>
            <a:r>
              <a:rPr sz="2000" dirty="0"/>
              <a:t>	The</a:t>
            </a:r>
            <a:r>
              <a:rPr sz="2000" spc="100" dirty="0"/>
              <a:t> </a:t>
            </a:r>
            <a:r>
              <a:rPr sz="2000" spc="-20" dirty="0">
                <a:latin typeface="Courier New"/>
                <a:cs typeface="Courier New"/>
              </a:rPr>
              <a:t>open()</a:t>
            </a:r>
            <a:r>
              <a:rPr sz="2000" spc="-540" dirty="0">
                <a:latin typeface="Courier New"/>
                <a:cs typeface="Courier New"/>
              </a:rPr>
              <a:t> </a:t>
            </a:r>
            <a:r>
              <a:rPr sz="2000" spc="114" dirty="0"/>
              <a:t>function</a:t>
            </a:r>
            <a:r>
              <a:rPr sz="2000" spc="100" dirty="0"/>
              <a:t> </a:t>
            </a:r>
            <a:r>
              <a:rPr sz="2000" spc="-55" dirty="0"/>
              <a:t>is</a:t>
            </a:r>
            <a:r>
              <a:rPr sz="2000" spc="105" dirty="0"/>
              <a:t> </a:t>
            </a:r>
            <a:r>
              <a:rPr sz="2000" spc="70" dirty="0"/>
              <a:t>used</a:t>
            </a:r>
            <a:r>
              <a:rPr sz="2000" spc="100" dirty="0"/>
              <a:t> </a:t>
            </a:r>
            <a:r>
              <a:rPr sz="2000" spc="160" dirty="0"/>
              <a:t>to</a:t>
            </a:r>
            <a:r>
              <a:rPr sz="2000" spc="105" dirty="0"/>
              <a:t> </a:t>
            </a:r>
            <a:r>
              <a:rPr sz="2000" spc="85" dirty="0"/>
              <a:t>access</a:t>
            </a:r>
            <a:r>
              <a:rPr sz="2000" spc="105" dirty="0"/>
              <a:t> </a:t>
            </a:r>
            <a:r>
              <a:rPr sz="2000" spc="240" dirty="0"/>
              <a:t>a</a:t>
            </a:r>
            <a:r>
              <a:rPr sz="2000" spc="105" dirty="0"/>
              <a:t> </a:t>
            </a:r>
            <a:r>
              <a:rPr sz="2000" dirty="0"/>
              <a:t>file</a:t>
            </a:r>
            <a:r>
              <a:rPr sz="2000" spc="105" dirty="0"/>
              <a:t> </a:t>
            </a:r>
            <a:r>
              <a:rPr sz="2000" spc="130" dirty="0"/>
              <a:t>of</a:t>
            </a:r>
            <a:r>
              <a:rPr sz="2000" spc="95" dirty="0"/>
              <a:t> </a:t>
            </a:r>
            <a:r>
              <a:rPr sz="2000" spc="240" dirty="0"/>
              <a:t>a</a:t>
            </a:r>
            <a:r>
              <a:rPr sz="2000" spc="110" dirty="0"/>
              <a:t> certain</a:t>
            </a:r>
            <a:r>
              <a:rPr sz="2000" spc="105" dirty="0"/>
              <a:t> </a:t>
            </a:r>
            <a:r>
              <a:rPr sz="2000" spc="125" dirty="0"/>
              <a:t>format</a:t>
            </a:r>
            <a:r>
              <a:rPr sz="2000" spc="105" dirty="0"/>
              <a:t> </a:t>
            </a:r>
            <a:r>
              <a:rPr sz="2000" spc="155" dirty="0"/>
              <a:t>to</a:t>
            </a:r>
            <a:r>
              <a:rPr sz="2000" spc="105" dirty="0"/>
              <a:t> </a:t>
            </a:r>
            <a:r>
              <a:rPr sz="2000" spc="150" dirty="0"/>
              <a:t>read</a:t>
            </a:r>
            <a:r>
              <a:rPr sz="2000" spc="110" dirty="0"/>
              <a:t> </a:t>
            </a:r>
            <a:r>
              <a:rPr sz="2000" spc="60" dirty="0"/>
              <a:t>or</a:t>
            </a:r>
            <a:r>
              <a:rPr sz="2000" spc="110" dirty="0"/>
              <a:t> </a:t>
            </a:r>
            <a:r>
              <a:rPr sz="2000" spc="65" dirty="0"/>
              <a:t>write </a:t>
            </a:r>
            <a:r>
              <a:rPr sz="2000" spc="130" dirty="0"/>
              <a:t>the</a:t>
            </a:r>
            <a:r>
              <a:rPr sz="2000" spc="10" dirty="0"/>
              <a:t> </a:t>
            </a:r>
            <a:r>
              <a:rPr sz="2000" spc="105" dirty="0"/>
              <a:t>contents</a:t>
            </a:r>
            <a:r>
              <a:rPr sz="2000" spc="30" dirty="0"/>
              <a:t> </a:t>
            </a:r>
            <a:r>
              <a:rPr sz="2000" spc="130" dirty="0"/>
              <a:t>of</a:t>
            </a:r>
            <a:r>
              <a:rPr sz="2000" spc="10" dirty="0"/>
              <a:t> </a:t>
            </a:r>
            <a:r>
              <a:rPr sz="2000" spc="130" dirty="0"/>
              <a:t>the</a:t>
            </a:r>
            <a:r>
              <a:rPr sz="2000" spc="15" dirty="0"/>
              <a:t> </a:t>
            </a:r>
            <a:r>
              <a:rPr sz="2000" spc="-20" dirty="0"/>
              <a:t>file.</a:t>
            </a:r>
          </a:p>
          <a:p>
            <a:pPr marL="213995" indent="-205104">
              <a:lnSpc>
                <a:spcPts val="2255"/>
              </a:lnSpc>
              <a:buClr>
                <a:srgbClr val="E38312"/>
              </a:buClr>
              <a:buSzPct val="95000"/>
              <a:buFont typeface="Wingdings"/>
              <a:buChar char=""/>
              <a:tabLst>
                <a:tab pos="213995" algn="l"/>
                <a:tab pos="826769" algn="l"/>
                <a:tab pos="3056255" algn="l"/>
                <a:tab pos="3985260" algn="l"/>
                <a:tab pos="4440555" algn="l"/>
                <a:tab pos="4797425" algn="l"/>
                <a:tab pos="5927725" algn="l"/>
                <a:tab pos="7333615" algn="l"/>
                <a:tab pos="8543925" algn="l"/>
                <a:tab pos="9725025" algn="l"/>
              </a:tabLst>
            </a:pPr>
            <a:r>
              <a:rPr sz="2000" spc="-25" dirty="0"/>
              <a:t>The</a:t>
            </a:r>
            <a:r>
              <a:rPr sz="2000" dirty="0"/>
              <a:t>	</a:t>
            </a:r>
            <a:r>
              <a:rPr sz="2000" dirty="0">
                <a:latin typeface="Courier New"/>
                <a:cs typeface="Courier New"/>
              </a:rPr>
              <a:t>with</a:t>
            </a:r>
            <a:r>
              <a:rPr sz="2000" spc="195" dirty="0">
                <a:latin typeface="Courier New"/>
                <a:cs typeface="Courier New"/>
              </a:rPr>
              <a:t> </a:t>
            </a:r>
            <a:r>
              <a:rPr sz="2000" spc="100" dirty="0"/>
              <a:t>statement</a:t>
            </a:r>
            <a:r>
              <a:rPr sz="2000" dirty="0"/>
              <a:t>	</a:t>
            </a:r>
            <a:r>
              <a:rPr sz="2000" spc="-10" dirty="0"/>
              <a:t>serves</a:t>
            </a:r>
            <a:r>
              <a:rPr sz="2000" dirty="0"/>
              <a:t>	</a:t>
            </a:r>
            <a:r>
              <a:rPr sz="2000" spc="-25" dirty="0"/>
              <a:t>as</a:t>
            </a:r>
            <a:r>
              <a:rPr sz="2000" dirty="0"/>
              <a:t>	</a:t>
            </a:r>
            <a:r>
              <a:rPr sz="2000" spc="190" dirty="0"/>
              <a:t>a</a:t>
            </a:r>
            <a:r>
              <a:rPr sz="2000" dirty="0"/>
              <a:t>	</a:t>
            </a:r>
            <a:r>
              <a:rPr sz="2000" spc="125" dirty="0"/>
              <a:t>context</a:t>
            </a:r>
            <a:r>
              <a:rPr sz="2000" dirty="0"/>
              <a:t>	</a:t>
            </a:r>
            <a:r>
              <a:rPr sz="2000" spc="125" dirty="0"/>
              <a:t>manager,</a:t>
            </a:r>
            <a:r>
              <a:rPr sz="2000" dirty="0"/>
              <a:t>	</a:t>
            </a:r>
            <a:r>
              <a:rPr sz="2000" spc="-10" dirty="0"/>
              <a:t>ensuring</a:t>
            </a:r>
            <a:r>
              <a:rPr sz="2000" dirty="0"/>
              <a:t>	</a:t>
            </a:r>
            <a:r>
              <a:rPr sz="2000" spc="90" dirty="0"/>
              <a:t>efficient</a:t>
            </a:r>
            <a:r>
              <a:rPr sz="2000" dirty="0"/>
              <a:t>	</a:t>
            </a:r>
            <a:r>
              <a:rPr sz="2000" spc="-20" dirty="0"/>
              <a:t>file</a:t>
            </a:r>
          </a:p>
          <a:p>
            <a:pPr marL="104139">
              <a:lnSpc>
                <a:spcPct val="100000"/>
              </a:lnSpc>
              <a:spcBef>
                <a:spcPts val="145"/>
              </a:spcBef>
            </a:pPr>
            <a:r>
              <a:rPr sz="2000" spc="110" dirty="0"/>
              <a:t>handling</a:t>
            </a:r>
            <a:r>
              <a:rPr sz="2000" spc="55" dirty="0"/>
              <a:t> </a:t>
            </a:r>
            <a:r>
              <a:rPr sz="2000" spc="155" dirty="0"/>
              <a:t>by</a:t>
            </a:r>
            <a:r>
              <a:rPr sz="2000" spc="25" dirty="0"/>
              <a:t> </a:t>
            </a:r>
            <a:r>
              <a:rPr sz="2000" spc="125" dirty="0"/>
              <a:t>automatically</a:t>
            </a:r>
            <a:r>
              <a:rPr sz="2000" spc="35" dirty="0"/>
              <a:t> </a:t>
            </a:r>
            <a:r>
              <a:rPr sz="2000" spc="155" dirty="0"/>
              <a:t>managing</a:t>
            </a:r>
            <a:r>
              <a:rPr sz="2000" spc="50" dirty="0"/>
              <a:t> </a:t>
            </a:r>
            <a:r>
              <a:rPr sz="2000" dirty="0"/>
              <a:t>file</a:t>
            </a:r>
            <a:r>
              <a:rPr sz="2000" spc="20" dirty="0"/>
              <a:t> </a:t>
            </a:r>
            <a:r>
              <a:rPr sz="2000" spc="135" dirty="0"/>
              <a:t>opening</a:t>
            </a:r>
            <a:r>
              <a:rPr sz="2000" spc="50" dirty="0"/>
              <a:t> </a:t>
            </a:r>
            <a:r>
              <a:rPr sz="2000" spc="195" dirty="0"/>
              <a:t>and</a:t>
            </a:r>
            <a:r>
              <a:rPr sz="2000" spc="40" dirty="0"/>
              <a:t> closing.</a:t>
            </a:r>
          </a:p>
          <a:p>
            <a:pPr marL="104139" marR="5715" indent="-95885">
              <a:lnSpc>
                <a:spcPct val="100000"/>
              </a:lnSpc>
              <a:buClr>
                <a:srgbClr val="E38312"/>
              </a:buClr>
              <a:buSzPct val="95000"/>
              <a:buFont typeface="Wingdings"/>
              <a:buChar char=""/>
              <a:tabLst>
                <a:tab pos="104139" algn="l"/>
                <a:tab pos="213360" algn="l"/>
                <a:tab pos="779145" algn="l"/>
                <a:tab pos="1762125" algn="l"/>
                <a:tab pos="3195320" algn="l"/>
                <a:tab pos="4030345" algn="l"/>
                <a:tab pos="4811395" algn="l"/>
                <a:tab pos="5488305" algn="l"/>
                <a:tab pos="6414770" algn="l"/>
                <a:tab pos="7449820" algn="l"/>
                <a:tab pos="9051925" algn="l"/>
                <a:tab pos="9800590" algn="l"/>
              </a:tabLst>
            </a:pPr>
            <a:r>
              <a:rPr sz="2000" spc="-20" dirty="0"/>
              <a:t>	File</a:t>
            </a:r>
            <a:r>
              <a:rPr sz="2000" dirty="0"/>
              <a:t>	</a:t>
            </a:r>
            <a:r>
              <a:rPr sz="2000" spc="150" dirty="0"/>
              <a:t>object</a:t>
            </a:r>
            <a:r>
              <a:rPr sz="2000" dirty="0"/>
              <a:t>	</a:t>
            </a:r>
            <a:r>
              <a:rPr sz="2000" spc="-10" dirty="0"/>
              <a:t>represents</a:t>
            </a:r>
            <a:r>
              <a:rPr sz="2000" dirty="0"/>
              <a:t>	</a:t>
            </a:r>
            <a:r>
              <a:rPr sz="2000" spc="155" dirty="0"/>
              <a:t>open</a:t>
            </a:r>
            <a:r>
              <a:rPr sz="2000" dirty="0"/>
              <a:t>	</a:t>
            </a:r>
            <a:r>
              <a:rPr sz="2000" spc="195" dirty="0"/>
              <a:t>data</a:t>
            </a:r>
            <a:r>
              <a:rPr sz="2000" dirty="0"/>
              <a:t>	</a:t>
            </a:r>
            <a:r>
              <a:rPr sz="2000" spc="175" dirty="0"/>
              <a:t>and</a:t>
            </a:r>
            <a:r>
              <a:rPr sz="2000" dirty="0"/>
              <a:t>	</a:t>
            </a:r>
            <a:r>
              <a:rPr sz="2000" spc="-10" dirty="0"/>
              <a:t>allows</a:t>
            </a:r>
            <a:r>
              <a:rPr sz="2000" dirty="0"/>
              <a:t>	</a:t>
            </a:r>
            <a:r>
              <a:rPr sz="2000" spc="-10" dirty="0"/>
              <a:t>various</a:t>
            </a:r>
            <a:r>
              <a:rPr sz="2000" dirty="0"/>
              <a:t>	</a:t>
            </a:r>
            <a:r>
              <a:rPr sz="2000" spc="65" dirty="0"/>
              <a:t>interactions</a:t>
            </a:r>
            <a:r>
              <a:rPr sz="2000" dirty="0"/>
              <a:t>	</a:t>
            </a:r>
            <a:r>
              <a:rPr sz="2000" spc="45" dirty="0"/>
              <a:t>such</a:t>
            </a:r>
            <a:r>
              <a:rPr sz="2000" dirty="0"/>
              <a:t>	</a:t>
            </a:r>
            <a:r>
              <a:rPr sz="2000" spc="-25" dirty="0"/>
              <a:t>as </a:t>
            </a:r>
            <a:r>
              <a:rPr sz="2000" spc="105" dirty="0"/>
              <a:t>reading,</a:t>
            </a:r>
            <a:r>
              <a:rPr sz="2000" spc="15" dirty="0"/>
              <a:t> </a:t>
            </a:r>
            <a:r>
              <a:rPr sz="2000" spc="55" dirty="0"/>
              <a:t>writing,</a:t>
            </a:r>
            <a:r>
              <a:rPr sz="2000" spc="15" dirty="0"/>
              <a:t> </a:t>
            </a:r>
            <a:r>
              <a:rPr sz="2000" spc="195" dirty="0"/>
              <a:t>and</a:t>
            </a:r>
            <a:r>
              <a:rPr sz="2000" spc="20" dirty="0"/>
              <a:t> </a:t>
            </a:r>
            <a:r>
              <a:rPr sz="2000" spc="155" dirty="0"/>
              <a:t>managing</a:t>
            </a:r>
            <a:r>
              <a:rPr sz="2000" spc="25" dirty="0"/>
              <a:t> </a:t>
            </a:r>
            <a:r>
              <a:rPr sz="2000" spc="215" dirty="0"/>
              <a:t>data</a:t>
            </a:r>
            <a:r>
              <a:rPr sz="2000" spc="5" dirty="0"/>
              <a:t> </a:t>
            </a:r>
            <a:r>
              <a:rPr sz="2000" spc="125" dirty="0"/>
              <a:t>content.</a:t>
            </a:r>
          </a:p>
          <a:p>
            <a:pPr marL="213995" indent="-205104">
              <a:lnSpc>
                <a:spcPts val="2255"/>
              </a:lnSpc>
              <a:buClr>
                <a:srgbClr val="E38312"/>
              </a:buClr>
              <a:buSzPct val="95000"/>
              <a:buFont typeface="Wingdings"/>
              <a:buChar char=""/>
              <a:tabLst>
                <a:tab pos="213995" algn="l"/>
              </a:tabLst>
            </a:pPr>
            <a:r>
              <a:rPr sz="2000" dirty="0"/>
              <a:t>For</a:t>
            </a:r>
            <a:r>
              <a:rPr sz="2000" spc="160" dirty="0"/>
              <a:t> </a:t>
            </a:r>
            <a:r>
              <a:rPr sz="2000" spc="110" dirty="0"/>
              <a:t>reading,</a:t>
            </a:r>
            <a:r>
              <a:rPr sz="2000" spc="165" dirty="0"/>
              <a:t> </a:t>
            </a:r>
            <a:r>
              <a:rPr sz="2000" spc="114" dirty="0"/>
              <a:t>methods</a:t>
            </a:r>
            <a:r>
              <a:rPr sz="2000" spc="165" dirty="0"/>
              <a:t> </a:t>
            </a:r>
            <a:r>
              <a:rPr sz="2000" spc="60" dirty="0"/>
              <a:t>such</a:t>
            </a:r>
            <a:r>
              <a:rPr sz="2000" spc="165" dirty="0"/>
              <a:t> </a:t>
            </a:r>
            <a:r>
              <a:rPr sz="2000" dirty="0"/>
              <a:t>as</a:t>
            </a:r>
            <a:r>
              <a:rPr sz="2000" spc="165" dirty="0"/>
              <a:t> </a:t>
            </a:r>
            <a:r>
              <a:rPr sz="2000" spc="-20" dirty="0">
                <a:latin typeface="Courier New"/>
                <a:cs typeface="Courier New"/>
              </a:rPr>
              <a:t>read()</a:t>
            </a:r>
            <a:r>
              <a:rPr sz="2000" spc="-484" dirty="0">
                <a:latin typeface="Courier New"/>
                <a:cs typeface="Courier New"/>
              </a:rPr>
              <a:t> </a:t>
            </a:r>
            <a:r>
              <a:rPr sz="2000" spc="210" dirty="0"/>
              <a:t>can</a:t>
            </a:r>
            <a:r>
              <a:rPr sz="2000" spc="165" dirty="0"/>
              <a:t> </a:t>
            </a:r>
            <a:r>
              <a:rPr sz="2000" spc="210" dirty="0"/>
              <a:t>be</a:t>
            </a:r>
            <a:r>
              <a:rPr sz="2000" spc="165" dirty="0"/>
              <a:t> </a:t>
            </a:r>
            <a:r>
              <a:rPr sz="2000" spc="70" dirty="0"/>
              <a:t>used</a:t>
            </a:r>
            <a:r>
              <a:rPr sz="2000" spc="170" dirty="0"/>
              <a:t> </a:t>
            </a:r>
            <a:r>
              <a:rPr sz="2000" spc="155" dirty="0"/>
              <a:t>to</a:t>
            </a:r>
            <a:r>
              <a:rPr sz="2000" spc="165" dirty="0"/>
              <a:t> </a:t>
            </a:r>
            <a:r>
              <a:rPr sz="2000" spc="150" dirty="0"/>
              <a:t>read</a:t>
            </a:r>
            <a:r>
              <a:rPr sz="2000" spc="170" dirty="0"/>
              <a:t> </a:t>
            </a:r>
            <a:r>
              <a:rPr sz="2000" spc="135" dirty="0"/>
              <a:t>the</a:t>
            </a:r>
            <a:r>
              <a:rPr sz="2000" spc="165" dirty="0"/>
              <a:t> </a:t>
            </a:r>
            <a:r>
              <a:rPr sz="2000" spc="75" dirty="0"/>
              <a:t>entire</a:t>
            </a:r>
            <a:r>
              <a:rPr sz="2000" spc="165" dirty="0"/>
              <a:t> </a:t>
            </a:r>
            <a:r>
              <a:rPr sz="2000" spc="125" dirty="0"/>
              <a:t>content,</a:t>
            </a:r>
          </a:p>
          <a:p>
            <a:pPr marL="104139">
              <a:lnSpc>
                <a:spcPct val="100000"/>
              </a:lnSpc>
            </a:pPr>
            <a:r>
              <a:rPr sz="2000" spc="-20" dirty="0">
                <a:latin typeface="Courier New"/>
                <a:cs typeface="Courier New"/>
              </a:rPr>
              <a:t>readline()</a:t>
            </a:r>
            <a:r>
              <a:rPr sz="2000" spc="-580" dirty="0">
                <a:latin typeface="Courier New"/>
                <a:cs typeface="Courier New"/>
              </a:rPr>
              <a:t> </a:t>
            </a:r>
            <a:r>
              <a:rPr sz="2000" spc="210" dirty="0"/>
              <a:t>can</a:t>
            </a:r>
            <a:r>
              <a:rPr sz="2000" spc="75" dirty="0"/>
              <a:t> </a:t>
            </a:r>
            <a:r>
              <a:rPr sz="2000" spc="210" dirty="0"/>
              <a:t>be</a:t>
            </a:r>
            <a:r>
              <a:rPr sz="2000" spc="65" dirty="0"/>
              <a:t> </a:t>
            </a:r>
            <a:r>
              <a:rPr sz="2000" spc="70" dirty="0"/>
              <a:t>used </a:t>
            </a:r>
            <a:r>
              <a:rPr sz="2000" spc="155" dirty="0"/>
              <a:t>to</a:t>
            </a:r>
            <a:r>
              <a:rPr sz="2000" spc="70" dirty="0"/>
              <a:t> </a:t>
            </a:r>
            <a:r>
              <a:rPr sz="2000" spc="150" dirty="0"/>
              <a:t>read</a:t>
            </a:r>
            <a:r>
              <a:rPr sz="2000" spc="80" dirty="0"/>
              <a:t> </a:t>
            </a:r>
            <a:r>
              <a:rPr sz="2000" spc="240" dirty="0"/>
              <a:t>a</a:t>
            </a:r>
            <a:r>
              <a:rPr sz="2000" spc="70" dirty="0"/>
              <a:t> </a:t>
            </a:r>
            <a:r>
              <a:rPr sz="2000" dirty="0"/>
              <a:t>line,</a:t>
            </a:r>
            <a:r>
              <a:rPr sz="2000" spc="70" dirty="0"/>
              <a:t> </a:t>
            </a:r>
            <a:r>
              <a:rPr sz="2000" spc="200" dirty="0"/>
              <a:t>and</a:t>
            </a:r>
            <a:r>
              <a:rPr sz="2000" spc="80" dirty="0"/>
              <a:t> </a:t>
            </a:r>
            <a:r>
              <a:rPr sz="2000" spc="-20" dirty="0">
                <a:latin typeface="Courier New"/>
                <a:cs typeface="Courier New"/>
              </a:rPr>
              <a:t>readlines()</a:t>
            </a:r>
            <a:r>
              <a:rPr sz="2000" spc="-580" dirty="0">
                <a:latin typeface="Courier New"/>
                <a:cs typeface="Courier New"/>
              </a:rPr>
              <a:t> </a:t>
            </a:r>
            <a:r>
              <a:rPr sz="2000" spc="210" dirty="0"/>
              <a:t>can</a:t>
            </a:r>
            <a:r>
              <a:rPr sz="2000" spc="75" dirty="0"/>
              <a:t> </a:t>
            </a:r>
            <a:r>
              <a:rPr sz="2000" spc="210" dirty="0"/>
              <a:t>be</a:t>
            </a:r>
            <a:r>
              <a:rPr sz="2000" spc="65" dirty="0"/>
              <a:t> </a:t>
            </a:r>
            <a:r>
              <a:rPr sz="2000" spc="70" dirty="0"/>
              <a:t>used </a:t>
            </a:r>
            <a:r>
              <a:rPr sz="2000" spc="155" dirty="0"/>
              <a:t>to</a:t>
            </a:r>
            <a:r>
              <a:rPr sz="2000" spc="75" dirty="0"/>
              <a:t> </a:t>
            </a:r>
            <a:r>
              <a:rPr sz="2000" spc="130" dirty="0"/>
              <a:t>read</a:t>
            </a:r>
          </a:p>
          <a:p>
            <a:pPr marL="104139">
              <a:lnSpc>
                <a:spcPts val="2330"/>
              </a:lnSpc>
              <a:spcBef>
                <a:spcPts val="140"/>
              </a:spcBef>
            </a:pPr>
            <a:r>
              <a:rPr sz="2000" dirty="0"/>
              <a:t>lines</a:t>
            </a:r>
            <a:r>
              <a:rPr sz="2000" spc="-20" dirty="0"/>
              <a:t> </a:t>
            </a:r>
            <a:r>
              <a:rPr sz="2000" spc="95" dirty="0"/>
              <a:t>from</a:t>
            </a:r>
            <a:r>
              <a:rPr sz="2000" spc="-25" dirty="0"/>
              <a:t> </a:t>
            </a:r>
            <a:r>
              <a:rPr sz="2000" spc="240" dirty="0"/>
              <a:t>a</a:t>
            </a:r>
            <a:r>
              <a:rPr sz="2000" spc="-30" dirty="0"/>
              <a:t> </a:t>
            </a:r>
            <a:r>
              <a:rPr sz="2000" spc="145" dirty="0"/>
              <a:t>document.</a:t>
            </a:r>
          </a:p>
          <a:p>
            <a:pPr marL="213995" indent="-205104">
              <a:lnSpc>
                <a:spcPts val="2330"/>
              </a:lnSpc>
              <a:buClr>
                <a:srgbClr val="E38312"/>
              </a:buClr>
              <a:buSzPct val="95000"/>
              <a:buFont typeface="Wingdings"/>
              <a:buChar char=""/>
              <a:tabLst>
                <a:tab pos="213995" algn="l"/>
              </a:tabLst>
            </a:pPr>
            <a:r>
              <a:rPr sz="2000" dirty="0"/>
              <a:t>The</a:t>
            </a:r>
            <a:r>
              <a:rPr sz="2000" spc="60" dirty="0"/>
              <a:t> </a:t>
            </a:r>
            <a:r>
              <a:rPr sz="2000" spc="75" dirty="0"/>
              <a:t>write</a:t>
            </a:r>
            <a:r>
              <a:rPr sz="2000" spc="65" dirty="0"/>
              <a:t> </a:t>
            </a:r>
            <a:r>
              <a:rPr sz="2000" spc="170" dirty="0"/>
              <a:t>method</a:t>
            </a:r>
            <a:r>
              <a:rPr sz="2000" spc="70" dirty="0"/>
              <a:t> includes</a:t>
            </a:r>
            <a:r>
              <a:rPr sz="2000" spc="65" dirty="0"/>
              <a:t> </a:t>
            </a:r>
            <a:r>
              <a:rPr sz="2000" spc="-20" dirty="0">
                <a:latin typeface="Courier New"/>
                <a:cs typeface="Courier New"/>
              </a:rPr>
              <a:t>write()</a:t>
            </a:r>
            <a:r>
              <a:rPr sz="2000" spc="-585" dirty="0">
                <a:latin typeface="Courier New"/>
                <a:cs typeface="Courier New"/>
              </a:rPr>
              <a:t> </a:t>
            </a:r>
            <a:r>
              <a:rPr sz="2000" dirty="0"/>
              <a:t>(inserts</a:t>
            </a:r>
            <a:r>
              <a:rPr sz="2000" spc="65" dirty="0"/>
              <a:t> </a:t>
            </a:r>
            <a:r>
              <a:rPr sz="2000" spc="240" dirty="0"/>
              <a:t>a</a:t>
            </a:r>
            <a:r>
              <a:rPr sz="2000" spc="60" dirty="0"/>
              <a:t> </a:t>
            </a:r>
            <a:r>
              <a:rPr sz="2000" dirty="0"/>
              <a:t>string),</a:t>
            </a:r>
            <a:r>
              <a:rPr sz="2000" spc="60" dirty="0"/>
              <a:t> </a:t>
            </a:r>
            <a:r>
              <a:rPr sz="2000" spc="-20" dirty="0">
                <a:latin typeface="Courier New"/>
                <a:cs typeface="Courier New"/>
              </a:rPr>
              <a:t>writelines()</a:t>
            </a:r>
            <a:r>
              <a:rPr sz="2000" spc="-585" dirty="0">
                <a:latin typeface="Courier New"/>
                <a:cs typeface="Courier New"/>
              </a:rPr>
              <a:t> </a:t>
            </a:r>
            <a:r>
              <a:rPr sz="2000" dirty="0"/>
              <a:t>(inserts</a:t>
            </a:r>
            <a:r>
              <a:rPr sz="2000" spc="70" dirty="0"/>
              <a:t> </a:t>
            </a:r>
            <a:r>
              <a:rPr sz="2000" spc="240" dirty="0"/>
              <a:t>a</a:t>
            </a:r>
            <a:r>
              <a:rPr sz="2000" spc="60" dirty="0"/>
              <a:t> </a:t>
            </a:r>
            <a:r>
              <a:rPr sz="2000" spc="-20" dirty="0"/>
              <a:t>list</a:t>
            </a:r>
          </a:p>
          <a:p>
            <a:pPr marL="104139">
              <a:lnSpc>
                <a:spcPct val="100000"/>
              </a:lnSpc>
              <a:spcBef>
                <a:spcPts val="145"/>
              </a:spcBef>
            </a:pPr>
            <a:r>
              <a:rPr sz="2000" spc="130" dirty="0"/>
              <a:t>of</a:t>
            </a:r>
            <a:r>
              <a:rPr sz="2000" spc="30" dirty="0"/>
              <a:t> </a:t>
            </a:r>
            <a:r>
              <a:rPr sz="2000" dirty="0"/>
              <a:t>strings),</a:t>
            </a:r>
            <a:r>
              <a:rPr sz="2000" spc="35" dirty="0"/>
              <a:t> </a:t>
            </a:r>
            <a:r>
              <a:rPr sz="2000" spc="195" dirty="0"/>
              <a:t>and</a:t>
            </a:r>
            <a:r>
              <a:rPr sz="2000" spc="40" dirty="0"/>
              <a:t> </a:t>
            </a:r>
            <a:r>
              <a:rPr sz="2000" spc="155" dirty="0"/>
              <a:t>dynamic</a:t>
            </a:r>
            <a:r>
              <a:rPr sz="2000" spc="55" dirty="0"/>
              <a:t> </a:t>
            </a:r>
            <a:r>
              <a:rPr sz="2000" spc="155" dirty="0"/>
              <a:t>content</a:t>
            </a:r>
            <a:r>
              <a:rPr sz="2000" spc="55" dirty="0"/>
              <a:t> </a:t>
            </a:r>
            <a:r>
              <a:rPr sz="2000" dirty="0"/>
              <a:t>insertion</a:t>
            </a:r>
            <a:r>
              <a:rPr sz="2000" spc="40" dirty="0"/>
              <a:t> </a:t>
            </a:r>
            <a:r>
              <a:rPr sz="2000" spc="60" dirty="0"/>
              <a:t>options.</a:t>
            </a:r>
          </a:p>
        </p:txBody>
      </p:sp>
    </p:spTree>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1968</Words>
  <Application>Microsoft Office PowerPoint</Application>
  <PresentationFormat>Màn hình rộng</PresentationFormat>
  <Paragraphs>234</Paragraphs>
  <Slides>12</Slides>
  <Notes>12</Notes>
  <HiddenSlides>0</HiddenSlides>
  <MMClips>0</MMClips>
  <ScaleCrop>false</ScaleCrop>
  <HeadingPairs>
    <vt:vector size="6" baseType="variant">
      <vt:variant>
        <vt:lpstr>Phông được Dùng</vt:lpstr>
      </vt:variant>
      <vt:variant>
        <vt:i4>7</vt:i4>
      </vt:variant>
      <vt:variant>
        <vt:lpstr>Chủ đề</vt:lpstr>
      </vt:variant>
      <vt:variant>
        <vt:i4>1</vt:i4>
      </vt:variant>
      <vt:variant>
        <vt:lpstr>Tiêu đề Bản chiếu</vt:lpstr>
      </vt:variant>
      <vt:variant>
        <vt:i4>12</vt:i4>
      </vt:variant>
    </vt:vector>
  </HeadingPairs>
  <TitlesOfParts>
    <vt:vector size="20" baseType="lpstr">
      <vt:lpstr>Aptos</vt:lpstr>
      <vt:lpstr>Aptos Display</vt:lpstr>
      <vt:lpstr>Arial</vt:lpstr>
      <vt:lpstr>Arial MT</vt:lpstr>
      <vt:lpstr>Courier New</vt:lpstr>
      <vt:lpstr>Times New Roman</vt:lpstr>
      <vt:lpstr>Wingdings</vt:lpstr>
      <vt:lpstr>Chủ đề Office</vt:lpstr>
      <vt:lpstr>Bản trình bày PowerPoint</vt:lpstr>
      <vt:lpstr>Objectives</vt:lpstr>
      <vt:lpstr>Opening and Closing Text Files [1-3]</vt:lpstr>
      <vt:lpstr>Opening and Closing Text Files [2-3]</vt:lpstr>
      <vt:lpstr>Opening and Closing Text Files [3-3]</vt:lpstr>
      <vt:lpstr>Reading Text Files [1-3]</vt:lpstr>
      <vt:lpstr>Reading Text Files [2-3]</vt:lpstr>
      <vt:lpstr>Reading Text Files [3-3]</vt:lpstr>
      <vt:lpstr>Writing Text Files [1-3]</vt:lpstr>
      <vt:lpstr>Writing Text Files [2-3]</vt:lpstr>
      <vt:lpstr>Writing Text Files [3-3]</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Ngô Văn Hưng</dc:creator>
  <cp:lastModifiedBy>Ngô Văn Hưng</cp:lastModifiedBy>
  <cp:revision>4</cp:revision>
  <dcterms:created xsi:type="dcterms:W3CDTF">2025-05-16T15:55:24Z</dcterms:created>
  <dcterms:modified xsi:type="dcterms:W3CDTF">2025-05-17T05:35:54Z</dcterms:modified>
</cp:coreProperties>
</file>