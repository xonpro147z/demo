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6"/>
  </p:notesMasterIdLst>
  <p:sldIdLst>
    <p:sldId id="257" r:id="rId2"/>
    <p:sldId id="258" r:id="rId3"/>
    <p:sldId id="259" r:id="rId4"/>
    <p:sldId id="260" r:id="rId5"/>
    <p:sldId id="261" r:id="rId6"/>
    <p:sldId id="388" r:id="rId7"/>
    <p:sldId id="262" r:id="rId8"/>
    <p:sldId id="263" r:id="rId9"/>
    <p:sldId id="389" r:id="rId10"/>
    <p:sldId id="390" r:id="rId11"/>
    <p:sldId id="391" r:id="rId12"/>
    <p:sldId id="392" r:id="rId13"/>
    <p:sldId id="264"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4DFFD-FEA6-43F9-923C-211ACF9418BD}" type="datetimeFigureOut">
              <a:rPr lang="vi-VN" smtClean="0"/>
              <a:t>02/11/2025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49ED9-A1D1-4447-9F4D-066404A7E243}" type="slidenum">
              <a:rPr lang="vi-VN" smtClean="0"/>
              <a:t>‹#›</a:t>
            </a:fld>
            <a:endParaRPr lang="vi-VN"/>
          </a:p>
        </p:txBody>
      </p:sp>
    </p:spTree>
    <p:extLst>
      <p:ext uri="{BB962C8B-B14F-4D97-AF65-F5344CB8AC3E}">
        <p14:creationId xmlns:p14="http://schemas.microsoft.com/office/powerpoint/2010/main" val="2508793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err="1"/>
              <a:t>EmailMessage</a:t>
            </a:r>
            <a:r>
              <a:rPr lang="vi-VN" dirty="0"/>
              <a:t> là </a:t>
            </a:r>
            <a:r>
              <a:rPr lang="vi-VN" b="1" dirty="0"/>
              <a:t>một lớp (</a:t>
            </a:r>
            <a:r>
              <a:rPr lang="vi-VN" b="1" dirty="0" err="1"/>
              <a:t>class</a:t>
            </a:r>
            <a:r>
              <a:rPr lang="vi-VN" b="1" dirty="0"/>
              <a:t>)</a:t>
            </a:r>
            <a:r>
              <a:rPr lang="vi-VN" dirty="0"/>
              <a:t> trong </a:t>
            </a:r>
            <a:r>
              <a:rPr lang="vi-VN" b="1" dirty="0"/>
              <a:t>thư viện chuẩn </a:t>
            </a:r>
            <a:r>
              <a:rPr lang="vi-VN" b="1" dirty="0" err="1"/>
              <a:t>email</a:t>
            </a:r>
            <a:r>
              <a:rPr lang="vi-VN" b="1" dirty="0"/>
              <a:t> của </a:t>
            </a:r>
            <a:r>
              <a:rPr lang="vi-VN" b="1" dirty="0" err="1"/>
              <a:t>Python</a:t>
            </a:r>
            <a:r>
              <a:rPr lang="vi-VN" dirty="0"/>
              <a:t>,</a:t>
            </a:r>
            <a:br>
              <a:rPr lang="vi-VN" dirty="0"/>
            </a:br>
            <a:r>
              <a:rPr lang="vi-VN" dirty="0"/>
              <a:t>được dùng để </a:t>
            </a:r>
            <a:r>
              <a:rPr lang="vi-VN" b="1" dirty="0"/>
              <a:t>tạo và định dạng nội dung của </a:t>
            </a:r>
            <a:r>
              <a:rPr lang="vi-VN" b="1" dirty="0" err="1"/>
              <a:t>email</a:t>
            </a:r>
            <a:r>
              <a:rPr lang="vi-VN" dirty="0"/>
              <a:t>.</a:t>
            </a:r>
          </a:p>
          <a:p>
            <a:r>
              <a:rPr lang="vi-VN" dirty="0"/>
              <a:t>Nói dễ hiểu:</a:t>
            </a:r>
          </a:p>
          <a:p>
            <a:r>
              <a:rPr lang="vi-VN" dirty="0" err="1"/>
              <a:t>EmailMessage</a:t>
            </a:r>
            <a:r>
              <a:rPr lang="vi-VN" dirty="0"/>
              <a:t> = “Người soạn thư” (tạo tiêu đề, nội dung, đính kèm </a:t>
            </a:r>
            <a:r>
              <a:rPr lang="vi-VN" dirty="0" err="1"/>
              <a:t>file</a:t>
            </a:r>
            <a:r>
              <a:rPr lang="vi-VN" dirty="0"/>
              <a:t>, </a:t>
            </a:r>
            <a:r>
              <a:rPr lang="vi-VN" dirty="0" err="1"/>
              <a:t>v.v</a:t>
            </a:r>
            <a:r>
              <a:rPr lang="vi-VN" dirty="0"/>
              <a:t>.)</a:t>
            </a:r>
          </a:p>
        </p:txBody>
      </p:sp>
      <p:sp>
        <p:nvSpPr>
          <p:cNvPr id="4" name="Slide Number Placeholder 3"/>
          <p:cNvSpPr>
            <a:spLocks noGrp="1"/>
          </p:cNvSpPr>
          <p:nvPr>
            <p:ph type="sldNum" sz="quarter" idx="5"/>
          </p:nvPr>
        </p:nvSpPr>
        <p:spPr/>
        <p:txBody>
          <a:bodyPr/>
          <a:lstStyle/>
          <a:p>
            <a:fld id="{677AC626-D4B5-46F8-8066-1D6BE1746E99}" type="slidenum">
              <a:rPr lang="vi-VN" smtClean="0"/>
              <a:t>11</a:t>
            </a:fld>
            <a:endParaRPr lang="vi-VN"/>
          </a:p>
        </p:txBody>
      </p:sp>
    </p:spTree>
    <p:extLst>
      <p:ext uri="{BB962C8B-B14F-4D97-AF65-F5344CB8AC3E}">
        <p14:creationId xmlns:p14="http://schemas.microsoft.com/office/powerpoint/2010/main" val="2448597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Mã này cần được cập nhật theo yêu cầu của người dùng.</a:t>
            </a:r>
          </a:p>
          <a:p>
            <a:r>
              <a:rPr lang="vi-VN" dirty="0"/>
              <a:t>Trong Đoạn mã 3, biến máy chủ đại diện cho máy chủ </a:t>
            </a:r>
            <a:r>
              <a:rPr lang="vi-VN" dirty="0" err="1"/>
              <a:t>email</a:t>
            </a:r>
            <a:r>
              <a:rPr lang="vi-VN" dirty="0"/>
              <a:t> cần sử dụng. </a:t>
            </a:r>
          </a:p>
          <a:p>
            <a:r>
              <a:rPr lang="vi-VN" dirty="0"/>
              <a:t>Người </a:t>
            </a:r>
            <a:r>
              <a:rPr lang="vi-VN" dirty="0" err="1"/>
              <a:t>dùngkết</a:t>
            </a:r>
            <a:r>
              <a:rPr lang="vi-VN" dirty="0"/>
              <a:t> nối với máy chủ bằng giao thức SMTP và bắt đầu mã hóa Bảo mật Lớp Truyền tải</a:t>
            </a:r>
          </a:p>
          <a:p>
            <a:r>
              <a:rPr lang="vi-VN" dirty="0"/>
              <a:t>(TLS). </a:t>
            </a:r>
          </a:p>
          <a:p>
            <a:r>
              <a:rPr lang="vi-VN" dirty="0"/>
              <a:t>Sau đó, người dùng đăng nhập vào tài khoản </a:t>
            </a:r>
            <a:r>
              <a:rPr lang="vi-VN" dirty="0" err="1"/>
              <a:t>email</a:t>
            </a:r>
            <a:r>
              <a:rPr lang="vi-VN" dirty="0"/>
              <a:t> bằng địa chỉ </a:t>
            </a:r>
            <a:r>
              <a:rPr lang="vi-VN" dirty="0" err="1"/>
              <a:t>email</a:t>
            </a:r>
            <a:endParaRPr lang="vi-VN" dirty="0"/>
          </a:p>
          <a:p>
            <a:r>
              <a:rPr lang="vi-VN" dirty="0"/>
              <a:t>và mật khẩu hoặc mật khẩu do nền tảng tạo của người gửi.</a:t>
            </a:r>
          </a:p>
          <a:p>
            <a:r>
              <a:rPr lang="vi-VN" dirty="0"/>
              <a:t> Tiếp theo, họ tạo tin nhắn </a:t>
            </a:r>
            <a:r>
              <a:rPr lang="vi-VN" dirty="0" err="1"/>
              <a:t>email</a:t>
            </a:r>
            <a:r>
              <a:rPr lang="vi-VN" dirty="0"/>
              <a:t> và gửi đến người nhận bằng phương thức </a:t>
            </a:r>
            <a:r>
              <a:rPr lang="vi-VN" dirty="0" err="1"/>
              <a:t>sendmail</a:t>
            </a:r>
            <a:r>
              <a:rPr lang="vi-VN" dirty="0"/>
              <a:t>(). </a:t>
            </a:r>
          </a:p>
          <a:p>
            <a:r>
              <a:rPr lang="vi-VN" dirty="0"/>
              <a:t>Cuối cùng,</a:t>
            </a:r>
          </a:p>
          <a:p>
            <a:r>
              <a:rPr lang="vi-VN" dirty="0"/>
              <a:t>kết nối với máy chủ </a:t>
            </a:r>
            <a:r>
              <a:rPr lang="vi-VN" dirty="0" err="1"/>
              <a:t>email</a:t>
            </a:r>
            <a:r>
              <a:rPr lang="vi-VN" dirty="0"/>
              <a:t> sẽ bị đóng.</a:t>
            </a:r>
          </a:p>
          <a:p>
            <a:endParaRPr lang="vi-VN" dirty="0"/>
          </a:p>
        </p:txBody>
      </p:sp>
      <p:sp>
        <p:nvSpPr>
          <p:cNvPr id="4" name="Slide Number Placeholder 3"/>
          <p:cNvSpPr>
            <a:spLocks noGrp="1"/>
          </p:cNvSpPr>
          <p:nvPr>
            <p:ph type="sldNum" sz="quarter" idx="5"/>
          </p:nvPr>
        </p:nvSpPr>
        <p:spPr/>
        <p:txBody>
          <a:bodyPr/>
          <a:lstStyle/>
          <a:p>
            <a:fld id="{677AC626-D4B5-46F8-8066-1D6BE1746E99}" type="slidenum">
              <a:rPr lang="vi-VN" smtClean="0"/>
              <a:t>12</a:t>
            </a:fld>
            <a:endParaRPr lang="vi-VN"/>
          </a:p>
        </p:txBody>
      </p:sp>
    </p:spTree>
    <p:extLst>
      <p:ext uri="{BB962C8B-B14F-4D97-AF65-F5344CB8AC3E}">
        <p14:creationId xmlns:p14="http://schemas.microsoft.com/office/powerpoint/2010/main" val="302308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3972345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387224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95809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51F40F-F8F8-4677-8DF6-F8DF810D7AA0}" type="datetimeFigureOut">
              <a:rPr lang="vi-VN" smtClean="0"/>
              <a:t>02/11/2025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338140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51F40F-F8F8-4677-8DF6-F8DF810D7AA0}" type="datetimeFigureOut">
              <a:rPr lang="vi-VN" smtClean="0"/>
              <a:t>02/11/2025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4064623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51F40F-F8F8-4677-8DF6-F8DF810D7AA0}" type="datetimeFigureOut">
              <a:rPr lang="vi-VN" smtClean="0"/>
              <a:t>02/11/2025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1982575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51F40F-F8F8-4677-8DF6-F8DF810D7AA0}" type="datetimeFigureOut">
              <a:rPr lang="vi-VN" smtClean="0"/>
              <a:t>02/11/2025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3293145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51F40F-F8F8-4677-8DF6-F8DF810D7AA0}" type="datetimeFigureOut">
              <a:rPr lang="vi-VN" smtClean="0"/>
              <a:t>02/11/2025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1628945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51F40F-F8F8-4677-8DF6-F8DF810D7AA0}" type="datetimeFigureOut">
              <a:rPr lang="vi-VN" smtClean="0"/>
              <a:t>02/11/2025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36774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135847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63106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4114004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67889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2600337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1504795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51F40F-F8F8-4677-8DF6-F8DF810D7AA0}" type="datetimeFigureOut">
              <a:rPr lang="vi-VN" smtClean="0"/>
              <a:t>02/11/2025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74EB86CA-994B-48ED-949F-6001D1721B22}" type="slidenum">
              <a:rPr lang="vi-VN" smtClean="0"/>
              <a:t>‹#›</a:t>
            </a:fld>
            <a:endParaRPr lang="vi-VN"/>
          </a:p>
        </p:txBody>
      </p:sp>
    </p:spTree>
    <p:extLst>
      <p:ext uri="{BB962C8B-B14F-4D97-AF65-F5344CB8AC3E}">
        <p14:creationId xmlns:p14="http://schemas.microsoft.com/office/powerpoint/2010/main" val="1609235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1F40F-F8F8-4677-8DF6-F8DF810D7AA0}" type="datetimeFigureOut">
              <a:rPr lang="vi-VN" smtClean="0"/>
              <a:t>02/11/2025</a:t>
            </a:fld>
            <a:endParaRPr lang="vi-V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4EB86CA-994B-48ED-949F-6001D1721B22}" type="slidenum">
              <a:rPr lang="vi-VN" smtClean="0"/>
              <a:t>‹#›</a:t>
            </a:fld>
            <a:endParaRPr lang="vi-VN"/>
          </a:p>
        </p:txBody>
      </p:sp>
    </p:spTree>
    <p:extLst>
      <p:ext uri="{BB962C8B-B14F-4D97-AF65-F5344CB8AC3E}">
        <p14:creationId xmlns:p14="http://schemas.microsoft.com/office/powerpoint/2010/main" val="218548415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6" name="object 6"/>
          <p:cNvSpPr txBox="1"/>
          <p:nvPr/>
        </p:nvSpPr>
        <p:spPr>
          <a:xfrm>
            <a:off x="2310441" y="4352909"/>
            <a:ext cx="7718425" cy="589280"/>
          </a:xfrm>
          <a:prstGeom prst="rect">
            <a:avLst/>
          </a:prstGeom>
        </p:spPr>
        <p:txBody>
          <a:bodyPr vert="horz" wrap="square" lIns="0" tIns="12700" rIns="0" bIns="0" rtlCol="0">
            <a:spAutoFit/>
          </a:bodyPr>
          <a:lstStyle/>
          <a:p>
            <a:pPr marL="12700">
              <a:lnSpc>
                <a:spcPct val="100000"/>
              </a:lnSpc>
              <a:spcBef>
                <a:spcPts val="100"/>
              </a:spcBef>
            </a:pPr>
            <a:r>
              <a:rPr lang="vi-VN" sz="3700" dirty="0">
                <a:latin typeface="Trebuchet MS"/>
                <a:cs typeface="Trebuchet MS"/>
              </a:rPr>
              <a:t>Giới thiệu về </a:t>
            </a:r>
            <a:r>
              <a:rPr lang="vi-VN" sz="3700" dirty="0" err="1">
                <a:latin typeface="Trebuchet MS"/>
                <a:cs typeface="Trebuchet MS"/>
              </a:rPr>
              <a:t>Email</a:t>
            </a:r>
            <a:r>
              <a:rPr lang="vi-VN" sz="3700" dirty="0">
                <a:latin typeface="Trebuchet MS"/>
                <a:cs typeface="Trebuchet MS"/>
              </a:rPr>
              <a:t> với </a:t>
            </a:r>
            <a:r>
              <a:rPr lang="vi-VN" sz="3700" dirty="0" err="1">
                <a:latin typeface="Trebuchet MS"/>
                <a:cs typeface="Trebuchet MS"/>
              </a:rPr>
              <a:t>Python</a:t>
            </a:r>
            <a:endParaRPr sz="3700" dirty="0">
              <a:latin typeface="Trebuchet MS"/>
              <a:cs typeface="Trebuchet MS"/>
            </a:endParaRPr>
          </a:p>
        </p:txBody>
      </p:sp>
      <p:sp>
        <p:nvSpPr>
          <p:cNvPr id="7" name="object 7"/>
          <p:cNvSpPr txBox="1"/>
          <p:nvPr/>
        </p:nvSpPr>
        <p:spPr>
          <a:xfrm>
            <a:off x="4790369" y="5146742"/>
            <a:ext cx="10560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3F3F3F"/>
                </a:solidFill>
                <a:latin typeface="Trebuchet MS"/>
                <a:cs typeface="Trebuchet MS"/>
              </a:rPr>
              <a:t>Session</a:t>
            </a:r>
            <a:r>
              <a:rPr sz="1800" spc="-95" dirty="0">
                <a:solidFill>
                  <a:srgbClr val="3F3F3F"/>
                </a:solidFill>
                <a:latin typeface="Trebuchet MS"/>
                <a:cs typeface="Trebuchet MS"/>
              </a:rPr>
              <a:t> </a:t>
            </a:r>
            <a:r>
              <a:rPr sz="1800" spc="-25" dirty="0">
                <a:solidFill>
                  <a:srgbClr val="3F3F3F"/>
                </a:solidFill>
                <a:latin typeface="Trebuchet MS"/>
                <a:cs typeface="Trebuchet MS"/>
              </a:rPr>
              <a:t>01</a:t>
            </a:r>
            <a:endParaRPr sz="1800">
              <a:latin typeface="Trebuchet MS"/>
              <a:cs typeface="Trebuchet MS"/>
            </a:endParaRPr>
          </a:p>
        </p:txBody>
      </p:sp>
      <p:pic>
        <p:nvPicPr>
          <p:cNvPr id="1028" name="Picture 4" descr="Email là gì? Cách đăng ký, đăng nhập Email bằng Gmail đơn giản">
            <a:extLst>
              <a:ext uri="{FF2B5EF4-FFF2-40B4-BE49-F238E27FC236}">
                <a16:creationId xmlns:a16="http://schemas.microsoft.com/office/drawing/2014/main" id="{236B770C-EEDE-0FC2-C550-B66AD19FA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6865" y="1359780"/>
            <a:ext cx="3718818" cy="24792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ython (ngôn ngữ lập trình) – Wikipedia tiếng Việt">
            <a:extLst>
              <a:ext uri="{FF2B5EF4-FFF2-40B4-BE49-F238E27FC236}">
                <a16:creationId xmlns:a16="http://schemas.microsoft.com/office/drawing/2014/main" id="{1BDA391F-D263-0F79-57B1-ED51936AD7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199" y="1825001"/>
            <a:ext cx="1605951" cy="1605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12700" rIns="0" bIns="0" rtlCol="0">
            <a:spAutoFit/>
          </a:bodyPr>
          <a:lstStyle/>
          <a:p>
            <a:pPr marL="1661160">
              <a:lnSpc>
                <a:spcPct val="100000"/>
              </a:lnSpc>
              <a:spcBef>
                <a:spcPts val="100"/>
              </a:spcBef>
            </a:pPr>
            <a:r>
              <a:rPr spc="-10" dirty="0"/>
              <a:t>Objectives</a:t>
            </a:r>
          </a:p>
        </p:txBody>
      </p:sp>
      <p:sp>
        <p:nvSpPr>
          <p:cNvPr id="7" name="object 7"/>
          <p:cNvSpPr txBox="1">
            <a:spLocks noGrp="1"/>
          </p:cNvSpPr>
          <p:nvPr>
            <p:ph idx="1"/>
          </p:nvPr>
        </p:nvSpPr>
        <p:spPr>
          <a:xfrm>
            <a:off x="1905000" y="1676400"/>
            <a:ext cx="8766175" cy="2516108"/>
          </a:xfrm>
          <a:prstGeom prst="rect">
            <a:avLst/>
          </a:prstGeom>
        </p:spPr>
        <p:txBody>
          <a:bodyPr vert="horz" wrap="square" lIns="0" tIns="561374" rIns="0" bIns="0" rtlCol="0">
            <a:spAutoFit/>
          </a:bodyPr>
          <a:lstStyle/>
          <a:p>
            <a:pPr marL="299085" indent="-285750">
              <a:lnSpc>
                <a:spcPct val="100000"/>
              </a:lnSpc>
              <a:spcBef>
                <a:spcPts val="1110"/>
              </a:spcBef>
              <a:buFont typeface="Wingdings" panose="05000000000000000000" pitchFamily="2" charset="2"/>
              <a:buChar char="Ø"/>
            </a:pPr>
            <a:r>
              <a:rPr lang="vi-VN" sz="1800" dirty="0">
                <a:solidFill>
                  <a:srgbClr val="000000"/>
                </a:solidFill>
              </a:rPr>
              <a:t>Giải thích khái niệm gửi </a:t>
            </a:r>
            <a:r>
              <a:rPr lang="vi-VN" sz="1800" dirty="0" err="1">
                <a:solidFill>
                  <a:srgbClr val="000000"/>
                </a:solidFill>
              </a:rPr>
              <a:t>email</a:t>
            </a:r>
            <a:r>
              <a:rPr lang="vi-VN" sz="1800" dirty="0">
                <a:solidFill>
                  <a:srgbClr val="000000"/>
                </a:solidFill>
              </a:rPr>
              <a:t> bằng lập trình </a:t>
            </a:r>
            <a:r>
              <a:rPr lang="vi-VN" sz="1800" dirty="0" err="1">
                <a:solidFill>
                  <a:srgbClr val="000000"/>
                </a:solidFill>
              </a:rPr>
              <a:t>Python</a:t>
            </a:r>
            <a:endParaRPr lang="vi-VN" sz="1800" dirty="0">
              <a:solidFill>
                <a:srgbClr val="000000"/>
              </a:solidFill>
            </a:endParaRPr>
          </a:p>
          <a:p>
            <a:pPr marL="299085" indent="-285750">
              <a:lnSpc>
                <a:spcPct val="100000"/>
              </a:lnSpc>
              <a:spcBef>
                <a:spcPts val="1110"/>
              </a:spcBef>
              <a:buFont typeface="Wingdings" panose="05000000000000000000" pitchFamily="2" charset="2"/>
              <a:buChar char="Ø"/>
            </a:pPr>
            <a:r>
              <a:rPr lang="vi-VN" sz="1800" dirty="0">
                <a:solidFill>
                  <a:srgbClr val="000000"/>
                </a:solidFill>
              </a:rPr>
              <a:t>Định nghĩa và mô tả các ứng dụng của </a:t>
            </a:r>
            <a:r>
              <a:rPr lang="vi-VN" sz="1800" dirty="0" err="1">
                <a:solidFill>
                  <a:srgbClr val="000000"/>
                </a:solidFill>
              </a:rPr>
              <a:t>email</a:t>
            </a:r>
            <a:r>
              <a:rPr lang="vi-VN" sz="1800" dirty="0">
                <a:solidFill>
                  <a:srgbClr val="000000"/>
                </a:solidFill>
              </a:rPr>
              <a:t> trong lập trình </a:t>
            </a:r>
            <a:r>
              <a:rPr lang="vi-VN" sz="1800" dirty="0" err="1">
                <a:solidFill>
                  <a:srgbClr val="000000"/>
                </a:solidFill>
              </a:rPr>
              <a:t>Python</a:t>
            </a:r>
            <a:endParaRPr lang="vi-VN" sz="1800" dirty="0">
              <a:solidFill>
                <a:srgbClr val="000000"/>
              </a:solidFill>
            </a:endParaRPr>
          </a:p>
          <a:p>
            <a:pPr marL="299085" indent="-285750">
              <a:lnSpc>
                <a:spcPct val="100000"/>
              </a:lnSpc>
              <a:spcBef>
                <a:spcPts val="1110"/>
              </a:spcBef>
              <a:buFont typeface="Wingdings" panose="05000000000000000000" pitchFamily="2" charset="2"/>
              <a:buChar char="Ø"/>
            </a:pPr>
            <a:r>
              <a:rPr lang="vi-VN" sz="1800" dirty="0">
                <a:solidFill>
                  <a:srgbClr val="000000"/>
                </a:solidFill>
              </a:rPr>
              <a:t>Khám phá các kỹ năng cần thiết để tự động hóa </a:t>
            </a:r>
            <a:r>
              <a:rPr lang="vi-VN" sz="1800" dirty="0" err="1">
                <a:solidFill>
                  <a:srgbClr val="000000"/>
                </a:solidFill>
              </a:rPr>
              <a:t>email</a:t>
            </a:r>
            <a:endParaRPr lang="vi-VN" sz="1800" dirty="0">
              <a:solidFill>
                <a:srgbClr val="000000"/>
              </a:solidFill>
            </a:endParaRPr>
          </a:p>
          <a:p>
            <a:pPr marL="299085" indent="-285750">
              <a:lnSpc>
                <a:spcPct val="100000"/>
              </a:lnSpc>
              <a:spcBef>
                <a:spcPts val="1110"/>
              </a:spcBef>
              <a:buFont typeface="Wingdings" panose="05000000000000000000" pitchFamily="2" charset="2"/>
              <a:buChar char="Ø"/>
            </a:pPr>
            <a:r>
              <a:rPr lang="vi-VN" sz="1800" dirty="0">
                <a:solidFill>
                  <a:srgbClr val="000000"/>
                </a:solidFill>
              </a:rPr>
              <a:t>Mô tả quy trình làm việc của việc gửi </a:t>
            </a:r>
            <a:r>
              <a:rPr lang="vi-VN" sz="1800" dirty="0" err="1">
                <a:solidFill>
                  <a:srgbClr val="000000"/>
                </a:solidFill>
              </a:rPr>
              <a:t>email</a:t>
            </a:r>
            <a:endParaRPr lang="vi-VN" sz="1800" dirty="0">
              <a:solidFill>
                <a:srgbClr val="000000"/>
              </a:solidFill>
            </a:endParaRPr>
          </a:p>
          <a:p>
            <a:pPr marL="299085" indent="-285750">
              <a:lnSpc>
                <a:spcPct val="100000"/>
              </a:lnSpc>
              <a:spcBef>
                <a:spcPts val="1110"/>
              </a:spcBef>
              <a:buFont typeface="Wingdings" panose="05000000000000000000" pitchFamily="2" charset="2"/>
              <a:buChar char="Ø"/>
            </a:pPr>
            <a:r>
              <a:rPr lang="vi-VN" sz="1800" dirty="0">
                <a:solidFill>
                  <a:srgbClr val="000000"/>
                </a:solidFill>
              </a:rPr>
              <a:t>Minh họa các thư viện và công cụ gửi </a:t>
            </a:r>
            <a:r>
              <a:rPr lang="vi-VN" sz="1800" dirty="0" err="1">
                <a:solidFill>
                  <a:srgbClr val="000000"/>
                </a:solidFill>
              </a:rPr>
              <a:t>email</a:t>
            </a:r>
            <a:endParaRPr sz="1800" dirty="0">
              <a:latin typeface="Times New Roman"/>
              <a:cs typeface="Times New Roman"/>
            </a:endParaRPr>
          </a:p>
        </p:txBody>
      </p:sp>
      <p:sp>
        <p:nvSpPr>
          <p:cNvPr id="8" name="object 8"/>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9" name="object 9"/>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grpSp>
        <p:nvGrpSpPr>
          <p:cNvPr id="6" name="object 6"/>
          <p:cNvGrpSpPr/>
          <p:nvPr/>
        </p:nvGrpSpPr>
        <p:grpSpPr>
          <a:xfrm>
            <a:off x="987552" y="1595627"/>
            <a:ext cx="10909300" cy="4320540"/>
            <a:chOff x="987552" y="1595627"/>
            <a:chExt cx="10909300" cy="4320540"/>
          </a:xfrm>
        </p:grpSpPr>
        <p:sp>
          <p:nvSpPr>
            <p:cNvPr id="7" name="object 7"/>
            <p:cNvSpPr/>
            <p:nvPr/>
          </p:nvSpPr>
          <p:spPr>
            <a:xfrm>
              <a:off x="5208269" y="2541269"/>
              <a:ext cx="6377940" cy="3355975"/>
            </a:xfrm>
            <a:custGeom>
              <a:avLst/>
              <a:gdLst/>
              <a:ahLst/>
              <a:cxnLst/>
              <a:rect l="l" t="t" r="r" b="b"/>
              <a:pathLst>
                <a:path w="6377940" h="3355975">
                  <a:moveTo>
                    <a:pt x="6377940" y="0"/>
                  </a:moveTo>
                  <a:lnTo>
                    <a:pt x="0" y="0"/>
                  </a:lnTo>
                  <a:lnTo>
                    <a:pt x="0" y="3355848"/>
                  </a:lnTo>
                  <a:lnTo>
                    <a:pt x="6377940" y="3355848"/>
                  </a:lnTo>
                  <a:lnTo>
                    <a:pt x="6377940" y="0"/>
                  </a:lnTo>
                  <a:close/>
                </a:path>
              </a:pathLst>
            </a:custGeom>
            <a:solidFill>
              <a:srgbClr val="FFFFFF"/>
            </a:solidFill>
          </p:spPr>
          <p:txBody>
            <a:bodyPr wrap="square" lIns="0" tIns="0" rIns="0" bIns="0" rtlCol="0"/>
            <a:lstStyle/>
            <a:p>
              <a:endParaRPr/>
            </a:p>
          </p:txBody>
        </p:sp>
        <p:sp>
          <p:nvSpPr>
            <p:cNvPr id="8" name="object 8"/>
            <p:cNvSpPr/>
            <p:nvPr/>
          </p:nvSpPr>
          <p:spPr>
            <a:xfrm>
              <a:off x="5208269" y="2541269"/>
              <a:ext cx="6377940" cy="3355975"/>
            </a:xfrm>
            <a:custGeom>
              <a:avLst/>
              <a:gdLst/>
              <a:ahLst/>
              <a:cxnLst/>
              <a:rect l="l" t="t" r="r" b="b"/>
              <a:pathLst>
                <a:path w="6377940" h="3355975">
                  <a:moveTo>
                    <a:pt x="0" y="0"/>
                  </a:moveTo>
                  <a:lnTo>
                    <a:pt x="6377940" y="0"/>
                  </a:lnTo>
                  <a:lnTo>
                    <a:pt x="6377940" y="3355848"/>
                  </a:lnTo>
                  <a:lnTo>
                    <a:pt x="0" y="3355848"/>
                  </a:lnTo>
                  <a:lnTo>
                    <a:pt x="0" y="0"/>
                  </a:lnTo>
                  <a:close/>
                </a:path>
              </a:pathLst>
            </a:custGeom>
            <a:ln w="38099">
              <a:solidFill>
                <a:srgbClr val="FFB631"/>
              </a:solidFill>
            </a:ln>
          </p:spPr>
          <p:txBody>
            <a:bodyPr wrap="square" lIns="0" tIns="0" rIns="0" bIns="0" rtlCol="0"/>
            <a:lstStyle/>
            <a:p>
              <a:endParaRPr/>
            </a:p>
          </p:txBody>
        </p:sp>
        <p:pic>
          <p:nvPicPr>
            <p:cNvPr id="9" name="object 9"/>
            <p:cNvPicPr/>
            <p:nvPr/>
          </p:nvPicPr>
          <p:blipFill>
            <a:blip r:embed="rId3" cstate="print"/>
            <a:stretch>
              <a:fillRect/>
            </a:stretch>
          </p:blipFill>
          <p:spPr>
            <a:xfrm>
              <a:off x="987552" y="1595627"/>
              <a:ext cx="10908792" cy="4300728"/>
            </a:xfrm>
            <a:prstGeom prst="rect">
              <a:avLst/>
            </a:prstGeom>
          </p:spPr>
        </p:pic>
        <p:sp>
          <p:nvSpPr>
            <p:cNvPr id="10" name="object 10"/>
            <p:cNvSpPr/>
            <p:nvPr/>
          </p:nvSpPr>
          <p:spPr>
            <a:xfrm>
              <a:off x="4978908" y="1639823"/>
              <a:ext cx="6835140" cy="1176655"/>
            </a:xfrm>
            <a:custGeom>
              <a:avLst/>
              <a:gdLst/>
              <a:ahLst/>
              <a:cxnLst/>
              <a:rect l="l" t="t" r="r" b="b"/>
              <a:pathLst>
                <a:path w="6835140" h="1176655">
                  <a:moveTo>
                    <a:pt x="6536740" y="0"/>
                  </a:moveTo>
                  <a:lnTo>
                    <a:pt x="298399" y="0"/>
                  </a:lnTo>
                  <a:lnTo>
                    <a:pt x="249998" y="3911"/>
                  </a:lnTo>
                  <a:lnTo>
                    <a:pt x="204083" y="15214"/>
                  </a:lnTo>
                  <a:lnTo>
                    <a:pt x="161269" y="33299"/>
                  </a:lnTo>
                  <a:lnTo>
                    <a:pt x="122170" y="57569"/>
                  </a:lnTo>
                  <a:lnTo>
                    <a:pt x="87400" y="87401"/>
                  </a:lnTo>
                  <a:lnTo>
                    <a:pt x="57574" y="122161"/>
                  </a:lnTo>
                  <a:lnTo>
                    <a:pt x="33306" y="161264"/>
                  </a:lnTo>
                  <a:lnTo>
                    <a:pt x="15212" y="204076"/>
                  </a:lnTo>
                  <a:lnTo>
                    <a:pt x="3904" y="249999"/>
                  </a:lnTo>
                  <a:lnTo>
                    <a:pt x="0" y="298399"/>
                  </a:lnTo>
                  <a:lnTo>
                    <a:pt x="0" y="878128"/>
                  </a:lnTo>
                  <a:lnTo>
                    <a:pt x="3904" y="926528"/>
                  </a:lnTo>
                  <a:lnTo>
                    <a:pt x="15212" y="972438"/>
                  </a:lnTo>
                  <a:lnTo>
                    <a:pt x="33306" y="1015263"/>
                  </a:lnTo>
                  <a:lnTo>
                    <a:pt x="57574" y="1054353"/>
                  </a:lnTo>
                  <a:lnTo>
                    <a:pt x="87400" y="1089126"/>
                  </a:lnTo>
                  <a:lnTo>
                    <a:pt x="122170" y="1118946"/>
                  </a:lnTo>
                  <a:lnTo>
                    <a:pt x="161269" y="1143215"/>
                  </a:lnTo>
                  <a:lnTo>
                    <a:pt x="204083" y="1161313"/>
                  </a:lnTo>
                  <a:lnTo>
                    <a:pt x="249998" y="1172616"/>
                  </a:lnTo>
                  <a:lnTo>
                    <a:pt x="298399" y="1176527"/>
                  </a:lnTo>
                  <a:lnTo>
                    <a:pt x="6536740" y="1176527"/>
                  </a:lnTo>
                  <a:lnTo>
                    <a:pt x="6585140" y="1172616"/>
                  </a:lnTo>
                  <a:lnTo>
                    <a:pt x="6631051" y="1161313"/>
                  </a:lnTo>
                  <a:lnTo>
                    <a:pt x="6673862" y="1143215"/>
                  </a:lnTo>
                  <a:lnTo>
                    <a:pt x="6712966" y="1118946"/>
                  </a:lnTo>
                  <a:lnTo>
                    <a:pt x="6747738" y="1089126"/>
                  </a:lnTo>
                  <a:lnTo>
                    <a:pt x="6777558" y="1054353"/>
                  </a:lnTo>
                  <a:lnTo>
                    <a:pt x="6801827" y="1015263"/>
                  </a:lnTo>
                  <a:lnTo>
                    <a:pt x="6819925" y="972438"/>
                  </a:lnTo>
                  <a:lnTo>
                    <a:pt x="6831228" y="926528"/>
                  </a:lnTo>
                  <a:lnTo>
                    <a:pt x="6835140" y="878128"/>
                  </a:lnTo>
                  <a:lnTo>
                    <a:pt x="6835140" y="298399"/>
                  </a:lnTo>
                  <a:lnTo>
                    <a:pt x="6831228" y="249999"/>
                  </a:lnTo>
                  <a:lnTo>
                    <a:pt x="6819925" y="204076"/>
                  </a:lnTo>
                  <a:lnTo>
                    <a:pt x="6801827" y="161264"/>
                  </a:lnTo>
                  <a:lnTo>
                    <a:pt x="6777558" y="122161"/>
                  </a:lnTo>
                  <a:lnTo>
                    <a:pt x="6747738" y="87401"/>
                  </a:lnTo>
                  <a:lnTo>
                    <a:pt x="6712966" y="57569"/>
                  </a:lnTo>
                  <a:lnTo>
                    <a:pt x="6673862" y="33299"/>
                  </a:lnTo>
                  <a:lnTo>
                    <a:pt x="6631051" y="15214"/>
                  </a:lnTo>
                  <a:lnTo>
                    <a:pt x="6585140" y="3911"/>
                  </a:lnTo>
                  <a:lnTo>
                    <a:pt x="6536740" y="0"/>
                  </a:lnTo>
                  <a:close/>
                </a:path>
              </a:pathLst>
            </a:custGeom>
            <a:solidFill>
              <a:srgbClr val="FFB631"/>
            </a:solidFill>
          </p:spPr>
          <p:txBody>
            <a:bodyPr wrap="square" lIns="0" tIns="0" rIns="0" bIns="0" rtlCol="0"/>
            <a:lstStyle/>
            <a:p>
              <a:endParaRPr/>
            </a:p>
          </p:txBody>
        </p:sp>
        <p:sp>
          <p:nvSpPr>
            <p:cNvPr id="11" name="object 11"/>
            <p:cNvSpPr/>
            <p:nvPr/>
          </p:nvSpPr>
          <p:spPr>
            <a:xfrm>
              <a:off x="4978908" y="1639823"/>
              <a:ext cx="6835140" cy="1176655"/>
            </a:xfrm>
            <a:custGeom>
              <a:avLst/>
              <a:gdLst/>
              <a:ahLst/>
              <a:cxnLst/>
              <a:rect l="l" t="t" r="r" b="b"/>
              <a:pathLst>
                <a:path w="6835140" h="1176655">
                  <a:moveTo>
                    <a:pt x="0" y="298399"/>
                  </a:moveTo>
                  <a:lnTo>
                    <a:pt x="3904" y="249999"/>
                  </a:lnTo>
                  <a:lnTo>
                    <a:pt x="15212" y="204076"/>
                  </a:lnTo>
                  <a:lnTo>
                    <a:pt x="33306" y="161264"/>
                  </a:lnTo>
                  <a:lnTo>
                    <a:pt x="57574" y="122161"/>
                  </a:lnTo>
                  <a:lnTo>
                    <a:pt x="87400" y="87401"/>
                  </a:lnTo>
                  <a:lnTo>
                    <a:pt x="122170" y="57569"/>
                  </a:lnTo>
                  <a:lnTo>
                    <a:pt x="161269" y="33299"/>
                  </a:lnTo>
                  <a:lnTo>
                    <a:pt x="204083" y="15214"/>
                  </a:lnTo>
                  <a:lnTo>
                    <a:pt x="249998" y="3911"/>
                  </a:lnTo>
                  <a:lnTo>
                    <a:pt x="298399" y="0"/>
                  </a:lnTo>
                  <a:lnTo>
                    <a:pt x="6536740" y="0"/>
                  </a:lnTo>
                  <a:lnTo>
                    <a:pt x="6585140" y="3911"/>
                  </a:lnTo>
                  <a:lnTo>
                    <a:pt x="6631051" y="15214"/>
                  </a:lnTo>
                  <a:lnTo>
                    <a:pt x="6673862" y="33299"/>
                  </a:lnTo>
                  <a:lnTo>
                    <a:pt x="6712966" y="57569"/>
                  </a:lnTo>
                  <a:lnTo>
                    <a:pt x="6747738" y="87401"/>
                  </a:lnTo>
                  <a:lnTo>
                    <a:pt x="6777558" y="122161"/>
                  </a:lnTo>
                  <a:lnTo>
                    <a:pt x="6801827" y="161264"/>
                  </a:lnTo>
                  <a:lnTo>
                    <a:pt x="6819925" y="204076"/>
                  </a:lnTo>
                  <a:lnTo>
                    <a:pt x="6831228" y="249999"/>
                  </a:lnTo>
                  <a:lnTo>
                    <a:pt x="6835140" y="298399"/>
                  </a:lnTo>
                  <a:lnTo>
                    <a:pt x="6835140" y="878128"/>
                  </a:lnTo>
                  <a:lnTo>
                    <a:pt x="6831228" y="926528"/>
                  </a:lnTo>
                  <a:lnTo>
                    <a:pt x="6819925" y="972438"/>
                  </a:lnTo>
                  <a:lnTo>
                    <a:pt x="6801827" y="1015263"/>
                  </a:lnTo>
                  <a:lnTo>
                    <a:pt x="6777558" y="1054353"/>
                  </a:lnTo>
                  <a:lnTo>
                    <a:pt x="6747738" y="1089126"/>
                  </a:lnTo>
                  <a:lnTo>
                    <a:pt x="6712966" y="1118946"/>
                  </a:lnTo>
                  <a:lnTo>
                    <a:pt x="6673862" y="1143215"/>
                  </a:lnTo>
                  <a:lnTo>
                    <a:pt x="6631051" y="1161313"/>
                  </a:lnTo>
                  <a:lnTo>
                    <a:pt x="6585140" y="1172616"/>
                  </a:lnTo>
                  <a:lnTo>
                    <a:pt x="6536740" y="1176527"/>
                  </a:lnTo>
                  <a:lnTo>
                    <a:pt x="298399" y="1176527"/>
                  </a:lnTo>
                  <a:lnTo>
                    <a:pt x="249998" y="1172616"/>
                  </a:lnTo>
                  <a:lnTo>
                    <a:pt x="204083" y="1161313"/>
                  </a:lnTo>
                  <a:lnTo>
                    <a:pt x="161269" y="1143215"/>
                  </a:lnTo>
                  <a:lnTo>
                    <a:pt x="122170" y="1118946"/>
                  </a:lnTo>
                  <a:lnTo>
                    <a:pt x="87400" y="1089126"/>
                  </a:lnTo>
                  <a:lnTo>
                    <a:pt x="57574" y="1054353"/>
                  </a:lnTo>
                  <a:lnTo>
                    <a:pt x="33306" y="1015263"/>
                  </a:lnTo>
                  <a:lnTo>
                    <a:pt x="15212" y="972438"/>
                  </a:lnTo>
                  <a:lnTo>
                    <a:pt x="3904" y="926528"/>
                  </a:lnTo>
                  <a:lnTo>
                    <a:pt x="0" y="878128"/>
                  </a:lnTo>
                  <a:lnTo>
                    <a:pt x="0" y="298399"/>
                  </a:lnTo>
                  <a:close/>
                </a:path>
              </a:pathLst>
            </a:custGeom>
            <a:ln w="57150">
              <a:solidFill>
                <a:srgbClr val="FFB631"/>
              </a:solidFill>
            </a:ln>
          </p:spPr>
          <p:txBody>
            <a:bodyPr wrap="square" lIns="0" tIns="0" rIns="0" bIns="0" rtlCol="0"/>
            <a:lstStyle/>
            <a:p>
              <a:endParaRPr/>
            </a:p>
          </p:txBody>
        </p:sp>
        <p:pic>
          <p:nvPicPr>
            <p:cNvPr id="12" name="object 12"/>
            <p:cNvPicPr/>
            <p:nvPr/>
          </p:nvPicPr>
          <p:blipFill>
            <a:blip r:embed="rId4" cstate="print"/>
            <a:stretch>
              <a:fillRect/>
            </a:stretch>
          </p:blipFill>
          <p:spPr>
            <a:xfrm>
              <a:off x="6126480" y="4500372"/>
              <a:ext cx="1862327" cy="978408"/>
            </a:xfrm>
            <a:prstGeom prst="rect">
              <a:avLst/>
            </a:prstGeom>
          </p:spPr>
        </p:pic>
        <p:sp>
          <p:nvSpPr>
            <p:cNvPr id="13" name="object 13"/>
            <p:cNvSpPr/>
            <p:nvPr/>
          </p:nvSpPr>
          <p:spPr>
            <a:xfrm>
              <a:off x="6179819" y="4515611"/>
              <a:ext cx="1755775" cy="871855"/>
            </a:xfrm>
            <a:custGeom>
              <a:avLst/>
              <a:gdLst/>
              <a:ahLst/>
              <a:cxnLst/>
              <a:rect l="l" t="t" r="r" b="b"/>
              <a:pathLst>
                <a:path w="1755775" h="871854">
                  <a:moveTo>
                    <a:pt x="1755648" y="0"/>
                  </a:moveTo>
                  <a:lnTo>
                    <a:pt x="0" y="0"/>
                  </a:lnTo>
                  <a:lnTo>
                    <a:pt x="0" y="871727"/>
                  </a:lnTo>
                  <a:lnTo>
                    <a:pt x="1755648" y="871727"/>
                  </a:lnTo>
                  <a:lnTo>
                    <a:pt x="1755648" y="0"/>
                  </a:lnTo>
                  <a:close/>
                </a:path>
              </a:pathLst>
            </a:custGeom>
            <a:solidFill>
              <a:srgbClr val="FFB631"/>
            </a:solidFill>
          </p:spPr>
          <p:txBody>
            <a:bodyPr wrap="square" lIns="0" tIns="0" rIns="0" bIns="0" rtlCol="0"/>
            <a:lstStyle/>
            <a:p>
              <a:endParaRPr/>
            </a:p>
          </p:txBody>
        </p:sp>
      </p:grpSp>
      <p:sp>
        <p:nvSpPr>
          <p:cNvPr id="14" name="object 14"/>
          <p:cNvSpPr txBox="1">
            <a:spLocks noGrp="1"/>
          </p:cNvSpPr>
          <p:nvPr>
            <p:ph type="title"/>
          </p:nvPr>
        </p:nvSpPr>
        <p:spPr>
          <a:xfrm>
            <a:off x="1053554" y="627886"/>
            <a:ext cx="10145851" cy="574040"/>
          </a:xfrm>
          <a:prstGeom prst="rect">
            <a:avLst/>
          </a:prstGeom>
        </p:spPr>
        <p:txBody>
          <a:bodyPr vert="horz" wrap="square" lIns="0" tIns="12700" rIns="0" bIns="0" rtlCol="0">
            <a:spAutoFit/>
          </a:bodyPr>
          <a:lstStyle/>
          <a:p>
            <a:pPr marL="1661160">
              <a:lnSpc>
                <a:spcPct val="100000"/>
              </a:lnSpc>
              <a:spcBef>
                <a:spcPts val="100"/>
              </a:spcBef>
            </a:pPr>
            <a:r>
              <a:rPr lang="vi-VN" dirty="0"/>
              <a:t>Gửi </a:t>
            </a:r>
            <a:r>
              <a:rPr lang="vi-VN" dirty="0" err="1"/>
              <a:t>email</a:t>
            </a:r>
            <a:r>
              <a:rPr lang="vi-VN" dirty="0"/>
              <a:t> là gì</a:t>
            </a:r>
            <a:r>
              <a:rPr spc="-10" dirty="0"/>
              <a:t>?</a:t>
            </a:r>
          </a:p>
        </p:txBody>
      </p:sp>
      <p:sp>
        <p:nvSpPr>
          <p:cNvPr id="19" name="object 19"/>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20" name="object 20"/>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21" name="object 21"/>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3</a:t>
            </a:fld>
            <a:endParaRPr spc="-50" dirty="0"/>
          </a:p>
        </p:txBody>
      </p:sp>
      <p:sp>
        <p:nvSpPr>
          <p:cNvPr id="15" name="object 15"/>
          <p:cNvSpPr txBox="1"/>
          <p:nvPr/>
        </p:nvSpPr>
        <p:spPr>
          <a:xfrm>
            <a:off x="6179820" y="4515611"/>
            <a:ext cx="1755775" cy="871855"/>
          </a:xfrm>
          <a:prstGeom prst="rect">
            <a:avLst/>
          </a:prstGeom>
        </p:spPr>
        <p:txBody>
          <a:bodyPr vert="horz" wrap="square" lIns="0" tIns="222250" rIns="0" bIns="0" rtlCol="0">
            <a:spAutoFit/>
          </a:bodyPr>
          <a:lstStyle/>
          <a:p>
            <a:pPr marL="342900">
              <a:lnSpc>
                <a:spcPct val="100000"/>
              </a:lnSpc>
              <a:spcBef>
                <a:spcPts val="1750"/>
              </a:spcBef>
            </a:pPr>
            <a:r>
              <a:rPr sz="2000" b="1" spc="-10" dirty="0">
                <a:latin typeface="Courier New"/>
                <a:cs typeface="Courier New"/>
              </a:rPr>
              <a:t>smtplib</a:t>
            </a:r>
            <a:endParaRPr sz="2000">
              <a:latin typeface="Courier New"/>
              <a:cs typeface="Courier New"/>
            </a:endParaRPr>
          </a:p>
        </p:txBody>
      </p:sp>
      <p:pic>
        <p:nvPicPr>
          <p:cNvPr id="16" name="object 16"/>
          <p:cNvPicPr/>
          <p:nvPr/>
        </p:nvPicPr>
        <p:blipFill>
          <a:blip r:embed="rId5" cstate="print"/>
          <a:stretch>
            <a:fillRect/>
          </a:stretch>
        </p:blipFill>
        <p:spPr>
          <a:xfrm>
            <a:off x="8804147" y="4500371"/>
            <a:ext cx="1862327" cy="978408"/>
          </a:xfrm>
          <a:prstGeom prst="rect">
            <a:avLst/>
          </a:prstGeom>
        </p:spPr>
      </p:pic>
      <p:sp>
        <p:nvSpPr>
          <p:cNvPr id="17" name="object 17"/>
          <p:cNvSpPr txBox="1"/>
          <p:nvPr/>
        </p:nvSpPr>
        <p:spPr>
          <a:xfrm>
            <a:off x="8857488" y="4515611"/>
            <a:ext cx="1755775" cy="871855"/>
          </a:xfrm>
          <a:prstGeom prst="rect">
            <a:avLst/>
          </a:prstGeom>
          <a:solidFill>
            <a:srgbClr val="FFB631"/>
          </a:solidFill>
        </p:spPr>
        <p:txBody>
          <a:bodyPr vert="horz" wrap="square" lIns="0" tIns="222250" rIns="0" bIns="0" rtlCol="0">
            <a:spAutoFit/>
          </a:bodyPr>
          <a:lstStyle/>
          <a:p>
            <a:pPr marL="496570">
              <a:lnSpc>
                <a:spcPct val="100000"/>
              </a:lnSpc>
              <a:spcBef>
                <a:spcPts val="1750"/>
              </a:spcBef>
            </a:pPr>
            <a:r>
              <a:rPr sz="2000" b="1" spc="-10" dirty="0">
                <a:latin typeface="Courier New"/>
                <a:cs typeface="Courier New"/>
              </a:rPr>
              <a:t>email</a:t>
            </a:r>
            <a:endParaRPr sz="2000">
              <a:latin typeface="Courier New"/>
              <a:cs typeface="Courier New"/>
            </a:endParaRPr>
          </a:p>
        </p:txBody>
      </p:sp>
      <p:sp>
        <p:nvSpPr>
          <p:cNvPr id="18" name="object 18"/>
          <p:cNvSpPr txBox="1"/>
          <p:nvPr/>
        </p:nvSpPr>
        <p:spPr>
          <a:xfrm>
            <a:off x="5144477" y="1792427"/>
            <a:ext cx="6291580" cy="1718419"/>
          </a:xfrm>
          <a:prstGeom prst="rect">
            <a:avLst/>
          </a:prstGeom>
        </p:spPr>
        <p:txBody>
          <a:bodyPr vert="horz" wrap="square" lIns="0" tIns="12700" rIns="0" bIns="0" rtlCol="0">
            <a:spAutoFit/>
          </a:bodyPr>
          <a:lstStyle/>
          <a:p>
            <a:pPr marL="12700" marR="5080" algn="just">
              <a:lnSpc>
                <a:spcPct val="100000"/>
              </a:lnSpc>
              <a:spcBef>
                <a:spcPts val="100"/>
              </a:spcBef>
            </a:pPr>
            <a:r>
              <a:rPr lang="vi-VN" sz="1800" b="1" dirty="0">
                <a:latin typeface="Trebuchet MS"/>
                <a:cs typeface="Trebuchet MS"/>
              </a:rPr>
              <a:t>Gửi </a:t>
            </a:r>
            <a:r>
              <a:rPr lang="vi-VN" sz="1800" b="1" dirty="0" err="1">
                <a:latin typeface="Trebuchet MS"/>
                <a:cs typeface="Trebuchet MS"/>
              </a:rPr>
              <a:t>email</a:t>
            </a:r>
            <a:r>
              <a:rPr lang="vi-VN" sz="1800" b="1" dirty="0">
                <a:latin typeface="Trebuchet MS"/>
                <a:cs typeface="Trebuchet MS"/>
              </a:rPr>
              <a:t> thông qua </a:t>
            </a:r>
            <a:r>
              <a:rPr lang="vi-VN" sz="1800" b="1" dirty="0" err="1">
                <a:latin typeface="Trebuchet MS"/>
                <a:cs typeface="Trebuchet MS"/>
              </a:rPr>
              <a:t>Python</a:t>
            </a:r>
            <a:r>
              <a:rPr lang="vi-VN" sz="1800" b="1" dirty="0">
                <a:latin typeface="Trebuchet MS"/>
                <a:cs typeface="Trebuchet MS"/>
              </a:rPr>
              <a:t> đề cập đến quá trình gửi và nhận </a:t>
            </a:r>
            <a:r>
              <a:rPr lang="vi-VN" sz="1800" b="1" dirty="0" err="1">
                <a:latin typeface="Trebuchet MS"/>
                <a:cs typeface="Trebuchet MS"/>
              </a:rPr>
              <a:t>email</a:t>
            </a:r>
            <a:r>
              <a:rPr lang="vi-VN" sz="1800" b="1" dirty="0">
                <a:latin typeface="Trebuchet MS"/>
                <a:cs typeface="Trebuchet MS"/>
              </a:rPr>
              <a:t> theo chương trình bằng ngôn ngữ lập trình </a:t>
            </a:r>
            <a:r>
              <a:rPr lang="vi-VN" sz="1800" b="1" dirty="0" err="1">
                <a:latin typeface="Trebuchet MS"/>
                <a:cs typeface="Trebuchet MS"/>
              </a:rPr>
              <a:t>Python</a:t>
            </a:r>
            <a:endParaRPr lang="vi-VN" b="1" dirty="0">
              <a:latin typeface="Trebuchet MS"/>
              <a:cs typeface="Trebuchet MS"/>
            </a:endParaRPr>
          </a:p>
          <a:p>
            <a:pPr marL="12700" marR="5080" algn="just">
              <a:lnSpc>
                <a:spcPct val="100000"/>
              </a:lnSpc>
              <a:spcBef>
                <a:spcPts val="100"/>
              </a:spcBef>
            </a:pPr>
            <a:endParaRPr sz="1800" dirty="0">
              <a:latin typeface="Trebuchet MS"/>
              <a:cs typeface="Trebuchet MS"/>
            </a:endParaRPr>
          </a:p>
          <a:p>
            <a:pPr marL="530860" marR="161925" indent="-342900">
              <a:lnSpc>
                <a:spcPct val="100400"/>
              </a:lnSpc>
            </a:pPr>
            <a:r>
              <a:rPr sz="1900" dirty="0">
                <a:solidFill>
                  <a:srgbClr val="A42E10"/>
                </a:solidFill>
                <a:latin typeface="Webdings"/>
                <a:cs typeface="Webdings"/>
              </a:rPr>
              <a:t></a:t>
            </a:r>
            <a:r>
              <a:rPr sz="1900" spc="300" dirty="0">
                <a:solidFill>
                  <a:srgbClr val="A42E10"/>
                </a:solidFill>
                <a:latin typeface="Times New Roman"/>
                <a:cs typeface="Times New Roman"/>
              </a:rPr>
              <a:t> </a:t>
            </a:r>
            <a:r>
              <a:rPr sz="1900" b="1" dirty="0">
                <a:latin typeface="Trebuchet MS"/>
                <a:cs typeface="Trebuchet MS"/>
              </a:rPr>
              <a:t>Python</a:t>
            </a:r>
            <a:r>
              <a:rPr sz="1900" b="1" spc="-20" dirty="0">
                <a:latin typeface="Trebuchet MS"/>
                <a:cs typeface="Trebuchet MS"/>
              </a:rPr>
              <a:t> </a:t>
            </a:r>
            <a:r>
              <a:rPr lang="vi-VN" sz="1900" b="1" spc="-20" dirty="0">
                <a:latin typeface="Trebuchet MS"/>
                <a:cs typeface="Trebuchet MS"/>
              </a:rPr>
              <a:t>cung cấp các thư viện tích hợp sau cho phép </a:t>
            </a:r>
            <a:r>
              <a:rPr lang="vi-VN" sz="1900" b="1" spc="-20" dirty="0" err="1">
                <a:latin typeface="Trebuchet MS"/>
                <a:cs typeface="Trebuchet MS"/>
              </a:rPr>
              <a:t>ngườ</a:t>
            </a:r>
            <a:r>
              <a:rPr lang="vi-VN" sz="1900" b="1" spc="-20" dirty="0">
                <a:latin typeface="Trebuchet MS"/>
                <a:cs typeface="Trebuchet MS"/>
              </a:rPr>
              <a:t> gửi và nhận </a:t>
            </a:r>
            <a:r>
              <a:rPr lang="vi-VN" sz="1900" b="1" spc="-20" dirty="0" err="1">
                <a:latin typeface="Trebuchet MS"/>
                <a:cs typeface="Trebuchet MS"/>
              </a:rPr>
              <a:t>mail</a:t>
            </a:r>
            <a:r>
              <a:rPr lang="vi-VN" sz="1900" b="1" spc="-20" dirty="0">
                <a:latin typeface="Trebuchet MS"/>
                <a:cs typeface="Trebuchet MS"/>
              </a:rPr>
              <a:t> trong </a:t>
            </a:r>
            <a:r>
              <a:rPr lang="vi-VN" sz="1900" b="1" spc="-20" dirty="0" err="1">
                <a:latin typeface="Trebuchet MS"/>
                <a:cs typeface="Trebuchet MS"/>
              </a:rPr>
              <a:t>Python</a:t>
            </a:r>
            <a:r>
              <a:rPr lang="vi-VN" sz="1900" b="1" spc="-20" dirty="0">
                <a:latin typeface="Trebuchet MS"/>
                <a:cs typeface="Trebuchet MS"/>
              </a:rPr>
              <a:t>:</a:t>
            </a:r>
            <a:endParaRPr sz="1900" dirty="0">
              <a:latin typeface="Trebuchet MS"/>
              <a:cs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grpSp>
        <p:nvGrpSpPr>
          <p:cNvPr id="6" name="object 6"/>
          <p:cNvGrpSpPr/>
          <p:nvPr/>
        </p:nvGrpSpPr>
        <p:grpSpPr>
          <a:xfrm>
            <a:off x="2622804" y="3116579"/>
            <a:ext cx="4582795" cy="852169"/>
            <a:chOff x="2622804" y="3116579"/>
            <a:chExt cx="4582795" cy="852169"/>
          </a:xfrm>
        </p:grpSpPr>
        <p:pic>
          <p:nvPicPr>
            <p:cNvPr id="7" name="object 7"/>
            <p:cNvPicPr/>
            <p:nvPr/>
          </p:nvPicPr>
          <p:blipFill>
            <a:blip r:embed="rId3" cstate="print"/>
            <a:stretch>
              <a:fillRect/>
            </a:stretch>
          </p:blipFill>
          <p:spPr>
            <a:xfrm>
              <a:off x="2622804" y="3116579"/>
              <a:ext cx="4582668" cy="851916"/>
            </a:xfrm>
            <a:prstGeom prst="rect">
              <a:avLst/>
            </a:prstGeom>
          </p:spPr>
        </p:pic>
        <p:sp>
          <p:nvSpPr>
            <p:cNvPr id="8" name="object 8"/>
            <p:cNvSpPr/>
            <p:nvPr/>
          </p:nvSpPr>
          <p:spPr>
            <a:xfrm>
              <a:off x="2705100" y="3160775"/>
              <a:ext cx="4418330" cy="687705"/>
            </a:xfrm>
            <a:custGeom>
              <a:avLst/>
              <a:gdLst/>
              <a:ahLst/>
              <a:cxnLst/>
              <a:rect l="l" t="t" r="r" b="b"/>
              <a:pathLst>
                <a:path w="4418330" h="687704">
                  <a:moveTo>
                    <a:pt x="4174642" y="0"/>
                  </a:moveTo>
                  <a:lnTo>
                    <a:pt x="243432" y="0"/>
                  </a:lnTo>
                  <a:lnTo>
                    <a:pt x="194373" y="4940"/>
                  </a:lnTo>
                  <a:lnTo>
                    <a:pt x="148678" y="19126"/>
                  </a:lnTo>
                  <a:lnTo>
                    <a:pt x="107327" y="41579"/>
                  </a:lnTo>
                  <a:lnTo>
                    <a:pt x="71299" y="71297"/>
                  </a:lnTo>
                  <a:lnTo>
                    <a:pt x="41574" y="107327"/>
                  </a:lnTo>
                  <a:lnTo>
                    <a:pt x="19129" y="148678"/>
                  </a:lnTo>
                  <a:lnTo>
                    <a:pt x="4944" y="194373"/>
                  </a:lnTo>
                  <a:lnTo>
                    <a:pt x="0" y="243433"/>
                  </a:lnTo>
                  <a:lnTo>
                    <a:pt x="0" y="443903"/>
                  </a:lnTo>
                  <a:lnTo>
                    <a:pt x="4944" y="492963"/>
                  </a:lnTo>
                  <a:lnTo>
                    <a:pt x="19129" y="538657"/>
                  </a:lnTo>
                  <a:lnTo>
                    <a:pt x="41574" y="580009"/>
                  </a:lnTo>
                  <a:lnTo>
                    <a:pt x="71299" y="616026"/>
                  </a:lnTo>
                  <a:lnTo>
                    <a:pt x="107327" y="645756"/>
                  </a:lnTo>
                  <a:lnTo>
                    <a:pt x="148678" y="668197"/>
                  </a:lnTo>
                  <a:lnTo>
                    <a:pt x="194373" y="682383"/>
                  </a:lnTo>
                  <a:lnTo>
                    <a:pt x="243432" y="687324"/>
                  </a:lnTo>
                  <a:lnTo>
                    <a:pt x="4174642" y="687324"/>
                  </a:lnTo>
                  <a:lnTo>
                    <a:pt x="4223702" y="682383"/>
                  </a:lnTo>
                  <a:lnTo>
                    <a:pt x="4269397" y="668197"/>
                  </a:lnTo>
                  <a:lnTo>
                    <a:pt x="4310748" y="645756"/>
                  </a:lnTo>
                  <a:lnTo>
                    <a:pt x="4346778" y="616026"/>
                  </a:lnTo>
                  <a:lnTo>
                    <a:pt x="4376496" y="580009"/>
                  </a:lnTo>
                  <a:lnTo>
                    <a:pt x="4398949" y="538657"/>
                  </a:lnTo>
                  <a:lnTo>
                    <a:pt x="4413135" y="492963"/>
                  </a:lnTo>
                  <a:lnTo>
                    <a:pt x="4418076" y="443903"/>
                  </a:lnTo>
                  <a:lnTo>
                    <a:pt x="4418076" y="243433"/>
                  </a:lnTo>
                  <a:lnTo>
                    <a:pt x="4413135" y="194373"/>
                  </a:lnTo>
                  <a:lnTo>
                    <a:pt x="4398949" y="148678"/>
                  </a:lnTo>
                  <a:lnTo>
                    <a:pt x="4376496" y="107327"/>
                  </a:lnTo>
                  <a:lnTo>
                    <a:pt x="4346778" y="71297"/>
                  </a:lnTo>
                  <a:lnTo>
                    <a:pt x="4310748" y="41579"/>
                  </a:lnTo>
                  <a:lnTo>
                    <a:pt x="4269397" y="19126"/>
                  </a:lnTo>
                  <a:lnTo>
                    <a:pt x="4223702" y="4940"/>
                  </a:lnTo>
                  <a:lnTo>
                    <a:pt x="4174642" y="0"/>
                  </a:lnTo>
                  <a:close/>
                </a:path>
              </a:pathLst>
            </a:custGeom>
            <a:solidFill>
              <a:srgbClr val="FFFFFF"/>
            </a:solidFill>
          </p:spPr>
          <p:txBody>
            <a:bodyPr wrap="square" lIns="0" tIns="0" rIns="0" bIns="0" rtlCol="0"/>
            <a:lstStyle/>
            <a:p>
              <a:endParaRPr/>
            </a:p>
          </p:txBody>
        </p:sp>
        <p:sp>
          <p:nvSpPr>
            <p:cNvPr id="9" name="object 9"/>
            <p:cNvSpPr/>
            <p:nvPr/>
          </p:nvSpPr>
          <p:spPr>
            <a:xfrm>
              <a:off x="2705100" y="3160775"/>
              <a:ext cx="4418330" cy="687705"/>
            </a:xfrm>
            <a:custGeom>
              <a:avLst/>
              <a:gdLst/>
              <a:ahLst/>
              <a:cxnLst/>
              <a:rect l="l" t="t" r="r" b="b"/>
              <a:pathLst>
                <a:path w="4418330" h="687704">
                  <a:moveTo>
                    <a:pt x="0" y="243433"/>
                  </a:moveTo>
                  <a:lnTo>
                    <a:pt x="4944" y="194373"/>
                  </a:lnTo>
                  <a:lnTo>
                    <a:pt x="19129" y="148678"/>
                  </a:lnTo>
                  <a:lnTo>
                    <a:pt x="41574" y="107327"/>
                  </a:lnTo>
                  <a:lnTo>
                    <a:pt x="71299" y="71297"/>
                  </a:lnTo>
                  <a:lnTo>
                    <a:pt x="107327" y="41579"/>
                  </a:lnTo>
                  <a:lnTo>
                    <a:pt x="148678" y="19126"/>
                  </a:lnTo>
                  <a:lnTo>
                    <a:pt x="194373" y="4940"/>
                  </a:lnTo>
                  <a:lnTo>
                    <a:pt x="243432" y="0"/>
                  </a:lnTo>
                  <a:lnTo>
                    <a:pt x="4174642" y="0"/>
                  </a:lnTo>
                  <a:lnTo>
                    <a:pt x="4223702" y="4940"/>
                  </a:lnTo>
                  <a:lnTo>
                    <a:pt x="4269397" y="19126"/>
                  </a:lnTo>
                  <a:lnTo>
                    <a:pt x="4310748" y="41579"/>
                  </a:lnTo>
                  <a:lnTo>
                    <a:pt x="4346778" y="71297"/>
                  </a:lnTo>
                  <a:lnTo>
                    <a:pt x="4376496" y="107327"/>
                  </a:lnTo>
                  <a:lnTo>
                    <a:pt x="4398949" y="148678"/>
                  </a:lnTo>
                  <a:lnTo>
                    <a:pt x="4413135" y="194373"/>
                  </a:lnTo>
                  <a:lnTo>
                    <a:pt x="4418076" y="243433"/>
                  </a:lnTo>
                  <a:lnTo>
                    <a:pt x="4418076" y="443903"/>
                  </a:lnTo>
                  <a:lnTo>
                    <a:pt x="4413135" y="492963"/>
                  </a:lnTo>
                  <a:lnTo>
                    <a:pt x="4398949" y="538657"/>
                  </a:lnTo>
                  <a:lnTo>
                    <a:pt x="4376496" y="580009"/>
                  </a:lnTo>
                  <a:lnTo>
                    <a:pt x="4346778" y="616026"/>
                  </a:lnTo>
                  <a:lnTo>
                    <a:pt x="4310748" y="645756"/>
                  </a:lnTo>
                  <a:lnTo>
                    <a:pt x="4269397" y="668197"/>
                  </a:lnTo>
                  <a:lnTo>
                    <a:pt x="4223702" y="682383"/>
                  </a:lnTo>
                  <a:lnTo>
                    <a:pt x="4174642" y="687324"/>
                  </a:lnTo>
                  <a:lnTo>
                    <a:pt x="243432" y="687324"/>
                  </a:lnTo>
                  <a:lnTo>
                    <a:pt x="194373" y="682383"/>
                  </a:lnTo>
                  <a:lnTo>
                    <a:pt x="148678" y="668197"/>
                  </a:lnTo>
                  <a:lnTo>
                    <a:pt x="107327" y="645756"/>
                  </a:lnTo>
                  <a:lnTo>
                    <a:pt x="71299" y="616026"/>
                  </a:lnTo>
                  <a:lnTo>
                    <a:pt x="41574" y="580009"/>
                  </a:lnTo>
                  <a:lnTo>
                    <a:pt x="19129" y="538657"/>
                  </a:lnTo>
                  <a:lnTo>
                    <a:pt x="4944" y="492963"/>
                  </a:lnTo>
                  <a:lnTo>
                    <a:pt x="0" y="443903"/>
                  </a:lnTo>
                  <a:lnTo>
                    <a:pt x="0" y="243433"/>
                  </a:lnTo>
                  <a:close/>
                </a:path>
              </a:pathLst>
            </a:custGeom>
            <a:ln w="57150">
              <a:solidFill>
                <a:srgbClr val="FF9100"/>
              </a:solidFill>
            </a:ln>
          </p:spPr>
          <p:txBody>
            <a:bodyPr wrap="square" lIns="0" tIns="0" rIns="0" bIns="0" rtlCol="0"/>
            <a:lstStyle/>
            <a:p>
              <a:endParaRPr/>
            </a:p>
          </p:txBody>
        </p:sp>
      </p:grpSp>
      <p:grpSp>
        <p:nvGrpSpPr>
          <p:cNvPr id="10" name="object 10"/>
          <p:cNvGrpSpPr/>
          <p:nvPr/>
        </p:nvGrpSpPr>
        <p:grpSpPr>
          <a:xfrm>
            <a:off x="2622804" y="4090415"/>
            <a:ext cx="4582795" cy="850900"/>
            <a:chOff x="2622804" y="4090415"/>
            <a:chExt cx="4582795" cy="850900"/>
          </a:xfrm>
        </p:grpSpPr>
        <p:pic>
          <p:nvPicPr>
            <p:cNvPr id="11" name="object 11"/>
            <p:cNvPicPr/>
            <p:nvPr/>
          </p:nvPicPr>
          <p:blipFill>
            <a:blip r:embed="rId4" cstate="print"/>
            <a:stretch>
              <a:fillRect/>
            </a:stretch>
          </p:blipFill>
          <p:spPr>
            <a:xfrm>
              <a:off x="2622804" y="4090415"/>
              <a:ext cx="4582668" cy="850391"/>
            </a:xfrm>
            <a:prstGeom prst="rect">
              <a:avLst/>
            </a:prstGeom>
          </p:spPr>
        </p:pic>
        <p:sp>
          <p:nvSpPr>
            <p:cNvPr id="12" name="object 12"/>
            <p:cNvSpPr/>
            <p:nvPr/>
          </p:nvSpPr>
          <p:spPr>
            <a:xfrm>
              <a:off x="2705100" y="4134611"/>
              <a:ext cx="4418330" cy="685800"/>
            </a:xfrm>
            <a:custGeom>
              <a:avLst/>
              <a:gdLst/>
              <a:ahLst/>
              <a:cxnLst/>
              <a:rect l="l" t="t" r="r" b="b"/>
              <a:pathLst>
                <a:path w="4418330" h="685800">
                  <a:moveTo>
                    <a:pt x="4175188" y="0"/>
                  </a:moveTo>
                  <a:lnTo>
                    <a:pt x="242887" y="0"/>
                  </a:lnTo>
                  <a:lnTo>
                    <a:pt x="193937" y="4940"/>
                  </a:lnTo>
                  <a:lnTo>
                    <a:pt x="148347" y="19088"/>
                  </a:lnTo>
                  <a:lnTo>
                    <a:pt x="107088" y="41478"/>
                  </a:lnTo>
                  <a:lnTo>
                    <a:pt x="71141" y="71132"/>
                  </a:lnTo>
                  <a:lnTo>
                    <a:pt x="41481" y="107086"/>
                  </a:lnTo>
                  <a:lnTo>
                    <a:pt x="19087" y="148335"/>
                  </a:lnTo>
                  <a:lnTo>
                    <a:pt x="4933" y="193928"/>
                  </a:lnTo>
                  <a:lnTo>
                    <a:pt x="0" y="242887"/>
                  </a:lnTo>
                  <a:lnTo>
                    <a:pt x="0" y="442912"/>
                  </a:lnTo>
                  <a:lnTo>
                    <a:pt x="4933" y="491858"/>
                  </a:lnTo>
                  <a:lnTo>
                    <a:pt x="19087" y="537451"/>
                  </a:lnTo>
                  <a:lnTo>
                    <a:pt x="41481" y="578713"/>
                  </a:lnTo>
                  <a:lnTo>
                    <a:pt x="71141" y="614654"/>
                  </a:lnTo>
                  <a:lnTo>
                    <a:pt x="107088" y="644321"/>
                  </a:lnTo>
                  <a:lnTo>
                    <a:pt x="148347" y="666711"/>
                  </a:lnTo>
                  <a:lnTo>
                    <a:pt x="193937" y="680859"/>
                  </a:lnTo>
                  <a:lnTo>
                    <a:pt x="242887" y="685800"/>
                  </a:lnTo>
                  <a:lnTo>
                    <a:pt x="4175188" y="685800"/>
                  </a:lnTo>
                  <a:lnTo>
                    <a:pt x="4224134" y="680859"/>
                  </a:lnTo>
                  <a:lnTo>
                    <a:pt x="4269727" y="666711"/>
                  </a:lnTo>
                  <a:lnTo>
                    <a:pt x="4310989" y="644321"/>
                  </a:lnTo>
                  <a:lnTo>
                    <a:pt x="4346930" y="614654"/>
                  </a:lnTo>
                  <a:lnTo>
                    <a:pt x="4376597" y="578713"/>
                  </a:lnTo>
                  <a:lnTo>
                    <a:pt x="4398987" y="537451"/>
                  </a:lnTo>
                  <a:lnTo>
                    <a:pt x="4413135" y="491858"/>
                  </a:lnTo>
                  <a:lnTo>
                    <a:pt x="4418076" y="442912"/>
                  </a:lnTo>
                  <a:lnTo>
                    <a:pt x="4418076" y="242887"/>
                  </a:lnTo>
                  <a:lnTo>
                    <a:pt x="4413135" y="193928"/>
                  </a:lnTo>
                  <a:lnTo>
                    <a:pt x="4398987" y="148335"/>
                  </a:lnTo>
                  <a:lnTo>
                    <a:pt x="4376597" y="107086"/>
                  </a:lnTo>
                  <a:lnTo>
                    <a:pt x="4346930" y="71132"/>
                  </a:lnTo>
                  <a:lnTo>
                    <a:pt x="4310989" y="41478"/>
                  </a:lnTo>
                  <a:lnTo>
                    <a:pt x="4269727" y="19088"/>
                  </a:lnTo>
                  <a:lnTo>
                    <a:pt x="4224134" y="4940"/>
                  </a:lnTo>
                  <a:lnTo>
                    <a:pt x="4175188" y="0"/>
                  </a:lnTo>
                  <a:close/>
                </a:path>
              </a:pathLst>
            </a:custGeom>
            <a:solidFill>
              <a:srgbClr val="FFFFFF"/>
            </a:solidFill>
          </p:spPr>
          <p:txBody>
            <a:bodyPr wrap="square" lIns="0" tIns="0" rIns="0" bIns="0" rtlCol="0"/>
            <a:lstStyle/>
            <a:p>
              <a:endParaRPr/>
            </a:p>
          </p:txBody>
        </p:sp>
        <p:sp>
          <p:nvSpPr>
            <p:cNvPr id="13" name="object 13"/>
            <p:cNvSpPr/>
            <p:nvPr/>
          </p:nvSpPr>
          <p:spPr>
            <a:xfrm>
              <a:off x="2705100" y="4134611"/>
              <a:ext cx="4418330" cy="685800"/>
            </a:xfrm>
            <a:custGeom>
              <a:avLst/>
              <a:gdLst/>
              <a:ahLst/>
              <a:cxnLst/>
              <a:rect l="l" t="t" r="r" b="b"/>
              <a:pathLst>
                <a:path w="4418330" h="685800">
                  <a:moveTo>
                    <a:pt x="0" y="242887"/>
                  </a:moveTo>
                  <a:lnTo>
                    <a:pt x="4933" y="193928"/>
                  </a:lnTo>
                  <a:lnTo>
                    <a:pt x="19087" y="148335"/>
                  </a:lnTo>
                  <a:lnTo>
                    <a:pt x="41481" y="107086"/>
                  </a:lnTo>
                  <a:lnTo>
                    <a:pt x="71141" y="71132"/>
                  </a:lnTo>
                  <a:lnTo>
                    <a:pt x="107088" y="41478"/>
                  </a:lnTo>
                  <a:lnTo>
                    <a:pt x="148347" y="19088"/>
                  </a:lnTo>
                  <a:lnTo>
                    <a:pt x="193937" y="4940"/>
                  </a:lnTo>
                  <a:lnTo>
                    <a:pt x="242887" y="0"/>
                  </a:lnTo>
                  <a:lnTo>
                    <a:pt x="4175188" y="0"/>
                  </a:lnTo>
                  <a:lnTo>
                    <a:pt x="4224134" y="4940"/>
                  </a:lnTo>
                  <a:lnTo>
                    <a:pt x="4269727" y="19088"/>
                  </a:lnTo>
                  <a:lnTo>
                    <a:pt x="4310989" y="41478"/>
                  </a:lnTo>
                  <a:lnTo>
                    <a:pt x="4346930" y="71132"/>
                  </a:lnTo>
                  <a:lnTo>
                    <a:pt x="4376597" y="107086"/>
                  </a:lnTo>
                  <a:lnTo>
                    <a:pt x="4398987" y="148335"/>
                  </a:lnTo>
                  <a:lnTo>
                    <a:pt x="4413135" y="193928"/>
                  </a:lnTo>
                  <a:lnTo>
                    <a:pt x="4418076" y="242887"/>
                  </a:lnTo>
                  <a:lnTo>
                    <a:pt x="4418076" y="442912"/>
                  </a:lnTo>
                  <a:lnTo>
                    <a:pt x="4413135" y="491858"/>
                  </a:lnTo>
                  <a:lnTo>
                    <a:pt x="4398987" y="537451"/>
                  </a:lnTo>
                  <a:lnTo>
                    <a:pt x="4376597" y="578713"/>
                  </a:lnTo>
                  <a:lnTo>
                    <a:pt x="4346930" y="614654"/>
                  </a:lnTo>
                  <a:lnTo>
                    <a:pt x="4310989" y="644321"/>
                  </a:lnTo>
                  <a:lnTo>
                    <a:pt x="4269727" y="666711"/>
                  </a:lnTo>
                  <a:lnTo>
                    <a:pt x="4224134" y="680859"/>
                  </a:lnTo>
                  <a:lnTo>
                    <a:pt x="4175188" y="685800"/>
                  </a:lnTo>
                  <a:lnTo>
                    <a:pt x="242887" y="685800"/>
                  </a:lnTo>
                  <a:lnTo>
                    <a:pt x="193937" y="680859"/>
                  </a:lnTo>
                  <a:lnTo>
                    <a:pt x="148347" y="666711"/>
                  </a:lnTo>
                  <a:lnTo>
                    <a:pt x="107088" y="644321"/>
                  </a:lnTo>
                  <a:lnTo>
                    <a:pt x="71141" y="614654"/>
                  </a:lnTo>
                  <a:lnTo>
                    <a:pt x="41481" y="578713"/>
                  </a:lnTo>
                  <a:lnTo>
                    <a:pt x="19087" y="537451"/>
                  </a:lnTo>
                  <a:lnTo>
                    <a:pt x="4933" y="491858"/>
                  </a:lnTo>
                  <a:lnTo>
                    <a:pt x="0" y="442912"/>
                  </a:lnTo>
                  <a:lnTo>
                    <a:pt x="0" y="242887"/>
                  </a:lnTo>
                  <a:close/>
                </a:path>
              </a:pathLst>
            </a:custGeom>
            <a:ln w="57150">
              <a:solidFill>
                <a:srgbClr val="FF9100"/>
              </a:solidFill>
            </a:ln>
          </p:spPr>
          <p:txBody>
            <a:bodyPr wrap="square" lIns="0" tIns="0" rIns="0" bIns="0" rtlCol="0"/>
            <a:lstStyle/>
            <a:p>
              <a:endParaRPr/>
            </a:p>
          </p:txBody>
        </p:sp>
      </p:grpSp>
      <p:grpSp>
        <p:nvGrpSpPr>
          <p:cNvPr id="14" name="object 14"/>
          <p:cNvGrpSpPr/>
          <p:nvPr/>
        </p:nvGrpSpPr>
        <p:grpSpPr>
          <a:xfrm>
            <a:off x="2622804" y="2144267"/>
            <a:ext cx="4582795" cy="852169"/>
            <a:chOff x="2622804" y="2144267"/>
            <a:chExt cx="4582795" cy="852169"/>
          </a:xfrm>
        </p:grpSpPr>
        <p:pic>
          <p:nvPicPr>
            <p:cNvPr id="15" name="object 15"/>
            <p:cNvPicPr/>
            <p:nvPr/>
          </p:nvPicPr>
          <p:blipFill>
            <a:blip r:embed="rId5" cstate="print"/>
            <a:stretch>
              <a:fillRect/>
            </a:stretch>
          </p:blipFill>
          <p:spPr>
            <a:xfrm>
              <a:off x="2622804" y="2144267"/>
              <a:ext cx="4582668" cy="851915"/>
            </a:xfrm>
            <a:prstGeom prst="rect">
              <a:avLst/>
            </a:prstGeom>
          </p:spPr>
        </p:pic>
        <p:sp>
          <p:nvSpPr>
            <p:cNvPr id="16" name="object 16"/>
            <p:cNvSpPr/>
            <p:nvPr/>
          </p:nvSpPr>
          <p:spPr>
            <a:xfrm>
              <a:off x="2705100" y="2188463"/>
              <a:ext cx="4418330" cy="687705"/>
            </a:xfrm>
            <a:custGeom>
              <a:avLst/>
              <a:gdLst/>
              <a:ahLst/>
              <a:cxnLst/>
              <a:rect l="l" t="t" r="r" b="b"/>
              <a:pathLst>
                <a:path w="4418330" h="687705">
                  <a:moveTo>
                    <a:pt x="4174642" y="0"/>
                  </a:moveTo>
                  <a:lnTo>
                    <a:pt x="243432" y="0"/>
                  </a:lnTo>
                  <a:lnTo>
                    <a:pt x="194373" y="4940"/>
                  </a:lnTo>
                  <a:lnTo>
                    <a:pt x="148678" y="19126"/>
                  </a:lnTo>
                  <a:lnTo>
                    <a:pt x="107327" y="41579"/>
                  </a:lnTo>
                  <a:lnTo>
                    <a:pt x="71299" y="71297"/>
                  </a:lnTo>
                  <a:lnTo>
                    <a:pt x="41574" y="107327"/>
                  </a:lnTo>
                  <a:lnTo>
                    <a:pt x="19129" y="148678"/>
                  </a:lnTo>
                  <a:lnTo>
                    <a:pt x="4944" y="194373"/>
                  </a:lnTo>
                  <a:lnTo>
                    <a:pt x="0" y="243433"/>
                  </a:lnTo>
                  <a:lnTo>
                    <a:pt x="0" y="443903"/>
                  </a:lnTo>
                  <a:lnTo>
                    <a:pt x="4944" y="492963"/>
                  </a:lnTo>
                  <a:lnTo>
                    <a:pt x="19129" y="538657"/>
                  </a:lnTo>
                  <a:lnTo>
                    <a:pt x="41574" y="580009"/>
                  </a:lnTo>
                  <a:lnTo>
                    <a:pt x="71299" y="616026"/>
                  </a:lnTo>
                  <a:lnTo>
                    <a:pt x="107327" y="645756"/>
                  </a:lnTo>
                  <a:lnTo>
                    <a:pt x="148678" y="668197"/>
                  </a:lnTo>
                  <a:lnTo>
                    <a:pt x="194373" y="682383"/>
                  </a:lnTo>
                  <a:lnTo>
                    <a:pt x="243432" y="687324"/>
                  </a:lnTo>
                  <a:lnTo>
                    <a:pt x="4174642" y="687324"/>
                  </a:lnTo>
                  <a:lnTo>
                    <a:pt x="4223702" y="682383"/>
                  </a:lnTo>
                  <a:lnTo>
                    <a:pt x="4269397" y="668197"/>
                  </a:lnTo>
                  <a:lnTo>
                    <a:pt x="4310748" y="645756"/>
                  </a:lnTo>
                  <a:lnTo>
                    <a:pt x="4346778" y="616026"/>
                  </a:lnTo>
                  <a:lnTo>
                    <a:pt x="4376496" y="580009"/>
                  </a:lnTo>
                  <a:lnTo>
                    <a:pt x="4398949" y="538657"/>
                  </a:lnTo>
                  <a:lnTo>
                    <a:pt x="4413135" y="492963"/>
                  </a:lnTo>
                  <a:lnTo>
                    <a:pt x="4418076" y="443903"/>
                  </a:lnTo>
                  <a:lnTo>
                    <a:pt x="4418076" y="243433"/>
                  </a:lnTo>
                  <a:lnTo>
                    <a:pt x="4413135" y="194373"/>
                  </a:lnTo>
                  <a:lnTo>
                    <a:pt x="4398949" y="148678"/>
                  </a:lnTo>
                  <a:lnTo>
                    <a:pt x="4376496" y="107327"/>
                  </a:lnTo>
                  <a:lnTo>
                    <a:pt x="4346778" y="71297"/>
                  </a:lnTo>
                  <a:lnTo>
                    <a:pt x="4310748" y="41579"/>
                  </a:lnTo>
                  <a:lnTo>
                    <a:pt x="4269397" y="19126"/>
                  </a:lnTo>
                  <a:lnTo>
                    <a:pt x="4223702" y="4940"/>
                  </a:lnTo>
                  <a:lnTo>
                    <a:pt x="4174642" y="0"/>
                  </a:lnTo>
                  <a:close/>
                </a:path>
              </a:pathLst>
            </a:custGeom>
            <a:solidFill>
              <a:srgbClr val="FFFFFF"/>
            </a:solidFill>
          </p:spPr>
          <p:txBody>
            <a:bodyPr wrap="square" lIns="0" tIns="0" rIns="0" bIns="0" rtlCol="0"/>
            <a:lstStyle/>
            <a:p>
              <a:endParaRPr/>
            </a:p>
          </p:txBody>
        </p:sp>
        <p:sp>
          <p:nvSpPr>
            <p:cNvPr id="17" name="object 17"/>
            <p:cNvSpPr/>
            <p:nvPr/>
          </p:nvSpPr>
          <p:spPr>
            <a:xfrm>
              <a:off x="2705100" y="2188463"/>
              <a:ext cx="4418330" cy="687705"/>
            </a:xfrm>
            <a:custGeom>
              <a:avLst/>
              <a:gdLst/>
              <a:ahLst/>
              <a:cxnLst/>
              <a:rect l="l" t="t" r="r" b="b"/>
              <a:pathLst>
                <a:path w="4418330" h="687705">
                  <a:moveTo>
                    <a:pt x="0" y="243433"/>
                  </a:moveTo>
                  <a:lnTo>
                    <a:pt x="4944" y="194373"/>
                  </a:lnTo>
                  <a:lnTo>
                    <a:pt x="19129" y="148678"/>
                  </a:lnTo>
                  <a:lnTo>
                    <a:pt x="41574" y="107327"/>
                  </a:lnTo>
                  <a:lnTo>
                    <a:pt x="71299" y="71297"/>
                  </a:lnTo>
                  <a:lnTo>
                    <a:pt x="107327" y="41579"/>
                  </a:lnTo>
                  <a:lnTo>
                    <a:pt x="148678" y="19126"/>
                  </a:lnTo>
                  <a:lnTo>
                    <a:pt x="194373" y="4940"/>
                  </a:lnTo>
                  <a:lnTo>
                    <a:pt x="243432" y="0"/>
                  </a:lnTo>
                  <a:lnTo>
                    <a:pt x="4174642" y="0"/>
                  </a:lnTo>
                  <a:lnTo>
                    <a:pt x="4223702" y="4940"/>
                  </a:lnTo>
                  <a:lnTo>
                    <a:pt x="4269397" y="19126"/>
                  </a:lnTo>
                  <a:lnTo>
                    <a:pt x="4310748" y="41579"/>
                  </a:lnTo>
                  <a:lnTo>
                    <a:pt x="4346778" y="71297"/>
                  </a:lnTo>
                  <a:lnTo>
                    <a:pt x="4376496" y="107327"/>
                  </a:lnTo>
                  <a:lnTo>
                    <a:pt x="4398949" y="148678"/>
                  </a:lnTo>
                  <a:lnTo>
                    <a:pt x="4413135" y="194373"/>
                  </a:lnTo>
                  <a:lnTo>
                    <a:pt x="4418076" y="243433"/>
                  </a:lnTo>
                  <a:lnTo>
                    <a:pt x="4418076" y="443903"/>
                  </a:lnTo>
                  <a:lnTo>
                    <a:pt x="4413135" y="492963"/>
                  </a:lnTo>
                  <a:lnTo>
                    <a:pt x="4398949" y="538657"/>
                  </a:lnTo>
                  <a:lnTo>
                    <a:pt x="4376496" y="580009"/>
                  </a:lnTo>
                  <a:lnTo>
                    <a:pt x="4346778" y="616026"/>
                  </a:lnTo>
                  <a:lnTo>
                    <a:pt x="4310748" y="645756"/>
                  </a:lnTo>
                  <a:lnTo>
                    <a:pt x="4269397" y="668197"/>
                  </a:lnTo>
                  <a:lnTo>
                    <a:pt x="4223702" y="682383"/>
                  </a:lnTo>
                  <a:lnTo>
                    <a:pt x="4174642" y="687324"/>
                  </a:lnTo>
                  <a:lnTo>
                    <a:pt x="243432" y="687324"/>
                  </a:lnTo>
                  <a:lnTo>
                    <a:pt x="194373" y="682383"/>
                  </a:lnTo>
                  <a:lnTo>
                    <a:pt x="148678" y="668197"/>
                  </a:lnTo>
                  <a:lnTo>
                    <a:pt x="107327" y="645756"/>
                  </a:lnTo>
                  <a:lnTo>
                    <a:pt x="71299" y="616026"/>
                  </a:lnTo>
                  <a:lnTo>
                    <a:pt x="41574" y="580009"/>
                  </a:lnTo>
                  <a:lnTo>
                    <a:pt x="19129" y="538657"/>
                  </a:lnTo>
                  <a:lnTo>
                    <a:pt x="4944" y="492963"/>
                  </a:lnTo>
                  <a:lnTo>
                    <a:pt x="0" y="443903"/>
                  </a:lnTo>
                  <a:lnTo>
                    <a:pt x="0" y="243433"/>
                  </a:lnTo>
                  <a:close/>
                </a:path>
              </a:pathLst>
            </a:custGeom>
            <a:ln w="57150">
              <a:solidFill>
                <a:srgbClr val="FF9100"/>
              </a:solidFill>
            </a:ln>
          </p:spPr>
          <p:txBody>
            <a:bodyPr wrap="square" lIns="0" tIns="0" rIns="0" bIns="0" rtlCol="0"/>
            <a:lstStyle/>
            <a:p>
              <a:endParaRPr/>
            </a:p>
          </p:txBody>
        </p:sp>
      </p:grpSp>
      <p:sp>
        <p:nvSpPr>
          <p:cNvPr id="18" name="object 18"/>
          <p:cNvSpPr txBox="1"/>
          <p:nvPr/>
        </p:nvSpPr>
        <p:spPr>
          <a:xfrm>
            <a:off x="2933700" y="2255606"/>
            <a:ext cx="4079139" cy="2564805"/>
          </a:xfrm>
          <a:prstGeom prst="rect">
            <a:avLst/>
          </a:prstGeom>
        </p:spPr>
        <p:txBody>
          <a:bodyPr vert="horz" wrap="square" lIns="0" tIns="12700" rIns="0" bIns="0" rtlCol="0">
            <a:spAutoFit/>
          </a:bodyPr>
          <a:lstStyle/>
          <a:p>
            <a:pPr marL="12700" marR="5080">
              <a:lnSpc>
                <a:spcPct val="100000"/>
              </a:lnSpc>
              <a:spcBef>
                <a:spcPts val="100"/>
              </a:spcBef>
            </a:pPr>
            <a:r>
              <a:rPr lang="vi-VN" sz="2000" b="1" dirty="0">
                <a:latin typeface="Trebuchet MS"/>
                <a:cs typeface="Trebuchet MS"/>
              </a:rPr>
              <a:t>Gửi </a:t>
            </a:r>
            <a:r>
              <a:rPr lang="vi-VN" sz="2000" b="1" dirty="0" err="1">
                <a:latin typeface="Trebuchet MS"/>
                <a:cs typeface="Trebuchet MS"/>
              </a:rPr>
              <a:t>email</a:t>
            </a:r>
            <a:r>
              <a:rPr lang="vi-VN" sz="2000" b="1" dirty="0">
                <a:latin typeface="Trebuchet MS"/>
                <a:cs typeface="Trebuchet MS"/>
              </a:rPr>
              <a:t> cho mục đích cá nhân</a:t>
            </a:r>
            <a:endParaRPr lang="vi-VN" sz="2000" b="1" spc="-25" dirty="0">
              <a:latin typeface="Trebuchet MS"/>
              <a:cs typeface="Trebuchet MS"/>
            </a:endParaRPr>
          </a:p>
          <a:p>
            <a:pPr marL="12700" marR="5080">
              <a:lnSpc>
                <a:spcPct val="100000"/>
              </a:lnSpc>
              <a:spcBef>
                <a:spcPts val="100"/>
              </a:spcBef>
            </a:pPr>
            <a:endParaRPr lang="vi-VN" sz="2000" b="1" spc="-25" dirty="0">
              <a:latin typeface="Trebuchet MS"/>
              <a:cs typeface="Trebuchet MS"/>
            </a:endParaRPr>
          </a:p>
          <a:p>
            <a:pPr>
              <a:lnSpc>
                <a:spcPct val="100000"/>
              </a:lnSpc>
            </a:pPr>
            <a:endParaRPr lang="vi-VN" sz="2000" b="1" dirty="0">
              <a:latin typeface="Trebuchet MS"/>
              <a:cs typeface="Trebuchet MS"/>
            </a:endParaRPr>
          </a:p>
          <a:p>
            <a:pPr>
              <a:lnSpc>
                <a:spcPct val="100000"/>
              </a:lnSpc>
            </a:pPr>
            <a:r>
              <a:rPr lang="vi-VN" sz="2000" b="1" dirty="0">
                <a:latin typeface="Trebuchet MS"/>
                <a:cs typeface="Trebuchet MS"/>
              </a:rPr>
              <a:t>Gửi </a:t>
            </a:r>
            <a:r>
              <a:rPr lang="vi-VN" sz="2000" b="1" dirty="0" err="1">
                <a:latin typeface="Trebuchet MS"/>
                <a:cs typeface="Trebuchet MS"/>
              </a:rPr>
              <a:t>email</a:t>
            </a:r>
            <a:r>
              <a:rPr lang="vi-VN" sz="2000" b="1" dirty="0">
                <a:latin typeface="Trebuchet MS"/>
                <a:cs typeface="Trebuchet MS"/>
              </a:rPr>
              <a:t> cho mục đích kinh doanh</a:t>
            </a:r>
          </a:p>
          <a:p>
            <a:pPr>
              <a:lnSpc>
                <a:spcPct val="100000"/>
              </a:lnSpc>
            </a:pPr>
            <a:endParaRPr lang="vi-VN" sz="2000" b="1" dirty="0">
              <a:latin typeface="Trebuchet MS"/>
              <a:cs typeface="Trebuchet MS"/>
            </a:endParaRPr>
          </a:p>
          <a:p>
            <a:pPr>
              <a:lnSpc>
                <a:spcPct val="100000"/>
              </a:lnSpc>
            </a:pPr>
            <a:endParaRPr sz="2000" b="1" dirty="0">
              <a:latin typeface="Trebuchet MS"/>
              <a:cs typeface="Trebuchet MS"/>
            </a:endParaRPr>
          </a:p>
          <a:p>
            <a:pPr>
              <a:lnSpc>
                <a:spcPct val="100000"/>
              </a:lnSpc>
              <a:spcBef>
                <a:spcPts val="610"/>
              </a:spcBef>
            </a:pPr>
            <a:r>
              <a:rPr lang="vi-VN" sz="2000" b="1" dirty="0">
                <a:latin typeface="Trebuchet MS"/>
                <a:cs typeface="Trebuchet MS"/>
              </a:rPr>
              <a:t>Tự động hóa tác vụ </a:t>
            </a:r>
            <a:r>
              <a:rPr lang="vi-VN" sz="2000" b="1" dirty="0" err="1">
                <a:latin typeface="Trebuchet MS"/>
                <a:cs typeface="Trebuchet MS"/>
              </a:rPr>
              <a:t>email</a:t>
            </a:r>
            <a:endParaRPr sz="2000" b="1" dirty="0">
              <a:latin typeface="Trebuchet MS"/>
              <a:cs typeface="Trebuchet MS"/>
            </a:endParaRPr>
          </a:p>
        </p:txBody>
      </p:sp>
      <p:pic>
        <p:nvPicPr>
          <p:cNvPr id="19" name="object 19"/>
          <p:cNvPicPr/>
          <p:nvPr/>
        </p:nvPicPr>
        <p:blipFill>
          <a:blip r:embed="rId6" cstate="print"/>
          <a:stretch>
            <a:fillRect/>
          </a:stretch>
        </p:blipFill>
        <p:spPr>
          <a:xfrm>
            <a:off x="6509004" y="1978151"/>
            <a:ext cx="4753343" cy="2971711"/>
          </a:xfrm>
          <a:prstGeom prst="rect">
            <a:avLst/>
          </a:prstGeom>
        </p:spPr>
      </p:pic>
      <p:sp>
        <p:nvSpPr>
          <p:cNvPr id="20" name="object 20"/>
          <p:cNvSpPr txBox="1">
            <a:spLocks noGrp="1"/>
          </p:cNvSpPr>
          <p:nvPr>
            <p:ph type="title"/>
          </p:nvPr>
        </p:nvSpPr>
        <p:spPr>
          <a:prstGeom prst="rect">
            <a:avLst/>
          </a:prstGeom>
        </p:spPr>
        <p:txBody>
          <a:bodyPr vert="horz" wrap="square" lIns="0" tIns="12700" rIns="0" bIns="0" rtlCol="0">
            <a:spAutoFit/>
          </a:bodyPr>
          <a:lstStyle/>
          <a:p>
            <a:pPr marL="1661160">
              <a:lnSpc>
                <a:spcPct val="100000"/>
              </a:lnSpc>
              <a:spcBef>
                <a:spcPts val="100"/>
              </a:spcBef>
            </a:pPr>
            <a:r>
              <a:rPr lang="vi-VN" dirty="0" err="1"/>
              <a:t>Email</a:t>
            </a:r>
            <a:r>
              <a:rPr lang="vi-VN" dirty="0"/>
              <a:t> được sử dụng ở đâu?</a:t>
            </a:r>
            <a:endParaRPr spc="-10" dirty="0">
              <a:latin typeface="Stencil" panose="040409050D0802020404" pitchFamily="82" charset="0"/>
            </a:endParaRPr>
          </a:p>
        </p:txBody>
      </p:sp>
      <p:sp>
        <p:nvSpPr>
          <p:cNvPr id="21" name="object 21"/>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22" name="object 22"/>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23" name="object 23"/>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4</a:t>
            </a:fld>
            <a:endParaRPr spc="-50" dirty="0"/>
          </a:p>
        </p:txBody>
      </p:sp>
      <p:pic>
        <p:nvPicPr>
          <p:cNvPr id="25" name="Picture 24">
            <a:extLst>
              <a:ext uri="{FF2B5EF4-FFF2-40B4-BE49-F238E27FC236}">
                <a16:creationId xmlns:a16="http://schemas.microsoft.com/office/drawing/2014/main" id="{2AE5DC89-44A7-53FC-B16F-A8A21AC47F4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449" b="89764" l="6159" r="98541">
                        <a14:foregroundMark x1="6159" y1="39370" x2="6159" y2="39370"/>
                        <a14:foregroundMark x1="82658" y1="48819" x2="82658" y2="48819"/>
                        <a14:foregroundMark x1="94327" y1="27559" x2="94327" y2="27559"/>
                        <a14:foregroundMark x1="98541" y1="37008" x2="98541" y2="37008"/>
                        <a14:foregroundMark x1="37277" y1="36220" x2="37277" y2="36220"/>
                        <a14:foregroundMark x1="39870" y1="37008" x2="39870" y2="37008"/>
                        <a14:foregroundMark x1="41167" y1="37795" x2="41167" y2="37795"/>
                        <a14:foregroundMark x1="50243" y1="46457" x2="50243" y2="46457"/>
                        <a14:foregroundMark x1="43760" y1="40157" x2="43760" y2="40157"/>
                        <a14:foregroundMark x1="46029" y1="41732" x2="46029" y2="41732"/>
                        <a14:foregroundMark x1="53160" y1="52756" x2="53160" y2="52756"/>
                        <a14:foregroundMark x1="52026" y1="50394" x2="52026" y2="50394"/>
                        <a14:foregroundMark x1="35170" y1="37008" x2="35170" y2="37008"/>
                        <a14:foregroundMark x1="32739" y1="35433" x2="32739" y2="35433"/>
                        <a14:foregroundMark x1="66775" y1="76378" x2="66775" y2="76378"/>
                        <a14:foregroundMark x1="67099" y1="75591" x2="67261" y2="75591"/>
                        <a14:foregroundMark x1="83793" y1="80315" x2="56564" y2="65354"/>
                        <a14:foregroundMark x1="56564" y1="65354" x2="48136" y2="45669"/>
                        <a14:foregroundMark x1="48136" y1="45669" x2="33063" y2="36220"/>
                      </a14:backgroundRemoval>
                    </a14:imgEffect>
                  </a14:imgLayer>
                </a14:imgProps>
              </a:ext>
            </a:extLst>
          </a:blip>
          <a:stretch>
            <a:fillRect/>
          </a:stretch>
        </p:blipFill>
        <p:spPr>
          <a:xfrm>
            <a:off x="2209800" y="5625140"/>
            <a:ext cx="6030145" cy="12098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2243416" y="451608"/>
            <a:ext cx="9063140" cy="1120820"/>
          </a:xfrm>
          <a:prstGeom prst="rect">
            <a:avLst/>
          </a:prstGeom>
        </p:spPr>
        <p:txBody>
          <a:bodyPr vert="horz" wrap="square" lIns="0" tIns="12700" rIns="0" bIns="0" rtlCol="0">
            <a:spAutoFit/>
          </a:bodyPr>
          <a:lstStyle/>
          <a:p>
            <a:pPr marL="12700" marR="5080">
              <a:lnSpc>
                <a:spcPct val="100000"/>
              </a:lnSpc>
              <a:spcBef>
                <a:spcPts val="100"/>
              </a:spcBef>
            </a:pPr>
            <a:r>
              <a:rPr lang="vi-VN" dirty="0"/>
              <a:t>Kỹ năng cơ bản cần thiết để thực hiện tự động hóa </a:t>
            </a:r>
            <a:r>
              <a:rPr lang="vi-VN" dirty="0" err="1"/>
              <a:t>email</a:t>
            </a:r>
            <a:r>
              <a:rPr lang="vi-VN" dirty="0"/>
              <a:t> </a:t>
            </a:r>
            <a:r>
              <a:rPr spc="-35" dirty="0"/>
              <a:t>[1-</a:t>
            </a:r>
            <a:r>
              <a:rPr spc="-25" dirty="0"/>
              <a:t>2]</a:t>
            </a:r>
          </a:p>
        </p:txBody>
      </p:sp>
      <p:sp>
        <p:nvSpPr>
          <p:cNvPr id="25" name="object 25"/>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26" name="object 26"/>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27" name="object 27"/>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5</a:t>
            </a:fld>
            <a:endParaRPr spc="-50" dirty="0"/>
          </a:p>
        </p:txBody>
      </p:sp>
      <p:grpSp>
        <p:nvGrpSpPr>
          <p:cNvPr id="7" name="object 7"/>
          <p:cNvGrpSpPr/>
          <p:nvPr/>
        </p:nvGrpSpPr>
        <p:grpSpPr>
          <a:xfrm>
            <a:off x="5587746" y="2514252"/>
            <a:ext cx="5707380" cy="3712845"/>
            <a:chOff x="5599176" y="2461260"/>
            <a:chExt cx="5707380" cy="3712845"/>
          </a:xfrm>
        </p:grpSpPr>
        <p:pic>
          <p:nvPicPr>
            <p:cNvPr id="8" name="object 8"/>
            <p:cNvPicPr/>
            <p:nvPr/>
          </p:nvPicPr>
          <p:blipFill>
            <a:blip r:embed="rId3" cstate="print"/>
            <a:stretch>
              <a:fillRect/>
            </a:stretch>
          </p:blipFill>
          <p:spPr>
            <a:xfrm>
              <a:off x="5599176" y="2461260"/>
              <a:ext cx="5707380" cy="778763"/>
            </a:xfrm>
            <a:prstGeom prst="rect">
              <a:avLst/>
            </a:prstGeom>
          </p:spPr>
        </p:pic>
        <p:sp>
          <p:nvSpPr>
            <p:cNvPr id="9" name="object 9"/>
            <p:cNvSpPr/>
            <p:nvPr/>
          </p:nvSpPr>
          <p:spPr>
            <a:xfrm>
              <a:off x="5671566" y="2495550"/>
              <a:ext cx="5562600" cy="634365"/>
            </a:xfrm>
            <a:custGeom>
              <a:avLst/>
              <a:gdLst/>
              <a:ahLst/>
              <a:cxnLst/>
              <a:rect l="l" t="t" r="r" b="b"/>
              <a:pathLst>
                <a:path w="5562600" h="634364">
                  <a:moveTo>
                    <a:pt x="5562600" y="0"/>
                  </a:moveTo>
                  <a:lnTo>
                    <a:pt x="0" y="0"/>
                  </a:lnTo>
                  <a:lnTo>
                    <a:pt x="0" y="633984"/>
                  </a:lnTo>
                  <a:lnTo>
                    <a:pt x="5562600" y="633984"/>
                  </a:lnTo>
                  <a:lnTo>
                    <a:pt x="5562600" y="0"/>
                  </a:lnTo>
                  <a:close/>
                </a:path>
              </a:pathLst>
            </a:custGeom>
            <a:solidFill>
              <a:srgbClr val="F8C55E"/>
            </a:solidFill>
          </p:spPr>
          <p:txBody>
            <a:bodyPr wrap="square" lIns="0" tIns="0" rIns="0" bIns="0" rtlCol="0"/>
            <a:lstStyle/>
            <a:p>
              <a:endParaRPr/>
            </a:p>
          </p:txBody>
        </p:sp>
        <p:sp>
          <p:nvSpPr>
            <p:cNvPr id="10" name="object 10"/>
            <p:cNvSpPr/>
            <p:nvPr/>
          </p:nvSpPr>
          <p:spPr>
            <a:xfrm>
              <a:off x="5671566" y="2495550"/>
              <a:ext cx="5562600" cy="634365"/>
            </a:xfrm>
            <a:custGeom>
              <a:avLst/>
              <a:gdLst/>
              <a:ahLst/>
              <a:cxnLst/>
              <a:rect l="l" t="t" r="r" b="b"/>
              <a:pathLst>
                <a:path w="5562600" h="634364">
                  <a:moveTo>
                    <a:pt x="0" y="0"/>
                  </a:moveTo>
                  <a:lnTo>
                    <a:pt x="5562600" y="0"/>
                  </a:lnTo>
                  <a:lnTo>
                    <a:pt x="5562600" y="633984"/>
                  </a:lnTo>
                  <a:lnTo>
                    <a:pt x="0" y="633984"/>
                  </a:lnTo>
                  <a:lnTo>
                    <a:pt x="0" y="0"/>
                  </a:lnTo>
                  <a:close/>
                </a:path>
              </a:pathLst>
            </a:custGeom>
            <a:ln w="38099">
              <a:solidFill>
                <a:srgbClr val="FFFFFF"/>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5599176" y="3194304"/>
              <a:ext cx="5707380" cy="780288"/>
            </a:xfrm>
            <a:prstGeom prst="rect">
              <a:avLst/>
            </a:prstGeom>
          </p:spPr>
        </p:pic>
        <p:sp>
          <p:nvSpPr>
            <p:cNvPr id="12" name="object 12"/>
            <p:cNvSpPr/>
            <p:nvPr/>
          </p:nvSpPr>
          <p:spPr>
            <a:xfrm>
              <a:off x="5671566" y="3228594"/>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13" name="object 13"/>
            <p:cNvSpPr/>
            <p:nvPr/>
          </p:nvSpPr>
          <p:spPr>
            <a:xfrm>
              <a:off x="5671566" y="3228594"/>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5599176" y="3927348"/>
              <a:ext cx="5707380" cy="780288"/>
            </a:xfrm>
            <a:prstGeom prst="rect">
              <a:avLst/>
            </a:prstGeom>
          </p:spPr>
        </p:pic>
        <p:sp>
          <p:nvSpPr>
            <p:cNvPr id="15" name="object 15"/>
            <p:cNvSpPr/>
            <p:nvPr/>
          </p:nvSpPr>
          <p:spPr>
            <a:xfrm>
              <a:off x="5671566" y="3961638"/>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16" name="object 16"/>
            <p:cNvSpPr/>
            <p:nvPr/>
          </p:nvSpPr>
          <p:spPr>
            <a:xfrm>
              <a:off x="5671566" y="3961638"/>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pic>
          <p:nvPicPr>
            <p:cNvPr id="17" name="object 17"/>
            <p:cNvPicPr/>
            <p:nvPr/>
          </p:nvPicPr>
          <p:blipFill>
            <a:blip r:embed="rId6" cstate="print"/>
            <a:stretch>
              <a:fillRect/>
            </a:stretch>
          </p:blipFill>
          <p:spPr>
            <a:xfrm>
              <a:off x="5599176" y="4660392"/>
              <a:ext cx="5707380" cy="780288"/>
            </a:xfrm>
            <a:prstGeom prst="rect">
              <a:avLst/>
            </a:prstGeom>
          </p:spPr>
        </p:pic>
        <p:sp>
          <p:nvSpPr>
            <p:cNvPr id="18" name="object 18"/>
            <p:cNvSpPr/>
            <p:nvPr/>
          </p:nvSpPr>
          <p:spPr>
            <a:xfrm>
              <a:off x="5671566" y="4694682"/>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19" name="object 19"/>
            <p:cNvSpPr/>
            <p:nvPr/>
          </p:nvSpPr>
          <p:spPr>
            <a:xfrm>
              <a:off x="5671566" y="4694682"/>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pic>
          <p:nvPicPr>
            <p:cNvPr id="20" name="object 20"/>
            <p:cNvPicPr/>
            <p:nvPr/>
          </p:nvPicPr>
          <p:blipFill>
            <a:blip r:embed="rId7" cstate="print"/>
            <a:stretch>
              <a:fillRect/>
            </a:stretch>
          </p:blipFill>
          <p:spPr>
            <a:xfrm>
              <a:off x="5599176" y="5393436"/>
              <a:ext cx="5707380" cy="780288"/>
            </a:xfrm>
            <a:prstGeom prst="rect">
              <a:avLst/>
            </a:prstGeom>
          </p:spPr>
        </p:pic>
        <p:sp>
          <p:nvSpPr>
            <p:cNvPr id="21" name="object 21"/>
            <p:cNvSpPr/>
            <p:nvPr/>
          </p:nvSpPr>
          <p:spPr>
            <a:xfrm>
              <a:off x="5671566" y="5427726"/>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22" name="object 22"/>
            <p:cNvSpPr/>
            <p:nvPr/>
          </p:nvSpPr>
          <p:spPr>
            <a:xfrm>
              <a:off x="5671566" y="5427726"/>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grpSp>
      <p:sp>
        <p:nvSpPr>
          <p:cNvPr id="23" name="object 23"/>
          <p:cNvSpPr txBox="1"/>
          <p:nvPr/>
        </p:nvSpPr>
        <p:spPr>
          <a:xfrm>
            <a:off x="6325158" y="2706528"/>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Kỹ năng lập trình</a:t>
            </a:r>
            <a:endParaRPr sz="2000" dirty="0">
              <a:latin typeface="Trebuchet MS"/>
              <a:cs typeface="Trebuchet MS"/>
            </a:endParaRPr>
          </a:p>
        </p:txBody>
      </p:sp>
      <p:pic>
        <p:nvPicPr>
          <p:cNvPr id="24" name="object 24"/>
          <p:cNvPicPr/>
          <p:nvPr/>
        </p:nvPicPr>
        <p:blipFill>
          <a:blip r:embed="rId8" cstate="print"/>
          <a:stretch>
            <a:fillRect/>
          </a:stretch>
        </p:blipFill>
        <p:spPr>
          <a:xfrm>
            <a:off x="2400300" y="1659635"/>
            <a:ext cx="3750564" cy="4480255"/>
          </a:xfrm>
          <a:prstGeom prst="rect">
            <a:avLst/>
          </a:prstGeom>
        </p:spPr>
      </p:pic>
      <p:sp>
        <p:nvSpPr>
          <p:cNvPr id="28" name="object 23">
            <a:extLst>
              <a:ext uri="{FF2B5EF4-FFF2-40B4-BE49-F238E27FC236}">
                <a16:creationId xmlns:a16="http://schemas.microsoft.com/office/drawing/2014/main" id="{CD799D28-9BC9-EE17-D937-34382C608D08}"/>
              </a:ext>
            </a:extLst>
          </p:cNvPr>
          <p:cNvSpPr txBox="1"/>
          <p:nvPr/>
        </p:nvSpPr>
        <p:spPr>
          <a:xfrm>
            <a:off x="6325158" y="3444055"/>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Hiểu biết về định dạng </a:t>
            </a:r>
            <a:r>
              <a:rPr lang="vi-VN" sz="2000" b="1" dirty="0" err="1">
                <a:latin typeface="Trebuchet MS"/>
                <a:cs typeface="Trebuchet MS"/>
              </a:rPr>
              <a:t>email</a:t>
            </a:r>
            <a:endParaRPr sz="2000" dirty="0">
              <a:latin typeface="Trebuchet MS"/>
              <a:cs typeface="Trebuchet MS"/>
            </a:endParaRPr>
          </a:p>
        </p:txBody>
      </p:sp>
      <p:sp>
        <p:nvSpPr>
          <p:cNvPr id="29" name="object 23">
            <a:extLst>
              <a:ext uri="{FF2B5EF4-FFF2-40B4-BE49-F238E27FC236}">
                <a16:creationId xmlns:a16="http://schemas.microsoft.com/office/drawing/2014/main" id="{AACCD55B-7EAE-7B5C-ED55-79C7F74F2F19}"/>
              </a:ext>
            </a:extLst>
          </p:cNvPr>
          <p:cNvSpPr txBox="1"/>
          <p:nvPr/>
        </p:nvSpPr>
        <p:spPr>
          <a:xfrm>
            <a:off x="6325158" y="4172146"/>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Làm quen với máy chủ </a:t>
            </a:r>
            <a:r>
              <a:rPr lang="vi-VN" sz="2000" b="1" dirty="0" err="1">
                <a:latin typeface="Trebuchet MS"/>
                <a:cs typeface="Trebuchet MS"/>
              </a:rPr>
              <a:t>email</a:t>
            </a:r>
            <a:endParaRPr sz="2000" dirty="0">
              <a:latin typeface="Trebuchet MS"/>
              <a:cs typeface="Trebuchet MS"/>
            </a:endParaRPr>
          </a:p>
        </p:txBody>
      </p:sp>
      <p:sp>
        <p:nvSpPr>
          <p:cNvPr id="30" name="object 23">
            <a:extLst>
              <a:ext uri="{FF2B5EF4-FFF2-40B4-BE49-F238E27FC236}">
                <a16:creationId xmlns:a16="http://schemas.microsoft.com/office/drawing/2014/main" id="{D4457DED-0584-D440-5EF5-F93C7D48C140}"/>
              </a:ext>
            </a:extLst>
          </p:cNvPr>
          <p:cNvSpPr txBox="1"/>
          <p:nvPr/>
        </p:nvSpPr>
        <p:spPr>
          <a:xfrm>
            <a:off x="6363994" y="4862879"/>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Kỹ năng tự động hóa</a:t>
            </a:r>
            <a:endParaRPr sz="2000" dirty="0">
              <a:latin typeface="Trebuchet MS"/>
              <a:cs typeface="Trebuchet MS"/>
            </a:endParaRPr>
          </a:p>
        </p:txBody>
      </p:sp>
      <p:sp>
        <p:nvSpPr>
          <p:cNvPr id="31" name="object 23">
            <a:extLst>
              <a:ext uri="{FF2B5EF4-FFF2-40B4-BE49-F238E27FC236}">
                <a16:creationId xmlns:a16="http://schemas.microsoft.com/office/drawing/2014/main" id="{7A120788-FDF3-6166-1B90-F3BD9060B885}"/>
              </a:ext>
            </a:extLst>
          </p:cNvPr>
          <p:cNvSpPr txBox="1"/>
          <p:nvPr/>
        </p:nvSpPr>
        <p:spPr>
          <a:xfrm>
            <a:off x="6363994" y="5628981"/>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Kiến thức về giao thức </a:t>
            </a:r>
            <a:r>
              <a:rPr lang="vi-VN" sz="2000" b="1" dirty="0" err="1">
                <a:latin typeface="Trebuchet MS"/>
                <a:cs typeface="Trebuchet MS"/>
              </a:rPr>
              <a:t>email</a:t>
            </a:r>
            <a:endParaRPr sz="2000" dirty="0">
              <a:latin typeface="Trebuchet MS"/>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2243416" y="451608"/>
            <a:ext cx="9063140" cy="1120820"/>
          </a:xfrm>
          <a:prstGeom prst="rect">
            <a:avLst/>
          </a:prstGeom>
        </p:spPr>
        <p:txBody>
          <a:bodyPr vert="horz" wrap="square" lIns="0" tIns="12700" rIns="0" bIns="0" rtlCol="0">
            <a:spAutoFit/>
          </a:bodyPr>
          <a:lstStyle/>
          <a:p>
            <a:pPr marL="12700" marR="5080">
              <a:lnSpc>
                <a:spcPct val="100000"/>
              </a:lnSpc>
              <a:spcBef>
                <a:spcPts val="100"/>
              </a:spcBef>
            </a:pPr>
            <a:r>
              <a:rPr lang="vi-VN" dirty="0"/>
              <a:t>Kỹ năng cơ bản cần thiết để thực hiện tự động hóa </a:t>
            </a:r>
            <a:r>
              <a:rPr lang="vi-VN" dirty="0" err="1"/>
              <a:t>email</a:t>
            </a:r>
            <a:r>
              <a:rPr lang="vi-VN" dirty="0"/>
              <a:t> </a:t>
            </a:r>
            <a:r>
              <a:rPr spc="-35" dirty="0"/>
              <a:t>[</a:t>
            </a:r>
            <a:r>
              <a:rPr lang="vi-VN" spc="-35" dirty="0"/>
              <a:t>2</a:t>
            </a:r>
            <a:r>
              <a:rPr spc="-35" dirty="0"/>
              <a:t>-</a:t>
            </a:r>
            <a:r>
              <a:rPr spc="-25" dirty="0"/>
              <a:t>2]</a:t>
            </a:r>
          </a:p>
        </p:txBody>
      </p:sp>
      <p:sp>
        <p:nvSpPr>
          <p:cNvPr id="25" name="object 25"/>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26" name="object 26"/>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27" name="object 27"/>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6</a:t>
            </a:fld>
            <a:endParaRPr spc="-50" dirty="0"/>
          </a:p>
        </p:txBody>
      </p:sp>
      <p:grpSp>
        <p:nvGrpSpPr>
          <p:cNvPr id="7" name="object 7"/>
          <p:cNvGrpSpPr/>
          <p:nvPr/>
        </p:nvGrpSpPr>
        <p:grpSpPr>
          <a:xfrm>
            <a:off x="5587746" y="2514252"/>
            <a:ext cx="5707380" cy="3712464"/>
            <a:chOff x="5599176" y="2461260"/>
            <a:chExt cx="5707380" cy="3712464"/>
          </a:xfrm>
        </p:grpSpPr>
        <p:pic>
          <p:nvPicPr>
            <p:cNvPr id="8" name="object 8"/>
            <p:cNvPicPr/>
            <p:nvPr/>
          </p:nvPicPr>
          <p:blipFill>
            <a:blip r:embed="rId3" cstate="print"/>
            <a:stretch>
              <a:fillRect/>
            </a:stretch>
          </p:blipFill>
          <p:spPr>
            <a:xfrm>
              <a:off x="5599176" y="2461260"/>
              <a:ext cx="5707380" cy="778763"/>
            </a:xfrm>
            <a:prstGeom prst="rect">
              <a:avLst/>
            </a:prstGeom>
          </p:spPr>
        </p:pic>
        <p:sp>
          <p:nvSpPr>
            <p:cNvPr id="9" name="object 9"/>
            <p:cNvSpPr/>
            <p:nvPr/>
          </p:nvSpPr>
          <p:spPr>
            <a:xfrm>
              <a:off x="5671566" y="2495550"/>
              <a:ext cx="5562600" cy="634365"/>
            </a:xfrm>
            <a:custGeom>
              <a:avLst/>
              <a:gdLst/>
              <a:ahLst/>
              <a:cxnLst/>
              <a:rect l="l" t="t" r="r" b="b"/>
              <a:pathLst>
                <a:path w="5562600" h="634364">
                  <a:moveTo>
                    <a:pt x="5562600" y="0"/>
                  </a:moveTo>
                  <a:lnTo>
                    <a:pt x="0" y="0"/>
                  </a:lnTo>
                  <a:lnTo>
                    <a:pt x="0" y="633984"/>
                  </a:lnTo>
                  <a:lnTo>
                    <a:pt x="5562600" y="633984"/>
                  </a:lnTo>
                  <a:lnTo>
                    <a:pt x="5562600" y="0"/>
                  </a:lnTo>
                  <a:close/>
                </a:path>
              </a:pathLst>
            </a:custGeom>
            <a:solidFill>
              <a:srgbClr val="F8C55E"/>
            </a:solidFill>
          </p:spPr>
          <p:txBody>
            <a:bodyPr wrap="square" lIns="0" tIns="0" rIns="0" bIns="0" rtlCol="0"/>
            <a:lstStyle/>
            <a:p>
              <a:endParaRPr/>
            </a:p>
          </p:txBody>
        </p:sp>
        <p:sp>
          <p:nvSpPr>
            <p:cNvPr id="10" name="object 10"/>
            <p:cNvSpPr/>
            <p:nvPr/>
          </p:nvSpPr>
          <p:spPr>
            <a:xfrm>
              <a:off x="5671566" y="2495550"/>
              <a:ext cx="5562600" cy="634365"/>
            </a:xfrm>
            <a:custGeom>
              <a:avLst/>
              <a:gdLst/>
              <a:ahLst/>
              <a:cxnLst/>
              <a:rect l="l" t="t" r="r" b="b"/>
              <a:pathLst>
                <a:path w="5562600" h="634364">
                  <a:moveTo>
                    <a:pt x="0" y="0"/>
                  </a:moveTo>
                  <a:lnTo>
                    <a:pt x="5562600" y="0"/>
                  </a:lnTo>
                  <a:lnTo>
                    <a:pt x="5562600" y="633984"/>
                  </a:lnTo>
                  <a:lnTo>
                    <a:pt x="0" y="633984"/>
                  </a:lnTo>
                  <a:lnTo>
                    <a:pt x="0" y="0"/>
                  </a:lnTo>
                  <a:close/>
                </a:path>
              </a:pathLst>
            </a:custGeom>
            <a:ln w="38099">
              <a:solidFill>
                <a:srgbClr val="FFFFFF"/>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5599176" y="3194304"/>
              <a:ext cx="5707380" cy="780288"/>
            </a:xfrm>
            <a:prstGeom prst="rect">
              <a:avLst/>
            </a:prstGeom>
          </p:spPr>
        </p:pic>
        <p:sp>
          <p:nvSpPr>
            <p:cNvPr id="12" name="object 12"/>
            <p:cNvSpPr/>
            <p:nvPr/>
          </p:nvSpPr>
          <p:spPr>
            <a:xfrm>
              <a:off x="5671566" y="3228594"/>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13" name="object 13"/>
            <p:cNvSpPr/>
            <p:nvPr/>
          </p:nvSpPr>
          <p:spPr>
            <a:xfrm>
              <a:off x="5671566" y="3228594"/>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5599176" y="3927348"/>
              <a:ext cx="5707380" cy="780288"/>
            </a:xfrm>
            <a:prstGeom prst="rect">
              <a:avLst/>
            </a:prstGeom>
          </p:spPr>
        </p:pic>
        <p:sp>
          <p:nvSpPr>
            <p:cNvPr id="15" name="object 15"/>
            <p:cNvSpPr/>
            <p:nvPr/>
          </p:nvSpPr>
          <p:spPr>
            <a:xfrm>
              <a:off x="5671566" y="3961638"/>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16" name="object 16"/>
            <p:cNvSpPr/>
            <p:nvPr/>
          </p:nvSpPr>
          <p:spPr>
            <a:xfrm>
              <a:off x="5671566" y="3961638"/>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pic>
          <p:nvPicPr>
            <p:cNvPr id="17" name="object 17"/>
            <p:cNvPicPr/>
            <p:nvPr/>
          </p:nvPicPr>
          <p:blipFill>
            <a:blip r:embed="rId6" cstate="print"/>
            <a:stretch>
              <a:fillRect/>
            </a:stretch>
          </p:blipFill>
          <p:spPr>
            <a:xfrm>
              <a:off x="5599176" y="4660392"/>
              <a:ext cx="5707380" cy="780288"/>
            </a:xfrm>
            <a:prstGeom prst="rect">
              <a:avLst/>
            </a:prstGeom>
          </p:spPr>
        </p:pic>
        <p:sp>
          <p:nvSpPr>
            <p:cNvPr id="18" name="object 18"/>
            <p:cNvSpPr/>
            <p:nvPr/>
          </p:nvSpPr>
          <p:spPr>
            <a:xfrm>
              <a:off x="5671566" y="4694682"/>
              <a:ext cx="5562600" cy="635635"/>
            </a:xfrm>
            <a:custGeom>
              <a:avLst/>
              <a:gdLst/>
              <a:ahLst/>
              <a:cxnLst/>
              <a:rect l="l" t="t" r="r" b="b"/>
              <a:pathLst>
                <a:path w="5562600" h="635635">
                  <a:moveTo>
                    <a:pt x="5562600" y="0"/>
                  </a:moveTo>
                  <a:lnTo>
                    <a:pt x="0" y="0"/>
                  </a:lnTo>
                  <a:lnTo>
                    <a:pt x="0" y="635508"/>
                  </a:lnTo>
                  <a:lnTo>
                    <a:pt x="5562600" y="635508"/>
                  </a:lnTo>
                  <a:lnTo>
                    <a:pt x="5562600" y="0"/>
                  </a:lnTo>
                  <a:close/>
                </a:path>
              </a:pathLst>
            </a:custGeom>
            <a:solidFill>
              <a:srgbClr val="F8C55E"/>
            </a:solidFill>
          </p:spPr>
          <p:txBody>
            <a:bodyPr wrap="square" lIns="0" tIns="0" rIns="0" bIns="0" rtlCol="0"/>
            <a:lstStyle/>
            <a:p>
              <a:endParaRPr/>
            </a:p>
          </p:txBody>
        </p:sp>
        <p:sp>
          <p:nvSpPr>
            <p:cNvPr id="19" name="object 19"/>
            <p:cNvSpPr/>
            <p:nvPr/>
          </p:nvSpPr>
          <p:spPr>
            <a:xfrm>
              <a:off x="5671566" y="4694682"/>
              <a:ext cx="5562600" cy="635635"/>
            </a:xfrm>
            <a:custGeom>
              <a:avLst/>
              <a:gdLst/>
              <a:ahLst/>
              <a:cxnLst/>
              <a:rect l="l" t="t" r="r" b="b"/>
              <a:pathLst>
                <a:path w="5562600" h="635635">
                  <a:moveTo>
                    <a:pt x="0" y="0"/>
                  </a:moveTo>
                  <a:lnTo>
                    <a:pt x="5562600" y="0"/>
                  </a:lnTo>
                  <a:lnTo>
                    <a:pt x="5562600" y="635508"/>
                  </a:lnTo>
                  <a:lnTo>
                    <a:pt x="0" y="635508"/>
                  </a:lnTo>
                  <a:lnTo>
                    <a:pt x="0" y="0"/>
                  </a:lnTo>
                  <a:close/>
                </a:path>
              </a:pathLst>
            </a:custGeom>
            <a:ln w="38099">
              <a:solidFill>
                <a:srgbClr val="FFFFFF"/>
              </a:solidFill>
            </a:ln>
          </p:spPr>
          <p:txBody>
            <a:bodyPr wrap="square" lIns="0" tIns="0" rIns="0" bIns="0" rtlCol="0"/>
            <a:lstStyle/>
            <a:p>
              <a:endParaRPr/>
            </a:p>
          </p:txBody>
        </p:sp>
        <p:pic>
          <p:nvPicPr>
            <p:cNvPr id="20" name="object 20"/>
            <p:cNvPicPr/>
            <p:nvPr/>
          </p:nvPicPr>
          <p:blipFill>
            <a:blip r:embed="rId7" cstate="print"/>
            <a:stretch>
              <a:fillRect/>
            </a:stretch>
          </p:blipFill>
          <p:spPr>
            <a:xfrm>
              <a:off x="5599176" y="5393436"/>
              <a:ext cx="5707380" cy="780288"/>
            </a:xfrm>
            <a:prstGeom prst="rect">
              <a:avLst/>
            </a:prstGeom>
          </p:spPr>
        </p:pic>
      </p:grpSp>
      <p:sp>
        <p:nvSpPr>
          <p:cNvPr id="23" name="object 23"/>
          <p:cNvSpPr txBox="1"/>
          <p:nvPr/>
        </p:nvSpPr>
        <p:spPr>
          <a:xfrm>
            <a:off x="6277152" y="2708662"/>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Kỹ năng xem, gỡ lỗi và kiểm tra </a:t>
            </a:r>
            <a:r>
              <a:rPr lang="vi-VN" sz="2000" b="1" dirty="0" err="1">
                <a:latin typeface="Trebuchet MS"/>
                <a:cs typeface="Trebuchet MS"/>
              </a:rPr>
              <a:t>code</a:t>
            </a:r>
            <a:endParaRPr sz="2000" dirty="0">
              <a:latin typeface="Trebuchet MS"/>
              <a:cs typeface="Trebuchet MS"/>
            </a:endParaRPr>
          </a:p>
        </p:txBody>
      </p:sp>
      <p:pic>
        <p:nvPicPr>
          <p:cNvPr id="24" name="object 24"/>
          <p:cNvPicPr/>
          <p:nvPr/>
        </p:nvPicPr>
        <p:blipFill>
          <a:blip r:embed="rId8" cstate="print"/>
          <a:stretch>
            <a:fillRect/>
          </a:stretch>
        </p:blipFill>
        <p:spPr>
          <a:xfrm>
            <a:off x="2400300" y="1659635"/>
            <a:ext cx="3750564" cy="4480255"/>
          </a:xfrm>
          <a:prstGeom prst="rect">
            <a:avLst/>
          </a:prstGeom>
        </p:spPr>
      </p:pic>
      <p:sp>
        <p:nvSpPr>
          <p:cNvPr id="28" name="object 23">
            <a:extLst>
              <a:ext uri="{FF2B5EF4-FFF2-40B4-BE49-F238E27FC236}">
                <a16:creationId xmlns:a16="http://schemas.microsoft.com/office/drawing/2014/main" id="{CD799D28-9BC9-EE17-D937-34382C608D08}"/>
              </a:ext>
            </a:extLst>
          </p:cNvPr>
          <p:cNvSpPr txBox="1"/>
          <p:nvPr/>
        </p:nvSpPr>
        <p:spPr>
          <a:xfrm>
            <a:off x="6325158" y="3444055"/>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Xử lý dữ liệu</a:t>
            </a:r>
            <a:endParaRPr sz="2000" dirty="0">
              <a:latin typeface="Trebuchet MS"/>
              <a:cs typeface="Trebuchet MS"/>
            </a:endParaRPr>
          </a:p>
        </p:txBody>
      </p:sp>
      <p:sp>
        <p:nvSpPr>
          <p:cNvPr id="29" name="object 23">
            <a:extLst>
              <a:ext uri="{FF2B5EF4-FFF2-40B4-BE49-F238E27FC236}">
                <a16:creationId xmlns:a16="http://schemas.microsoft.com/office/drawing/2014/main" id="{AACCD55B-7EAE-7B5C-ED55-79C7F74F2F19}"/>
              </a:ext>
            </a:extLst>
          </p:cNvPr>
          <p:cNvSpPr txBox="1"/>
          <p:nvPr/>
        </p:nvSpPr>
        <p:spPr>
          <a:xfrm>
            <a:off x="6325158" y="4172146"/>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Biểu thức chính quy</a:t>
            </a:r>
            <a:endParaRPr sz="2000" dirty="0">
              <a:latin typeface="Trebuchet MS"/>
              <a:cs typeface="Trebuchet MS"/>
            </a:endParaRPr>
          </a:p>
        </p:txBody>
      </p:sp>
      <p:sp>
        <p:nvSpPr>
          <p:cNvPr id="30" name="object 23">
            <a:extLst>
              <a:ext uri="{FF2B5EF4-FFF2-40B4-BE49-F238E27FC236}">
                <a16:creationId xmlns:a16="http://schemas.microsoft.com/office/drawing/2014/main" id="{D4457DED-0584-D440-5EF5-F93C7D48C140}"/>
              </a:ext>
            </a:extLst>
          </p:cNvPr>
          <p:cNvSpPr txBox="1"/>
          <p:nvPr/>
        </p:nvSpPr>
        <p:spPr>
          <a:xfrm>
            <a:off x="6363994" y="4862879"/>
            <a:ext cx="5090364" cy="320601"/>
          </a:xfrm>
          <a:prstGeom prst="rect">
            <a:avLst/>
          </a:prstGeom>
        </p:spPr>
        <p:txBody>
          <a:bodyPr vert="horz" wrap="square" lIns="0" tIns="12700" rIns="0" bIns="0" rtlCol="0">
            <a:spAutoFit/>
          </a:bodyPr>
          <a:lstStyle/>
          <a:p>
            <a:pPr marL="12700" marR="635635">
              <a:lnSpc>
                <a:spcPct val="100000"/>
              </a:lnSpc>
              <a:spcBef>
                <a:spcPts val="100"/>
              </a:spcBef>
            </a:pPr>
            <a:r>
              <a:rPr lang="vi-VN" sz="2000" b="1" dirty="0">
                <a:latin typeface="Trebuchet MS"/>
                <a:cs typeface="Trebuchet MS"/>
              </a:rPr>
              <a:t>HTML và CSS</a:t>
            </a:r>
            <a:endParaRPr sz="2000" dirty="0">
              <a:latin typeface="Trebuchet MS"/>
              <a:cs typeface="Trebuchet MS"/>
            </a:endParaRPr>
          </a:p>
        </p:txBody>
      </p:sp>
    </p:spTree>
    <p:extLst>
      <p:ext uri="{BB962C8B-B14F-4D97-AF65-F5344CB8AC3E}">
        <p14:creationId xmlns:p14="http://schemas.microsoft.com/office/powerpoint/2010/main" val="3954958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2671660" y="632929"/>
            <a:ext cx="7794625" cy="1120820"/>
          </a:xfrm>
          <a:prstGeom prst="rect">
            <a:avLst/>
          </a:prstGeom>
        </p:spPr>
        <p:txBody>
          <a:bodyPr vert="horz" wrap="square" lIns="0" tIns="12700" rIns="0" bIns="0" rtlCol="0">
            <a:spAutoFit/>
          </a:bodyPr>
          <a:lstStyle/>
          <a:p>
            <a:pPr marL="12700" marR="5080">
              <a:lnSpc>
                <a:spcPct val="100000"/>
              </a:lnSpc>
              <a:spcBef>
                <a:spcPts val="100"/>
              </a:spcBef>
            </a:pPr>
            <a:r>
              <a:rPr lang="vi-VN" b="1" dirty="0"/>
              <a:t>Các bước cơ bản để tự động hóa </a:t>
            </a:r>
            <a:r>
              <a:rPr lang="vi-VN" b="1" dirty="0" err="1"/>
              <a:t>email</a:t>
            </a:r>
            <a:r>
              <a:rPr lang="vi-VN" b="1" dirty="0"/>
              <a:t> bằng </a:t>
            </a:r>
            <a:r>
              <a:rPr lang="vi-VN" b="1" dirty="0" err="1"/>
              <a:t>Python</a:t>
            </a:r>
            <a:endParaRPr b="1" spc="-10" dirty="0"/>
          </a:p>
        </p:txBody>
      </p:sp>
      <p:sp>
        <p:nvSpPr>
          <p:cNvPr id="44" name="object 44"/>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45" name="object 45"/>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46" name="object 46"/>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7</a:t>
            </a:fld>
            <a:endParaRPr spc="-50" dirty="0"/>
          </a:p>
        </p:txBody>
      </p:sp>
      <p:grpSp>
        <p:nvGrpSpPr>
          <p:cNvPr id="7" name="object 7"/>
          <p:cNvGrpSpPr/>
          <p:nvPr/>
        </p:nvGrpSpPr>
        <p:grpSpPr>
          <a:xfrm>
            <a:off x="2531046" y="4737798"/>
            <a:ext cx="1695450" cy="1026794"/>
            <a:chOff x="2531046" y="4737798"/>
            <a:chExt cx="1695450" cy="1026794"/>
          </a:xfrm>
        </p:grpSpPr>
        <p:sp>
          <p:nvSpPr>
            <p:cNvPr id="8" name="object 8"/>
            <p:cNvSpPr/>
            <p:nvPr/>
          </p:nvSpPr>
          <p:spPr>
            <a:xfrm>
              <a:off x="2538984" y="4745735"/>
              <a:ext cx="1679575" cy="1010919"/>
            </a:xfrm>
            <a:custGeom>
              <a:avLst/>
              <a:gdLst/>
              <a:ahLst/>
              <a:cxnLst/>
              <a:rect l="l" t="t" r="r" b="b"/>
              <a:pathLst>
                <a:path w="1679575" h="1010920">
                  <a:moveTo>
                    <a:pt x="1679448" y="0"/>
                  </a:moveTo>
                  <a:lnTo>
                    <a:pt x="0" y="0"/>
                  </a:lnTo>
                  <a:lnTo>
                    <a:pt x="0" y="162560"/>
                  </a:lnTo>
                  <a:lnTo>
                    <a:pt x="0" y="1010920"/>
                  </a:lnTo>
                  <a:lnTo>
                    <a:pt x="162877" y="1010920"/>
                  </a:lnTo>
                  <a:lnTo>
                    <a:pt x="162877" y="162560"/>
                  </a:lnTo>
                  <a:lnTo>
                    <a:pt x="1679448" y="162560"/>
                  </a:lnTo>
                  <a:lnTo>
                    <a:pt x="1679448" y="0"/>
                  </a:lnTo>
                  <a:close/>
                </a:path>
              </a:pathLst>
            </a:custGeom>
            <a:solidFill>
              <a:srgbClr val="FF9F04"/>
            </a:solidFill>
          </p:spPr>
          <p:txBody>
            <a:bodyPr wrap="square" lIns="0" tIns="0" rIns="0" bIns="0" rtlCol="0"/>
            <a:lstStyle/>
            <a:p>
              <a:endParaRPr/>
            </a:p>
          </p:txBody>
        </p:sp>
        <p:sp>
          <p:nvSpPr>
            <p:cNvPr id="9" name="object 9"/>
            <p:cNvSpPr/>
            <p:nvPr/>
          </p:nvSpPr>
          <p:spPr>
            <a:xfrm>
              <a:off x="2538983" y="4745735"/>
              <a:ext cx="1679575" cy="1010919"/>
            </a:xfrm>
            <a:custGeom>
              <a:avLst/>
              <a:gdLst/>
              <a:ahLst/>
              <a:cxnLst/>
              <a:rect l="l" t="t" r="r" b="b"/>
              <a:pathLst>
                <a:path w="1679575" h="1010920">
                  <a:moveTo>
                    <a:pt x="1679448" y="0"/>
                  </a:moveTo>
                  <a:lnTo>
                    <a:pt x="1679448" y="162775"/>
                  </a:lnTo>
                  <a:lnTo>
                    <a:pt x="162877" y="162775"/>
                  </a:lnTo>
                  <a:lnTo>
                    <a:pt x="162877" y="1010412"/>
                  </a:lnTo>
                  <a:lnTo>
                    <a:pt x="0" y="1010412"/>
                  </a:lnTo>
                  <a:lnTo>
                    <a:pt x="0" y="0"/>
                  </a:lnTo>
                  <a:lnTo>
                    <a:pt x="1679448" y="0"/>
                  </a:lnTo>
                  <a:close/>
                </a:path>
              </a:pathLst>
            </a:custGeom>
            <a:ln w="15874">
              <a:solidFill>
                <a:srgbClr val="FF4A00"/>
              </a:solidFill>
            </a:ln>
          </p:spPr>
          <p:txBody>
            <a:bodyPr wrap="square" lIns="0" tIns="0" rIns="0" bIns="0" rtlCol="0"/>
            <a:lstStyle/>
            <a:p>
              <a:endParaRPr/>
            </a:p>
          </p:txBody>
        </p:sp>
      </p:grpSp>
      <p:sp>
        <p:nvSpPr>
          <p:cNvPr id="10" name="object 10"/>
          <p:cNvSpPr txBox="1"/>
          <p:nvPr/>
        </p:nvSpPr>
        <p:spPr>
          <a:xfrm>
            <a:off x="2768536" y="4948656"/>
            <a:ext cx="1222375" cy="888705"/>
          </a:xfrm>
          <a:prstGeom prst="rect">
            <a:avLst/>
          </a:prstGeom>
        </p:spPr>
        <p:txBody>
          <a:bodyPr vert="horz" wrap="square" lIns="0" tIns="41910" rIns="0" bIns="0" rtlCol="0">
            <a:spAutoFit/>
          </a:bodyPr>
          <a:lstStyle/>
          <a:p>
            <a:pPr marL="12700" marR="5080">
              <a:lnSpc>
                <a:spcPts val="2210"/>
              </a:lnSpc>
              <a:spcBef>
                <a:spcPts val="330"/>
              </a:spcBef>
            </a:pPr>
            <a:r>
              <a:rPr lang="vi-VN" sz="2000" b="1" dirty="0">
                <a:latin typeface="Trebuchet MS"/>
                <a:cs typeface="Trebuchet MS"/>
              </a:rPr>
              <a:t>Thiết lập tài khoản </a:t>
            </a:r>
            <a:r>
              <a:rPr lang="vi-VN" sz="2000" b="1" dirty="0" err="1">
                <a:latin typeface="Trebuchet MS"/>
                <a:cs typeface="Trebuchet MS"/>
              </a:rPr>
              <a:t>email</a:t>
            </a:r>
            <a:endParaRPr sz="2000" dirty="0">
              <a:latin typeface="Trebuchet MS"/>
              <a:cs typeface="Trebuchet MS"/>
            </a:endParaRPr>
          </a:p>
        </p:txBody>
      </p:sp>
      <p:grpSp>
        <p:nvGrpSpPr>
          <p:cNvPr id="11" name="object 11"/>
          <p:cNvGrpSpPr/>
          <p:nvPr/>
        </p:nvGrpSpPr>
        <p:grpSpPr>
          <a:xfrm>
            <a:off x="4387278" y="4279074"/>
            <a:ext cx="1695450" cy="1024890"/>
            <a:chOff x="4387278" y="4279074"/>
            <a:chExt cx="1695450" cy="1024890"/>
          </a:xfrm>
        </p:grpSpPr>
        <p:sp>
          <p:nvSpPr>
            <p:cNvPr id="12" name="object 12"/>
            <p:cNvSpPr/>
            <p:nvPr/>
          </p:nvSpPr>
          <p:spPr>
            <a:xfrm>
              <a:off x="4395216" y="4287011"/>
              <a:ext cx="1679575" cy="1008380"/>
            </a:xfrm>
            <a:custGeom>
              <a:avLst/>
              <a:gdLst/>
              <a:ahLst/>
              <a:cxnLst/>
              <a:rect l="l" t="t" r="r" b="b"/>
              <a:pathLst>
                <a:path w="1679575" h="1008379">
                  <a:moveTo>
                    <a:pt x="1679448" y="0"/>
                  </a:moveTo>
                  <a:lnTo>
                    <a:pt x="0" y="0"/>
                  </a:lnTo>
                  <a:lnTo>
                    <a:pt x="0" y="162560"/>
                  </a:lnTo>
                  <a:lnTo>
                    <a:pt x="0" y="1008380"/>
                  </a:lnTo>
                  <a:lnTo>
                    <a:pt x="162636" y="1008380"/>
                  </a:lnTo>
                  <a:lnTo>
                    <a:pt x="162636" y="162560"/>
                  </a:lnTo>
                  <a:lnTo>
                    <a:pt x="1679448" y="162560"/>
                  </a:lnTo>
                  <a:lnTo>
                    <a:pt x="1679448" y="0"/>
                  </a:lnTo>
                  <a:close/>
                </a:path>
              </a:pathLst>
            </a:custGeom>
            <a:solidFill>
              <a:srgbClr val="FF9F04"/>
            </a:solidFill>
          </p:spPr>
          <p:txBody>
            <a:bodyPr wrap="square" lIns="0" tIns="0" rIns="0" bIns="0" rtlCol="0"/>
            <a:lstStyle/>
            <a:p>
              <a:endParaRPr/>
            </a:p>
          </p:txBody>
        </p:sp>
        <p:sp>
          <p:nvSpPr>
            <p:cNvPr id="13" name="object 13"/>
            <p:cNvSpPr/>
            <p:nvPr/>
          </p:nvSpPr>
          <p:spPr>
            <a:xfrm>
              <a:off x="4395215" y="4287011"/>
              <a:ext cx="1679575" cy="1009015"/>
            </a:xfrm>
            <a:custGeom>
              <a:avLst/>
              <a:gdLst/>
              <a:ahLst/>
              <a:cxnLst/>
              <a:rect l="l" t="t" r="r" b="b"/>
              <a:pathLst>
                <a:path w="1679575" h="1009014">
                  <a:moveTo>
                    <a:pt x="1679448" y="0"/>
                  </a:moveTo>
                  <a:lnTo>
                    <a:pt x="1679448" y="162534"/>
                  </a:lnTo>
                  <a:lnTo>
                    <a:pt x="162636" y="162534"/>
                  </a:lnTo>
                  <a:lnTo>
                    <a:pt x="162636" y="1008888"/>
                  </a:lnTo>
                  <a:lnTo>
                    <a:pt x="0" y="1008888"/>
                  </a:lnTo>
                  <a:lnTo>
                    <a:pt x="0" y="0"/>
                  </a:lnTo>
                  <a:lnTo>
                    <a:pt x="1679448" y="0"/>
                  </a:lnTo>
                  <a:close/>
                </a:path>
              </a:pathLst>
            </a:custGeom>
            <a:ln w="15874">
              <a:solidFill>
                <a:srgbClr val="FF4A00"/>
              </a:solidFill>
            </a:ln>
          </p:spPr>
          <p:txBody>
            <a:bodyPr wrap="square" lIns="0" tIns="0" rIns="0" bIns="0" rtlCol="0"/>
            <a:lstStyle/>
            <a:p>
              <a:endParaRPr/>
            </a:p>
          </p:txBody>
        </p:sp>
      </p:grpSp>
      <p:grpSp>
        <p:nvGrpSpPr>
          <p:cNvPr id="14" name="object 14"/>
          <p:cNvGrpSpPr/>
          <p:nvPr/>
        </p:nvGrpSpPr>
        <p:grpSpPr>
          <a:xfrm>
            <a:off x="2592323" y="3424428"/>
            <a:ext cx="1637664" cy="1358265"/>
            <a:chOff x="2592323" y="3424428"/>
            <a:chExt cx="1637664" cy="1358265"/>
          </a:xfrm>
        </p:grpSpPr>
        <p:sp>
          <p:nvSpPr>
            <p:cNvPr id="15" name="object 15"/>
            <p:cNvSpPr/>
            <p:nvPr/>
          </p:nvSpPr>
          <p:spPr>
            <a:xfrm>
              <a:off x="3934967" y="4287012"/>
              <a:ext cx="287020" cy="287020"/>
            </a:xfrm>
            <a:custGeom>
              <a:avLst/>
              <a:gdLst/>
              <a:ahLst/>
              <a:cxnLst/>
              <a:rect l="l" t="t" r="r" b="b"/>
              <a:pathLst>
                <a:path w="287020" h="287020">
                  <a:moveTo>
                    <a:pt x="286512" y="0"/>
                  </a:moveTo>
                  <a:lnTo>
                    <a:pt x="0" y="286511"/>
                  </a:lnTo>
                  <a:lnTo>
                    <a:pt x="286512" y="286511"/>
                  </a:lnTo>
                  <a:lnTo>
                    <a:pt x="286512" y="0"/>
                  </a:lnTo>
                  <a:close/>
                </a:path>
              </a:pathLst>
            </a:custGeom>
            <a:solidFill>
              <a:srgbClr val="FF9F04"/>
            </a:solidFill>
          </p:spPr>
          <p:txBody>
            <a:bodyPr wrap="square" lIns="0" tIns="0" rIns="0" bIns="0" rtlCol="0"/>
            <a:lstStyle/>
            <a:p>
              <a:endParaRPr/>
            </a:p>
          </p:txBody>
        </p:sp>
        <p:sp>
          <p:nvSpPr>
            <p:cNvPr id="16" name="object 16"/>
            <p:cNvSpPr/>
            <p:nvPr/>
          </p:nvSpPr>
          <p:spPr>
            <a:xfrm>
              <a:off x="3934967" y="4287012"/>
              <a:ext cx="287020" cy="287020"/>
            </a:xfrm>
            <a:custGeom>
              <a:avLst/>
              <a:gdLst/>
              <a:ahLst/>
              <a:cxnLst/>
              <a:rect l="l" t="t" r="r" b="b"/>
              <a:pathLst>
                <a:path w="287020" h="287020">
                  <a:moveTo>
                    <a:pt x="0" y="286511"/>
                  </a:moveTo>
                  <a:lnTo>
                    <a:pt x="286512" y="0"/>
                  </a:lnTo>
                  <a:lnTo>
                    <a:pt x="286512" y="286511"/>
                  </a:lnTo>
                  <a:lnTo>
                    <a:pt x="0" y="286511"/>
                  </a:lnTo>
                  <a:close/>
                </a:path>
              </a:pathLst>
            </a:custGeom>
            <a:ln w="15874">
              <a:solidFill>
                <a:srgbClr val="FF4A00"/>
              </a:solidFill>
            </a:ln>
          </p:spPr>
          <p:txBody>
            <a:bodyPr wrap="square" lIns="0" tIns="0" rIns="0" bIns="0" rtlCol="0"/>
            <a:lstStyle/>
            <a:p>
              <a:endParaRPr/>
            </a:p>
          </p:txBody>
        </p:sp>
        <p:pic>
          <p:nvPicPr>
            <p:cNvPr id="17" name="object 17"/>
            <p:cNvPicPr/>
            <p:nvPr/>
          </p:nvPicPr>
          <p:blipFill>
            <a:blip r:embed="rId3" cstate="print"/>
            <a:stretch>
              <a:fillRect/>
            </a:stretch>
          </p:blipFill>
          <p:spPr>
            <a:xfrm>
              <a:off x="2592323" y="3424428"/>
              <a:ext cx="1357884" cy="1357884"/>
            </a:xfrm>
            <a:prstGeom prst="rect">
              <a:avLst/>
            </a:prstGeom>
          </p:spPr>
        </p:pic>
      </p:grpSp>
      <p:sp>
        <p:nvSpPr>
          <p:cNvPr id="18" name="object 18"/>
          <p:cNvSpPr txBox="1"/>
          <p:nvPr/>
        </p:nvSpPr>
        <p:spPr>
          <a:xfrm>
            <a:off x="4615090" y="4489322"/>
            <a:ext cx="1094105" cy="888705"/>
          </a:xfrm>
          <a:prstGeom prst="rect">
            <a:avLst/>
          </a:prstGeom>
        </p:spPr>
        <p:txBody>
          <a:bodyPr vert="horz" wrap="square" lIns="0" tIns="41910" rIns="0" bIns="0" rtlCol="0">
            <a:spAutoFit/>
          </a:bodyPr>
          <a:lstStyle/>
          <a:p>
            <a:pPr marL="12700" marR="5080" algn="l">
              <a:lnSpc>
                <a:spcPts val="2210"/>
              </a:lnSpc>
              <a:spcBef>
                <a:spcPts val="330"/>
              </a:spcBef>
            </a:pPr>
            <a:r>
              <a:rPr lang="vi-VN" sz="2000" b="1" spc="-10" dirty="0">
                <a:latin typeface="Trebuchet MS"/>
                <a:cs typeface="Trebuchet MS"/>
              </a:rPr>
              <a:t>Cài đặt các gói cần thiết</a:t>
            </a:r>
            <a:endParaRPr sz="2000" dirty="0">
              <a:latin typeface="Trebuchet MS"/>
              <a:cs typeface="Trebuchet MS"/>
            </a:endParaRPr>
          </a:p>
        </p:txBody>
      </p:sp>
      <p:grpSp>
        <p:nvGrpSpPr>
          <p:cNvPr id="19" name="object 19"/>
          <p:cNvGrpSpPr/>
          <p:nvPr/>
        </p:nvGrpSpPr>
        <p:grpSpPr>
          <a:xfrm>
            <a:off x="6243510" y="3818826"/>
            <a:ext cx="1695450" cy="1026794"/>
            <a:chOff x="6243510" y="3818826"/>
            <a:chExt cx="1695450" cy="1026794"/>
          </a:xfrm>
        </p:grpSpPr>
        <p:sp>
          <p:nvSpPr>
            <p:cNvPr id="20" name="object 20"/>
            <p:cNvSpPr/>
            <p:nvPr/>
          </p:nvSpPr>
          <p:spPr>
            <a:xfrm>
              <a:off x="6251448" y="3826763"/>
              <a:ext cx="1679575" cy="1010919"/>
            </a:xfrm>
            <a:custGeom>
              <a:avLst/>
              <a:gdLst/>
              <a:ahLst/>
              <a:cxnLst/>
              <a:rect l="l" t="t" r="r" b="b"/>
              <a:pathLst>
                <a:path w="1679575" h="1010920">
                  <a:moveTo>
                    <a:pt x="1679448" y="0"/>
                  </a:moveTo>
                  <a:lnTo>
                    <a:pt x="0" y="0"/>
                  </a:lnTo>
                  <a:lnTo>
                    <a:pt x="0" y="162560"/>
                  </a:lnTo>
                  <a:lnTo>
                    <a:pt x="0" y="1010920"/>
                  </a:lnTo>
                  <a:lnTo>
                    <a:pt x="162877" y="1010920"/>
                  </a:lnTo>
                  <a:lnTo>
                    <a:pt x="162877" y="162560"/>
                  </a:lnTo>
                  <a:lnTo>
                    <a:pt x="1679448" y="162560"/>
                  </a:lnTo>
                  <a:lnTo>
                    <a:pt x="1679448" y="0"/>
                  </a:lnTo>
                  <a:close/>
                </a:path>
              </a:pathLst>
            </a:custGeom>
            <a:solidFill>
              <a:srgbClr val="FF9F04"/>
            </a:solidFill>
          </p:spPr>
          <p:txBody>
            <a:bodyPr wrap="square" lIns="0" tIns="0" rIns="0" bIns="0" rtlCol="0"/>
            <a:lstStyle/>
            <a:p>
              <a:endParaRPr/>
            </a:p>
          </p:txBody>
        </p:sp>
        <p:sp>
          <p:nvSpPr>
            <p:cNvPr id="21" name="object 21"/>
            <p:cNvSpPr/>
            <p:nvPr/>
          </p:nvSpPr>
          <p:spPr>
            <a:xfrm>
              <a:off x="6251447" y="3826764"/>
              <a:ext cx="1679575" cy="1010919"/>
            </a:xfrm>
            <a:custGeom>
              <a:avLst/>
              <a:gdLst/>
              <a:ahLst/>
              <a:cxnLst/>
              <a:rect l="l" t="t" r="r" b="b"/>
              <a:pathLst>
                <a:path w="1679575" h="1010920">
                  <a:moveTo>
                    <a:pt x="1679448" y="0"/>
                  </a:moveTo>
                  <a:lnTo>
                    <a:pt x="1679448" y="162775"/>
                  </a:lnTo>
                  <a:lnTo>
                    <a:pt x="162877" y="162775"/>
                  </a:lnTo>
                  <a:lnTo>
                    <a:pt x="162877" y="1010412"/>
                  </a:lnTo>
                  <a:lnTo>
                    <a:pt x="0" y="1010412"/>
                  </a:lnTo>
                  <a:lnTo>
                    <a:pt x="0" y="0"/>
                  </a:lnTo>
                  <a:lnTo>
                    <a:pt x="1679448" y="0"/>
                  </a:lnTo>
                  <a:close/>
                </a:path>
              </a:pathLst>
            </a:custGeom>
            <a:ln w="15874">
              <a:solidFill>
                <a:srgbClr val="FF4A00"/>
              </a:solidFill>
            </a:ln>
          </p:spPr>
          <p:txBody>
            <a:bodyPr wrap="square" lIns="0" tIns="0" rIns="0" bIns="0" rtlCol="0"/>
            <a:lstStyle/>
            <a:p>
              <a:endParaRPr/>
            </a:p>
          </p:txBody>
        </p:sp>
      </p:grpSp>
      <p:grpSp>
        <p:nvGrpSpPr>
          <p:cNvPr id="22" name="object 22"/>
          <p:cNvGrpSpPr/>
          <p:nvPr/>
        </p:nvGrpSpPr>
        <p:grpSpPr>
          <a:xfrm>
            <a:off x="4506467" y="2991611"/>
            <a:ext cx="1579245" cy="1329055"/>
            <a:chOff x="4506467" y="2991611"/>
            <a:chExt cx="1579245" cy="1329055"/>
          </a:xfrm>
        </p:grpSpPr>
        <p:sp>
          <p:nvSpPr>
            <p:cNvPr id="23" name="object 23"/>
            <p:cNvSpPr/>
            <p:nvPr/>
          </p:nvSpPr>
          <p:spPr>
            <a:xfrm>
              <a:off x="5791200" y="3828287"/>
              <a:ext cx="287020" cy="287020"/>
            </a:xfrm>
            <a:custGeom>
              <a:avLst/>
              <a:gdLst/>
              <a:ahLst/>
              <a:cxnLst/>
              <a:rect l="l" t="t" r="r" b="b"/>
              <a:pathLst>
                <a:path w="287020" h="287020">
                  <a:moveTo>
                    <a:pt x="286512" y="0"/>
                  </a:moveTo>
                  <a:lnTo>
                    <a:pt x="0" y="286511"/>
                  </a:lnTo>
                  <a:lnTo>
                    <a:pt x="286512" y="286511"/>
                  </a:lnTo>
                  <a:lnTo>
                    <a:pt x="286512" y="0"/>
                  </a:lnTo>
                  <a:close/>
                </a:path>
              </a:pathLst>
            </a:custGeom>
            <a:solidFill>
              <a:srgbClr val="FF9F04"/>
            </a:solidFill>
          </p:spPr>
          <p:txBody>
            <a:bodyPr wrap="square" lIns="0" tIns="0" rIns="0" bIns="0" rtlCol="0"/>
            <a:lstStyle/>
            <a:p>
              <a:endParaRPr/>
            </a:p>
          </p:txBody>
        </p:sp>
        <p:sp>
          <p:nvSpPr>
            <p:cNvPr id="24" name="object 24"/>
            <p:cNvSpPr/>
            <p:nvPr/>
          </p:nvSpPr>
          <p:spPr>
            <a:xfrm>
              <a:off x="5791200" y="3828287"/>
              <a:ext cx="287020" cy="287020"/>
            </a:xfrm>
            <a:custGeom>
              <a:avLst/>
              <a:gdLst/>
              <a:ahLst/>
              <a:cxnLst/>
              <a:rect l="l" t="t" r="r" b="b"/>
              <a:pathLst>
                <a:path w="287020" h="287020">
                  <a:moveTo>
                    <a:pt x="0" y="286511"/>
                  </a:moveTo>
                  <a:lnTo>
                    <a:pt x="286512" y="0"/>
                  </a:lnTo>
                  <a:lnTo>
                    <a:pt x="286512" y="286511"/>
                  </a:lnTo>
                  <a:lnTo>
                    <a:pt x="0" y="286511"/>
                  </a:lnTo>
                  <a:close/>
                </a:path>
              </a:pathLst>
            </a:custGeom>
            <a:ln w="15874">
              <a:solidFill>
                <a:srgbClr val="FF4A00"/>
              </a:solidFill>
            </a:ln>
          </p:spPr>
          <p:txBody>
            <a:bodyPr wrap="square" lIns="0" tIns="0" rIns="0" bIns="0" rtlCol="0"/>
            <a:lstStyle/>
            <a:p>
              <a:endParaRPr/>
            </a:p>
          </p:txBody>
        </p:sp>
        <p:pic>
          <p:nvPicPr>
            <p:cNvPr id="25" name="object 25"/>
            <p:cNvPicPr/>
            <p:nvPr/>
          </p:nvPicPr>
          <p:blipFill>
            <a:blip r:embed="rId4" cstate="print"/>
            <a:stretch>
              <a:fillRect/>
            </a:stretch>
          </p:blipFill>
          <p:spPr>
            <a:xfrm>
              <a:off x="4506467" y="2991611"/>
              <a:ext cx="1328915" cy="1328927"/>
            </a:xfrm>
            <a:prstGeom prst="rect">
              <a:avLst/>
            </a:prstGeom>
          </p:spPr>
        </p:pic>
      </p:grpSp>
      <p:sp>
        <p:nvSpPr>
          <p:cNvPr id="26" name="object 26"/>
          <p:cNvSpPr txBox="1"/>
          <p:nvPr/>
        </p:nvSpPr>
        <p:spPr>
          <a:xfrm>
            <a:off x="6481012" y="4030002"/>
            <a:ext cx="1147445" cy="888705"/>
          </a:xfrm>
          <a:prstGeom prst="rect">
            <a:avLst/>
          </a:prstGeom>
        </p:spPr>
        <p:txBody>
          <a:bodyPr vert="horz" wrap="square" lIns="0" tIns="41910" rIns="0" bIns="0" rtlCol="0">
            <a:spAutoFit/>
          </a:bodyPr>
          <a:lstStyle/>
          <a:p>
            <a:pPr marL="12700" marR="5080">
              <a:lnSpc>
                <a:spcPts val="2210"/>
              </a:lnSpc>
              <a:spcBef>
                <a:spcPts val="330"/>
              </a:spcBef>
              <a:tabLst>
                <a:tab pos="490220" algn="l"/>
              </a:tabLst>
            </a:pPr>
            <a:r>
              <a:rPr lang="vi-VN" sz="2000" b="1" spc="-10" dirty="0">
                <a:latin typeface="Trebuchet MS"/>
                <a:cs typeface="Trebuchet MS"/>
              </a:rPr>
              <a:t>Tạo một tin nhắn </a:t>
            </a:r>
            <a:r>
              <a:rPr lang="vi-VN" sz="2000" b="1" spc="-10" dirty="0" err="1">
                <a:latin typeface="Trebuchet MS"/>
                <a:cs typeface="Trebuchet MS"/>
              </a:rPr>
              <a:t>email</a:t>
            </a:r>
            <a:endParaRPr sz="2000" dirty="0">
              <a:latin typeface="Trebuchet MS"/>
              <a:cs typeface="Trebuchet MS"/>
            </a:endParaRPr>
          </a:p>
        </p:txBody>
      </p:sp>
      <p:grpSp>
        <p:nvGrpSpPr>
          <p:cNvPr id="27" name="object 27"/>
          <p:cNvGrpSpPr/>
          <p:nvPr/>
        </p:nvGrpSpPr>
        <p:grpSpPr>
          <a:xfrm>
            <a:off x="8099742" y="3360102"/>
            <a:ext cx="1695450" cy="1024890"/>
            <a:chOff x="8099742" y="3360102"/>
            <a:chExt cx="1695450" cy="1024890"/>
          </a:xfrm>
        </p:grpSpPr>
        <p:sp>
          <p:nvSpPr>
            <p:cNvPr id="28" name="object 28"/>
            <p:cNvSpPr/>
            <p:nvPr/>
          </p:nvSpPr>
          <p:spPr>
            <a:xfrm>
              <a:off x="8107680" y="3368039"/>
              <a:ext cx="1679575" cy="1008380"/>
            </a:xfrm>
            <a:custGeom>
              <a:avLst/>
              <a:gdLst/>
              <a:ahLst/>
              <a:cxnLst/>
              <a:rect l="l" t="t" r="r" b="b"/>
              <a:pathLst>
                <a:path w="1679575" h="1008379">
                  <a:moveTo>
                    <a:pt x="1679448" y="0"/>
                  </a:moveTo>
                  <a:lnTo>
                    <a:pt x="0" y="0"/>
                  </a:lnTo>
                  <a:lnTo>
                    <a:pt x="0" y="162560"/>
                  </a:lnTo>
                  <a:lnTo>
                    <a:pt x="0" y="1008380"/>
                  </a:lnTo>
                  <a:lnTo>
                    <a:pt x="162636" y="1008380"/>
                  </a:lnTo>
                  <a:lnTo>
                    <a:pt x="162636" y="162560"/>
                  </a:lnTo>
                  <a:lnTo>
                    <a:pt x="1679448" y="162560"/>
                  </a:lnTo>
                  <a:lnTo>
                    <a:pt x="1679448" y="0"/>
                  </a:lnTo>
                  <a:close/>
                </a:path>
              </a:pathLst>
            </a:custGeom>
            <a:solidFill>
              <a:srgbClr val="FF9F04"/>
            </a:solidFill>
          </p:spPr>
          <p:txBody>
            <a:bodyPr wrap="square" lIns="0" tIns="0" rIns="0" bIns="0" rtlCol="0"/>
            <a:lstStyle/>
            <a:p>
              <a:endParaRPr/>
            </a:p>
          </p:txBody>
        </p:sp>
        <p:sp>
          <p:nvSpPr>
            <p:cNvPr id="29" name="object 29"/>
            <p:cNvSpPr/>
            <p:nvPr/>
          </p:nvSpPr>
          <p:spPr>
            <a:xfrm>
              <a:off x="8107680" y="3368040"/>
              <a:ext cx="1679575" cy="1009015"/>
            </a:xfrm>
            <a:custGeom>
              <a:avLst/>
              <a:gdLst/>
              <a:ahLst/>
              <a:cxnLst/>
              <a:rect l="l" t="t" r="r" b="b"/>
              <a:pathLst>
                <a:path w="1679575" h="1009014">
                  <a:moveTo>
                    <a:pt x="1679448" y="0"/>
                  </a:moveTo>
                  <a:lnTo>
                    <a:pt x="1679448" y="162534"/>
                  </a:lnTo>
                  <a:lnTo>
                    <a:pt x="162636" y="162534"/>
                  </a:lnTo>
                  <a:lnTo>
                    <a:pt x="162636" y="1008888"/>
                  </a:lnTo>
                  <a:lnTo>
                    <a:pt x="0" y="1008888"/>
                  </a:lnTo>
                  <a:lnTo>
                    <a:pt x="0" y="0"/>
                  </a:lnTo>
                  <a:lnTo>
                    <a:pt x="1679448" y="0"/>
                  </a:lnTo>
                  <a:close/>
                </a:path>
              </a:pathLst>
            </a:custGeom>
            <a:ln w="15874">
              <a:solidFill>
                <a:srgbClr val="FF4A00"/>
              </a:solidFill>
            </a:ln>
          </p:spPr>
          <p:txBody>
            <a:bodyPr wrap="square" lIns="0" tIns="0" rIns="0" bIns="0" rtlCol="0"/>
            <a:lstStyle/>
            <a:p>
              <a:endParaRPr/>
            </a:p>
          </p:txBody>
        </p:sp>
      </p:grpSp>
      <p:grpSp>
        <p:nvGrpSpPr>
          <p:cNvPr id="30" name="object 30"/>
          <p:cNvGrpSpPr/>
          <p:nvPr/>
        </p:nvGrpSpPr>
        <p:grpSpPr>
          <a:xfrm>
            <a:off x="6329171" y="2394204"/>
            <a:ext cx="1612900" cy="1416050"/>
            <a:chOff x="6329171" y="2394204"/>
            <a:chExt cx="1612900" cy="1416050"/>
          </a:xfrm>
        </p:grpSpPr>
        <p:sp>
          <p:nvSpPr>
            <p:cNvPr id="31" name="object 31"/>
            <p:cNvSpPr/>
            <p:nvPr/>
          </p:nvSpPr>
          <p:spPr>
            <a:xfrm>
              <a:off x="7647431" y="3368040"/>
              <a:ext cx="287020" cy="287020"/>
            </a:xfrm>
            <a:custGeom>
              <a:avLst/>
              <a:gdLst/>
              <a:ahLst/>
              <a:cxnLst/>
              <a:rect l="l" t="t" r="r" b="b"/>
              <a:pathLst>
                <a:path w="287020" h="287020">
                  <a:moveTo>
                    <a:pt x="286512" y="0"/>
                  </a:moveTo>
                  <a:lnTo>
                    <a:pt x="0" y="286511"/>
                  </a:lnTo>
                  <a:lnTo>
                    <a:pt x="286512" y="286511"/>
                  </a:lnTo>
                  <a:lnTo>
                    <a:pt x="286512" y="0"/>
                  </a:lnTo>
                  <a:close/>
                </a:path>
              </a:pathLst>
            </a:custGeom>
            <a:solidFill>
              <a:srgbClr val="FF9F04"/>
            </a:solidFill>
          </p:spPr>
          <p:txBody>
            <a:bodyPr wrap="square" lIns="0" tIns="0" rIns="0" bIns="0" rtlCol="0"/>
            <a:lstStyle/>
            <a:p>
              <a:endParaRPr/>
            </a:p>
          </p:txBody>
        </p:sp>
        <p:sp>
          <p:nvSpPr>
            <p:cNvPr id="32" name="object 32"/>
            <p:cNvSpPr/>
            <p:nvPr/>
          </p:nvSpPr>
          <p:spPr>
            <a:xfrm>
              <a:off x="7647431" y="3368040"/>
              <a:ext cx="287020" cy="287020"/>
            </a:xfrm>
            <a:custGeom>
              <a:avLst/>
              <a:gdLst/>
              <a:ahLst/>
              <a:cxnLst/>
              <a:rect l="l" t="t" r="r" b="b"/>
              <a:pathLst>
                <a:path w="287020" h="287020">
                  <a:moveTo>
                    <a:pt x="0" y="286511"/>
                  </a:moveTo>
                  <a:lnTo>
                    <a:pt x="286512" y="0"/>
                  </a:lnTo>
                  <a:lnTo>
                    <a:pt x="286512" y="286511"/>
                  </a:lnTo>
                  <a:lnTo>
                    <a:pt x="0" y="286511"/>
                  </a:lnTo>
                  <a:close/>
                </a:path>
              </a:pathLst>
            </a:custGeom>
            <a:ln w="15874">
              <a:solidFill>
                <a:srgbClr val="FF4A00"/>
              </a:solidFill>
            </a:ln>
          </p:spPr>
          <p:txBody>
            <a:bodyPr wrap="square" lIns="0" tIns="0" rIns="0" bIns="0" rtlCol="0"/>
            <a:lstStyle/>
            <a:p>
              <a:endParaRPr/>
            </a:p>
          </p:txBody>
        </p:sp>
        <p:pic>
          <p:nvPicPr>
            <p:cNvPr id="33" name="object 33"/>
            <p:cNvPicPr/>
            <p:nvPr/>
          </p:nvPicPr>
          <p:blipFill>
            <a:blip r:embed="rId5" cstate="print"/>
            <a:stretch>
              <a:fillRect/>
            </a:stretch>
          </p:blipFill>
          <p:spPr>
            <a:xfrm>
              <a:off x="6329171" y="2394204"/>
              <a:ext cx="1417320" cy="1415783"/>
            </a:xfrm>
            <a:prstGeom prst="rect">
              <a:avLst/>
            </a:prstGeom>
          </p:spPr>
        </p:pic>
      </p:grpSp>
      <p:sp>
        <p:nvSpPr>
          <p:cNvPr id="34" name="object 34"/>
          <p:cNvSpPr txBox="1"/>
          <p:nvPr/>
        </p:nvSpPr>
        <p:spPr>
          <a:xfrm>
            <a:off x="8335568" y="3570681"/>
            <a:ext cx="1485265" cy="888705"/>
          </a:xfrm>
          <a:prstGeom prst="rect">
            <a:avLst/>
          </a:prstGeom>
        </p:spPr>
        <p:txBody>
          <a:bodyPr vert="horz" wrap="square" lIns="0" tIns="41910" rIns="0" bIns="0" rtlCol="0">
            <a:spAutoFit/>
          </a:bodyPr>
          <a:lstStyle/>
          <a:p>
            <a:pPr marL="12700" marR="5080">
              <a:lnSpc>
                <a:spcPts val="2210"/>
              </a:lnSpc>
              <a:spcBef>
                <a:spcPts val="330"/>
              </a:spcBef>
            </a:pPr>
            <a:r>
              <a:rPr lang="vi-VN" sz="2000" b="1" spc="-10" dirty="0">
                <a:latin typeface="Trebuchet MS"/>
                <a:cs typeface="Trebuchet MS"/>
              </a:rPr>
              <a:t>Kết nối với máy chủ </a:t>
            </a:r>
            <a:r>
              <a:rPr lang="vi-VN" sz="2000" b="1" spc="-10" dirty="0" err="1">
                <a:latin typeface="Trebuchet MS"/>
                <a:cs typeface="Trebuchet MS"/>
              </a:rPr>
              <a:t>email</a:t>
            </a:r>
            <a:endParaRPr sz="2000" dirty="0">
              <a:latin typeface="Trebuchet MS"/>
              <a:cs typeface="Trebuchet MS"/>
            </a:endParaRPr>
          </a:p>
        </p:txBody>
      </p:sp>
      <p:grpSp>
        <p:nvGrpSpPr>
          <p:cNvPr id="35" name="object 35"/>
          <p:cNvGrpSpPr/>
          <p:nvPr/>
        </p:nvGrpSpPr>
        <p:grpSpPr>
          <a:xfrm>
            <a:off x="9955974" y="2901378"/>
            <a:ext cx="1695450" cy="1024890"/>
            <a:chOff x="9955974" y="2901378"/>
            <a:chExt cx="1695450" cy="1024890"/>
          </a:xfrm>
        </p:grpSpPr>
        <p:sp>
          <p:nvSpPr>
            <p:cNvPr id="36" name="object 36"/>
            <p:cNvSpPr/>
            <p:nvPr/>
          </p:nvSpPr>
          <p:spPr>
            <a:xfrm>
              <a:off x="9963912" y="2909315"/>
              <a:ext cx="1679575" cy="1008380"/>
            </a:xfrm>
            <a:custGeom>
              <a:avLst/>
              <a:gdLst/>
              <a:ahLst/>
              <a:cxnLst/>
              <a:rect l="l" t="t" r="r" b="b"/>
              <a:pathLst>
                <a:path w="1679575" h="1008379">
                  <a:moveTo>
                    <a:pt x="1679448" y="0"/>
                  </a:moveTo>
                  <a:lnTo>
                    <a:pt x="0" y="0"/>
                  </a:lnTo>
                  <a:lnTo>
                    <a:pt x="0" y="162560"/>
                  </a:lnTo>
                  <a:lnTo>
                    <a:pt x="0" y="1008380"/>
                  </a:lnTo>
                  <a:lnTo>
                    <a:pt x="162636" y="1008380"/>
                  </a:lnTo>
                  <a:lnTo>
                    <a:pt x="162636" y="162560"/>
                  </a:lnTo>
                  <a:lnTo>
                    <a:pt x="1679448" y="162560"/>
                  </a:lnTo>
                  <a:lnTo>
                    <a:pt x="1679448" y="0"/>
                  </a:lnTo>
                  <a:close/>
                </a:path>
              </a:pathLst>
            </a:custGeom>
            <a:solidFill>
              <a:srgbClr val="FF9F04"/>
            </a:solidFill>
          </p:spPr>
          <p:txBody>
            <a:bodyPr wrap="square" lIns="0" tIns="0" rIns="0" bIns="0" rtlCol="0"/>
            <a:lstStyle/>
            <a:p>
              <a:endParaRPr/>
            </a:p>
          </p:txBody>
        </p:sp>
        <p:sp>
          <p:nvSpPr>
            <p:cNvPr id="37" name="object 37"/>
            <p:cNvSpPr/>
            <p:nvPr/>
          </p:nvSpPr>
          <p:spPr>
            <a:xfrm>
              <a:off x="9963911" y="2909315"/>
              <a:ext cx="1679575" cy="1009015"/>
            </a:xfrm>
            <a:custGeom>
              <a:avLst/>
              <a:gdLst/>
              <a:ahLst/>
              <a:cxnLst/>
              <a:rect l="l" t="t" r="r" b="b"/>
              <a:pathLst>
                <a:path w="1679575" h="1009014">
                  <a:moveTo>
                    <a:pt x="1679448" y="0"/>
                  </a:moveTo>
                  <a:lnTo>
                    <a:pt x="1679448" y="162534"/>
                  </a:lnTo>
                  <a:lnTo>
                    <a:pt x="162636" y="162534"/>
                  </a:lnTo>
                  <a:lnTo>
                    <a:pt x="162636" y="1008888"/>
                  </a:lnTo>
                  <a:lnTo>
                    <a:pt x="0" y="1008888"/>
                  </a:lnTo>
                  <a:lnTo>
                    <a:pt x="0" y="0"/>
                  </a:lnTo>
                  <a:lnTo>
                    <a:pt x="1679448" y="0"/>
                  </a:lnTo>
                  <a:close/>
                </a:path>
              </a:pathLst>
            </a:custGeom>
            <a:ln w="15874">
              <a:solidFill>
                <a:srgbClr val="FF4A00"/>
              </a:solidFill>
            </a:ln>
          </p:spPr>
          <p:txBody>
            <a:bodyPr wrap="square" lIns="0" tIns="0" rIns="0" bIns="0" rtlCol="0"/>
            <a:lstStyle/>
            <a:p>
              <a:endParaRPr/>
            </a:p>
          </p:txBody>
        </p:sp>
      </p:grpSp>
      <p:grpSp>
        <p:nvGrpSpPr>
          <p:cNvPr id="38" name="object 38"/>
          <p:cNvGrpSpPr/>
          <p:nvPr/>
        </p:nvGrpSpPr>
        <p:grpSpPr>
          <a:xfrm>
            <a:off x="8046719" y="1930907"/>
            <a:ext cx="1751964" cy="1651000"/>
            <a:chOff x="8046719" y="1930907"/>
            <a:chExt cx="1751964" cy="1651000"/>
          </a:xfrm>
        </p:grpSpPr>
        <p:sp>
          <p:nvSpPr>
            <p:cNvPr id="39" name="object 39"/>
            <p:cNvSpPr/>
            <p:nvPr/>
          </p:nvSpPr>
          <p:spPr>
            <a:xfrm>
              <a:off x="9503663" y="2909315"/>
              <a:ext cx="287020" cy="287020"/>
            </a:xfrm>
            <a:custGeom>
              <a:avLst/>
              <a:gdLst/>
              <a:ahLst/>
              <a:cxnLst/>
              <a:rect l="l" t="t" r="r" b="b"/>
              <a:pathLst>
                <a:path w="287020" h="287019">
                  <a:moveTo>
                    <a:pt x="286512" y="0"/>
                  </a:moveTo>
                  <a:lnTo>
                    <a:pt x="0" y="286511"/>
                  </a:lnTo>
                  <a:lnTo>
                    <a:pt x="286512" y="286511"/>
                  </a:lnTo>
                  <a:lnTo>
                    <a:pt x="286512" y="0"/>
                  </a:lnTo>
                  <a:close/>
                </a:path>
              </a:pathLst>
            </a:custGeom>
            <a:solidFill>
              <a:srgbClr val="FF9F04"/>
            </a:solidFill>
          </p:spPr>
          <p:txBody>
            <a:bodyPr wrap="square" lIns="0" tIns="0" rIns="0" bIns="0" rtlCol="0"/>
            <a:lstStyle/>
            <a:p>
              <a:endParaRPr/>
            </a:p>
          </p:txBody>
        </p:sp>
        <p:sp>
          <p:nvSpPr>
            <p:cNvPr id="40" name="object 40"/>
            <p:cNvSpPr/>
            <p:nvPr/>
          </p:nvSpPr>
          <p:spPr>
            <a:xfrm>
              <a:off x="9503663" y="2909315"/>
              <a:ext cx="287020" cy="287020"/>
            </a:xfrm>
            <a:custGeom>
              <a:avLst/>
              <a:gdLst/>
              <a:ahLst/>
              <a:cxnLst/>
              <a:rect l="l" t="t" r="r" b="b"/>
              <a:pathLst>
                <a:path w="287020" h="287019">
                  <a:moveTo>
                    <a:pt x="0" y="286511"/>
                  </a:moveTo>
                  <a:lnTo>
                    <a:pt x="286512" y="0"/>
                  </a:lnTo>
                  <a:lnTo>
                    <a:pt x="286512" y="286511"/>
                  </a:lnTo>
                  <a:lnTo>
                    <a:pt x="0" y="286511"/>
                  </a:lnTo>
                  <a:close/>
                </a:path>
              </a:pathLst>
            </a:custGeom>
            <a:ln w="15874">
              <a:solidFill>
                <a:srgbClr val="FF4A00"/>
              </a:solidFill>
            </a:ln>
          </p:spPr>
          <p:txBody>
            <a:bodyPr wrap="square" lIns="0" tIns="0" rIns="0" bIns="0" rtlCol="0"/>
            <a:lstStyle/>
            <a:p>
              <a:endParaRPr/>
            </a:p>
          </p:txBody>
        </p:sp>
        <p:pic>
          <p:nvPicPr>
            <p:cNvPr id="41" name="object 41"/>
            <p:cNvPicPr/>
            <p:nvPr/>
          </p:nvPicPr>
          <p:blipFill>
            <a:blip r:embed="rId6" cstate="print"/>
            <a:stretch>
              <a:fillRect/>
            </a:stretch>
          </p:blipFill>
          <p:spPr>
            <a:xfrm>
              <a:off x="8046719" y="1930907"/>
              <a:ext cx="1650492" cy="1650492"/>
            </a:xfrm>
            <a:prstGeom prst="rect">
              <a:avLst/>
            </a:prstGeom>
          </p:spPr>
        </p:pic>
      </p:grpSp>
      <p:sp>
        <p:nvSpPr>
          <p:cNvPr id="42" name="object 42"/>
          <p:cNvSpPr txBox="1"/>
          <p:nvPr/>
        </p:nvSpPr>
        <p:spPr>
          <a:xfrm>
            <a:off x="10193476" y="3111347"/>
            <a:ext cx="1450009" cy="324448"/>
          </a:xfrm>
          <a:prstGeom prst="rect">
            <a:avLst/>
          </a:prstGeom>
        </p:spPr>
        <p:txBody>
          <a:bodyPr vert="horz" wrap="square" lIns="0" tIns="41910" rIns="0" bIns="0" rtlCol="0">
            <a:spAutoFit/>
          </a:bodyPr>
          <a:lstStyle/>
          <a:p>
            <a:pPr marL="12700" marR="5080">
              <a:lnSpc>
                <a:spcPts val="2210"/>
              </a:lnSpc>
              <a:spcBef>
                <a:spcPts val="330"/>
              </a:spcBef>
            </a:pPr>
            <a:r>
              <a:rPr lang="vi-VN" sz="2000" b="1" spc="-10" dirty="0">
                <a:latin typeface="Trebuchet MS"/>
                <a:cs typeface="Trebuchet MS"/>
              </a:rPr>
              <a:t>Gửi </a:t>
            </a:r>
            <a:r>
              <a:rPr lang="vi-VN" sz="2000" b="1" spc="-10" dirty="0" err="1">
                <a:latin typeface="Trebuchet MS"/>
                <a:cs typeface="Trebuchet MS"/>
              </a:rPr>
              <a:t>email</a:t>
            </a:r>
            <a:endParaRPr sz="2000" dirty="0">
              <a:latin typeface="Trebuchet MS"/>
              <a:cs typeface="Trebuchet MS"/>
            </a:endParaRPr>
          </a:p>
        </p:txBody>
      </p:sp>
      <p:pic>
        <p:nvPicPr>
          <p:cNvPr id="43" name="object 43"/>
          <p:cNvPicPr/>
          <p:nvPr/>
        </p:nvPicPr>
        <p:blipFill>
          <a:blip r:embed="rId7" cstate="print"/>
          <a:stretch>
            <a:fillRect/>
          </a:stretch>
        </p:blipFill>
        <p:spPr>
          <a:xfrm>
            <a:off x="10253471" y="1822716"/>
            <a:ext cx="1031735" cy="10317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2667000" y="661415"/>
            <a:ext cx="6639559" cy="1120820"/>
          </a:xfrm>
          <a:prstGeom prst="rect">
            <a:avLst/>
          </a:prstGeom>
        </p:spPr>
        <p:txBody>
          <a:bodyPr vert="horz" wrap="square" lIns="0" tIns="12700" rIns="0" bIns="0" rtlCol="0">
            <a:spAutoFit/>
          </a:bodyPr>
          <a:lstStyle/>
          <a:p>
            <a:pPr marL="12700" marR="5080">
              <a:lnSpc>
                <a:spcPct val="100000"/>
              </a:lnSpc>
              <a:spcBef>
                <a:spcPts val="100"/>
              </a:spcBef>
            </a:pPr>
            <a:r>
              <a:rPr lang="vi-VN" b="1" dirty="0"/>
              <a:t>Thư viện và công cụ </a:t>
            </a:r>
            <a:r>
              <a:rPr lang="vi-VN" b="1" dirty="0" err="1"/>
              <a:t>Python</a:t>
            </a:r>
            <a:r>
              <a:rPr lang="vi-VN" b="1" dirty="0"/>
              <a:t> để tự động họa </a:t>
            </a:r>
            <a:r>
              <a:rPr lang="vi-VN" b="1" dirty="0" err="1"/>
              <a:t>email</a:t>
            </a:r>
            <a:endParaRPr b="1" spc="-10" dirty="0"/>
          </a:p>
        </p:txBody>
      </p:sp>
      <p:sp>
        <p:nvSpPr>
          <p:cNvPr id="27" name="object 27"/>
          <p:cNvSpPr txBox="1">
            <a:spLocks noGrp="1"/>
          </p:cNvSpPr>
          <p:nvPr>
            <p:ph type="dt" sz="half" idx="10"/>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13970">
              <a:lnSpc>
                <a:spcPct val="100000"/>
              </a:lnSpc>
              <a:spcBef>
                <a:spcPts val="25"/>
              </a:spcBef>
            </a:pPr>
            <a:r>
              <a:rPr lang="vi-VN"/>
              <a:t>Emails</a:t>
            </a:r>
            <a:r>
              <a:rPr lang="vi-VN" spc="-80"/>
              <a:t> </a:t>
            </a:r>
            <a:r>
              <a:rPr lang="vi-VN"/>
              <a:t>with</a:t>
            </a:r>
            <a:r>
              <a:rPr lang="vi-VN" spc="-55"/>
              <a:t> </a:t>
            </a:r>
            <a:r>
              <a:rPr lang="vi-VN" spc="-10"/>
              <a:t>Python</a:t>
            </a:r>
            <a:endParaRPr spc="-10" dirty="0"/>
          </a:p>
        </p:txBody>
      </p:sp>
      <p:sp>
        <p:nvSpPr>
          <p:cNvPr id="28" name="object 28"/>
          <p:cNvSpPr txBox="1">
            <a:spLocks noGrp="1"/>
          </p:cNvSpPr>
          <p:nvPr>
            <p:ph type="ftr" sz="quarter" idx="11"/>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24130">
              <a:lnSpc>
                <a:spcPct val="100000"/>
              </a:lnSpc>
              <a:spcBef>
                <a:spcPts val="25"/>
              </a:spcBef>
            </a:pPr>
            <a:r>
              <a:rPr lang="vi-VN"/>
              <a:t>©</a:t>
            </a:r>
            <a:r>
              <a:rPr lang="vi-VN" spc="-40"/>
              <a:t> </a:t>
            </a:r>
            <a:r>
              <a:rPr lang="vi-VN"/>
              <a:t>Aptech</a:t>
            </a:r>
            <a:r>
              <a:rPr lang="vi-VN" spc="-20"/>
              <a:t> Ltd.</a:t>
            </a:r>
            <a:endParaRPr spc="-20" dirty="0"/>
          </a:p>
        </p:txBody>
      </p:sp>
      <p:sp>
        <p:nvSpPr>
          <p:cNvPr id="29" name="object 2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1" i="0">
                <a:solidFill>
                  <a:schemeClr val="tx1"/>
                </a:solidFill>
                <a:latin typeface="Trebuchet MS"/>
                <a:cs typeface="Trebuchet MS"/>
              </a:defRPr>
            </a:lvl1pPr>
          </a:lstStyle>
          <a:p>
            <a:pPr marL="39370">
              <a:lnSpc>
                <a:spcPct val="100000"/>
              </a:lnSpc>
              <a:spcBef>
                <a:spcPts val="25"/>
              </a:spcBef>
            </a:pPr>
            <a:fld id="{81D60167-4931-47E6-BA6A-407CBD079E47}" type="slidenum">
              <a:rPr lang="vi-VN" spc="-50" smtClean="0"/>
              <a:pPr marL="39370">
                <a:lnSpc>
                  <a:spcPct val="100000"/>
                </a:lnSpc>
                <a:spcBef>
                  <a:spcPts val="25"/>
                </a:spcBef>
              </a:pPr>
              <a:t>8</a:t>
            </a:fld>
            <a:endParaRPr spc="-50" dirty="0"/>
          </a:p>
        </p:txBody>
      </p:sp>
      <p:grpSp>
        <p:nvGrpSpPr>
          <p:cNvPr id="7" name="object 7"/>
          <p:cNvGrpSpPr/>
          <p:nvPr/>
        </p:nvGrpSpPr>
        <p:grpSpPr>
          <a:xfrm>
            <a:off x="2490216" y="2819400"/>
            <a:ext cx="9116695" cy="3157855"/>
            <a:chOff x="2490216" y="2819400"/>
            <a:chExt cx="9116695" cy="3157855"/>
          </a:xfrm>
        </p:grpSpPr>
        <p:sp>
          <p:nvSpPr>
            <p:cNvPr id="8" name="object 8"/>
            <p:cNvSpPr/>
            <p:nvPr/>
          </p:nvSpPr>
          <p:spPr>
            <a:xfrm>
              <a:off x="2544318" y="2856737"/>
              <a:ext cx="9010015" cy="3101340"/>
            </a:xfrm>
            <a:custGeom>
              <a:avLst/>
              <a:gdLst/>
              <a:ahLst/>
              <a:cxnLst/>
              <a:rect l="l" t="t" r="r" b="b"/>
              <a:pathLst>
                <a:path w="9010015" h="3101340">
                  <a:moveTo>
                    <a:pt x="1717548" y="0"/>
                  </a:moveTo>
                  <a:lnTo>
                    <a:pt x="0" y="0"/>
                  </a:lnTo>
                  <a:lnTo>
                    <a:pt x="0" y="3101340"/>
                  </a:lnTo>
                  <a:lnTo>
                    <a:pt x="1717548" y="3101340"/>
                  </a:lnTo>
                  <a:lnTo>
                    <a:pt x="1717548" y="0"/>
                  </a:lnTo>
                  <a:close/>
                </a:path>
                <a:path w="9010015" h="3101340">
                  <a:moveTo>
                    <a:pt x="3540252" y="0"/>
                  </a:moveTo>
                  <a:lnTo>
                    <a:pt x="1824228" y="0"/>
                  </a:lnTo>
                  <a:lnTo>
                    <a:pt x="1824228" y="3101340"/>
                  </a:lnTo>
                  <a:lnTo>
                    <a:pt x="3540252" y="3101340"/>
                  </a:lnTo>
                  <a:lnTo>
                    <a:pt x="3540252" y="0"/>
                  </a:lnTo>
                  <a:close/>
                </a:path>
                <a:path w="9010015" h="3101340">
                  <a:moveTo>
                    <a:pt x="5364480" y="0"/>
                  </a:moveTo>
                  <a:lnTo>
                    <a:pt x="3646932" y="0"/>
                  </a:lnTo>
                  <a:lnTo>
                    <a:pt x="3646932" y="3101340"/>
                  </a:lnTo>
                  <a:lnTo>
                    <a:pt x="5364480" y="3101340"/>
                  </a:lnTo>
                  <a:lnTo>
                    <a:pt x="5364480" y="0"/>
                  </a:lnTo>
                  <a:close/>
                </a:path>
                <a:path w="9010015" h="3101340">
                  <a:moveTo>
                    <a:pt x="7187184" y="0"/>
                  </a:moveTo>
                  <a:lnTo>
                    <a:pt x="5469636" y="0"/>
                  </a:lnTo>
                  <a:lnTo>
                    <a:pt x="5469636" y="3101340"/>
                  </a:lnTo>
                  <a:lnTo>
                    <a:pt x="7187184" y="3101340"/>
                  </a:lnTo>
                  <a:lnTo>
                    <a:pt x="7187184" y="0"/>
                  </a:lnTo>
                  <a:close/>
                </a:path>
                <a:path w="9010015" h="3101340">
                  <a:moveTo>
                    <a:pt x="9009888" y="0"/>
                  </a:moveTo>
                  <a:lnTo>
                    <a:pt x="7292340" y="0"/>
                  </a:lnTo>
                  <a:lnTo>
                    <a:pt x="7292340" y="3101340"/>
                  </a:lnTo>
                  <a:lnTo>
                    <a:pt x="9009888" y="3101340"/>
                  </a:lnTo>
                  <a:lnTo>
                    <a:pt x="9009888" y="0"/>
                  </a:lnTo>
                  <a:close/>
                </a:path>
              </a:pathLst>
            </a:custGeom>
            <a:solidFill>
              <a:srgbClr val="FFFFFF"/>
            </a:solidFill>
          </p:spPr>
          <p:txBody>
            <a:bodyPr wrap="square" lIns="0" tIns="0" rIns="0" bIns="0" rtlCol="0"/>
            <a:lstStyle/>
            <a:p>
              <a:endParaRPr/>
            </a:p>
          </p:txBody>
        </p:sp>
        <p:pic>
          <p:nvPicPr>
            <p:cNvPr id="9" name="object 9"/>
            <p:cNvPicPr/>
            <p:nvPr/>
          </p:nvPicPr>
          <p:blipFill>
            <a:blip r:embed="rId3" cstate="print"/>
            <a:stretch>
              <a:fillRect/>
            </a:stretch>
          </p:blipFill>
          <p:spPr>
            <a:xfrm>
              <a:off x="6163056" y="2819400"/>
              <a:ext cx="5443728" cy="1668779"/>
            </a:xfrm>
            <a:prstGeom prst="rect">
              <a:avLst/>
            </a:prstGeom>
          </p:spPr>
        </p:pic>
        <p:pic>
          <p:nvPicPr>
            <p:cNvPr id="10" name="object 10"/>
            <p:cNvPicPr/>
            <p:nvPr/>
          </p:nvPicPr>
          <p:blipFill>
            <a:blip r:embed="rId4" cstate="print"/>
            <a:stretch>
              <a:fillRect/>
            </a:stretch>
          </p:blipFill>
          <p:spPr>
            <a:xfrm>
              <a:off x="2490216" y="2819400"/>
              <a:ext cx="3646931" cy="1668779"/>
            </a:xfrm>
            <a:prstGeom prst="rect">
              <a:avLst/>
            </a:prstGeom>
          </p:spPr>
        </p:pic>
        <p:sp>
          <p:nvSpPr>
            <p:cNvPr id="11" name="object 11"/>
            <p:cNvSpPr/>
            <p:nvPr/>
          </p:nvSpPr>
          <p:spPr>
            <a:xfrm>
              <a:off x="2544318" y="2856738"/>
              <a:ext cx="1717675" cy="3101340"/>
            </a:xfrm>
            <a:custGeom>
              <a:avLst/>
              <a:gdLst/>
              <a:ahLst/>
              <a:cxnLst/>
              <a:rect l="l" t="t" r="r" b="b"/>
              <a:pathLst>
                <a:path w="1717675" h="3101340">
                  <a:moveTo>
                    <a:pt x="0" y="0"/>
                  </a:moveTo>
                  <a:lnTo>
                    <a:pt x="1717675" y="0"/>
                  </a:lnTo>
                  <a:lnTo>
                    <a:pt x="1717675" y="3101340"/>
                  </a:lnTo>
                  <a:lnTo>
                    <a:pt x="0" y="3101340"/>
                  </a:lnTo>
                  <a:lnTo>
                    <a:pt x="0" y="0"/>
                  </a:lnTo>
                  <a:close/>
                </a:path>
              </a:pathLst>
            </a:custGeom>
            <a:ln w="38099">
              <a:solidFill>
                <a:srgbClr val="DE7D17"/>
              </a:solidFill>
            </a:ln>
          </p:spPr>
          <p:txBody>
            <a:bodyPr wrap="square" lIns="0" tIns="0" rIns="0" bIns="0" rtlCol="0"/>
            <a:lstStyle/>
            <a:p>
              <a:endParaRPr/>
            </a:p>
          </p:txBody>
        </p:sp>
      </p:grpSp>
      <p:sp>
        <p:nvSpPr>
          <p:cNvPr id="12" name="object 12"/>
          <p:cNvSpPr txBox="1"/>
          <p:nvPr/>
        </p:nvSpPr>
        <p:spPr>
          <a:xfrm>
            <a:off x="2563367" y="3108236"/>
            <a:ext cx="1679575" cy="513080"/>
          </a:xfrm>
          <a:prstGeom prst="rect">
            <a:avLst/>
          </a:prstGeom>
        </p:spPr>
        <p:txBody>
          <a:bodyPr vert="horz" wrap="square" lIns="0" tIns="12700" rIns="0" bIns="0" rtlCol="0">
            <a:spAutoFit/>
          </a:bodyPr>
          <a:lstStyle/>
          <a:p>
            <a:pPr marR="45085" algn="ctr">
              <a:lnSpc>
                <a:spcPct val="100000"/>
              </a:lnSpc>
              <a:spcBef>
                <a:spcPts val="100"/>
              </a:spcBef>
            </a:pPr>
            <a:r>
              <a:rPr sz="3200" b="1" spc="-50" dirty="0">
                <a:solidFill>
                  <a:srgbClr val="FFFFFF"/>
                </a:solidFill>
                <a:latin typeface="Trebuchet MS"/>
                <a:cs typeface="Trebuchet MS"/>
              </a:rPr>
              <a:t>1</a:t>
            </a:r>
            <a:endParaRPr sz="3200">
              <a:latin typeface="Trebuchet MS"/>
              <a:cs typeface="Trebuchet MS"/>
            </a:endParaRPr>
          </a:p>
        </p:txBody>
      </p:sp>
      <p:sp>
        <p:nvSpPr>
          <p:cNvPr id="13" name="object 13"/>
          <p:cNvSpPr txBox="1"/>
          <p:nvPr/>
        </p:nvSpPr>
        <p:spPr>
          <a:xfrm>
            <a:off x="2563367" y="4488179"/>
            <a:ext cx="1679575" cy="1450975"/>
          </a:xfrm>
          <a:prstGeom prst="rect">
            <a:avLst/>
          </a:prstGeom>
          <a:solidFill>
            <a:srgbClr val="FFFFFF"/>
          </a:solidFill>
        </p:spPr>
        <p:txBody>
          <a:bodyPr vert="horz" wrap="square" lIns="0" tIns="0" rIns="0" bIns="0" rtlCol="0">
            <a:spAutoFit/>
          </a:bodyPr>
          <a:lstStyle/>
          <a:p>
            <a:pPr>
              <a:lnSpc>
                <a:spcPct val="100000"/>
              </a:lnSpc>
            </a:pPr>
            <a:endParaRPr sz="2000" dirty="0">
              <a:latin typeface="Times New Roman"/>
              <a:cs typeface="Times New Roman"/>
            </a:endParaRPr>
          </a:p>
          <a:p>
            <a:pPr>
              <a:lnSpc>
                <a:spcPct val="100000"/>
              </a:lnSpc>
              <a:spcBef>
                <a:spcPts val="645"/>
              </a:spcBef>
            </a:pPr>
            <a:endParaRPr sz="2000" dirty="0">
              <a:latin typeface="Times New Roman"/>
              <a:cs typeface="Times New Roman"/>
            </a:endParaRPr>
          </a:p>
          <a:p>
            <a:pPr marL="295910">
              <a:lnSpc>
                <a:spcPct val="100000"/>
              </a:lnSpc>
            </a:pPr>
            <a:r>
              <a:rPr sz="2000" b="1" spc="-10" dirty="0">
                <a:latin typeface="Courier New"/>
                <a:cs typeface="Courier New"/>
              </a:rPr>
              <a:t>smtplib</a:t>
            </a:r>
            <a:endParaRPr sz="2000" dirty="0">
              <a:latin typeface="Courier New"/>
              <a:cs typeface="Courier New"/>
            </a:endParaRPr>
          </a:p>
        </p:txBody>
      </p:sp>
      <p:sp>
        <p:nvSpPr>
          <p:cNvPr id="14" name="object 14"/>
          <p:cNvSpPr/>
          <p:nvPr/>
        </p:nvSpPr>
        <p:spPr>
          <a:xfrm>
            <a:off x="4368546" y="2856738"/>
            <a:ext cx="1716405" cy="3101340"/>
          </a:xfrm>
          <a:custGeom>
            <a:avLst/>
            <a:gdLst/>
            <a:ahLst/>
            <a:cxnLst/>
            <a:rect l="l" t="t" r="r" b="b"/>
            <a:pathLst>
              <a:path w="1716404" h="3101340">
                <a:moveTo>
                  <a:pt x="0" y="0"/>
                </a:moveTo>
                <a:lnTo>
                  <a:pt x="1716405" y="0"/>
                </a:lnTo>
                <a:lnTo>
                  <a:pt x="1716405" y="3101340"/>
                </a:lnTo>
                <a:lnTo>
                  <a:pt x="0" y="3101340"/>
                </a:lnTo>
                <a:lnTo>
                  <a:pt x="0" y="0"/>
                </a:lnTo>
                <a:close/>
              </a:path>
            </a:pathLst>
          </a:custGeom>
          <a:ln w="38099">
            <a:solidFill>
              <a:srgbClr val="718552"/>
            </a:solidFill>
          </a:ln>
        </p:spPr>
        <p:txBody>
          <a:bodyPr wrap="square" lIns="0" tIns="0" rIns="0" bIns="0" rtlCol="0"/>
          <a:lstStyle/>
          <a:p>
            <a:endParaRPr/>
          </a:p>
        </p:txBody>
      </p:sp>
      <p:sp>
        <p:nvSpPr>
          <p:cNvPr id="15" name="object 15"/>
          <p:cNvSpPr txBox="1"/>
          <p:nvPr/>
        </p:nvSpPr>
        <p:spPr>
          <a:xfrm>
            <a:off x="4387595" y="3108236"/>
            <a:ext cx="1678305" cy="513080"/>
          </a:xfrm>
          <a:prstGeom prst="rect">
            <a:avLst/>
          </a:prstGeom>
        </p:spPr>
        <p:txBody>
          <a:bodyPr vert="horz" wrap="square" lIns="0" tIns="12700" rIns="0" bIns="0" rtlCol="0">
            <a:spAutoFit/>
          </a:bodyPr>
          <a:lstStyle/>
          <a:p>
            <a:pPr marL="1905" algn="ctr">
              <a:lnSpc>
                <a:spcPct val="100000"/>
              </a:lnSpc>
              <a:spcBef>
                <a:spcPts val="100"/>
              </a:spcBef>
            </a:pPr>
            <a:r>
              <a:rPr sz="3200" b="1" spc="-50" dirty="0">
                <a:solidFill>
                  <a:srgbClr val="FFFFFF"/>
                </a:solidFill>
                <a:latin typeface="Trebuchet MS"/>
                <a:cs typeface="Trebuchet MS"/>
              </a:rPr>
              <a:t>2</a:t>
            </a:r>
            <a:endParaRPr sz="3200">
              <a:latin typeface="Trebuchet MS"/>
              <a:cs typeface="Trebuchet MS"/>
            </a:endParaRPr>
          </a:p>
        </p:txBody>
      </p:sp>
      <p:sp>
        <p:nvSpPr>
          <p:cNvPr id="16" name="object 16"/>
          <p:cNvSpPr txBox="1"/>
          <p:nvPr/>
        </p:nvSpPr>
        <p:spPr>
          <a:xfrm>
            <a:off x="4387595" y="4488179"/>
            <a:ext cx="1678305" cy="1450975"/>
          </a:xfrm>
          <a:prstGeom prst="rect">
            <a:avLst/>
          </a:prstGeom>
          <a:solidFill>
            <a:srgbClr val="FFFFFF"/>
          </a:solidFill>
        </p:spPr>
        <p:txBody>
          <a:bodyPr vert="horz" wrap="square" lIns="0" tIns="0" rIns="0" bIns="0" rtlCol="0">
            <a:spAutoFit/>
          </a:bodyPr>
          <a:lstStyle/>
          <a:p>
            <a:pPr>
              <a:lnSpc>
                <a:spcPct val="100000"/>
              </a:lnSpc>
            </a:pPr>
            <a:endParaRPr sz="2000" dirty="0">
              <a:latin typeface="Times New Roman"/>
              <a:cs typeface="Times New Roman"/>
            </a:endParaRPr>
          </a:p>
          <a:p>
            <a:pPr>
              <a:lnSpc>
                <a:spcPct val="100000"/>
              </a:lnSpc>
              <a:spcBef>
                <a:spcPts val="645"/>
              </a:spcBef>
            </a:pPr>
            <a:endParaRPr sz="2000" dirty="0">
              <a:latin typeface="Times New Roman"/>
              <a:cs typeface="Times New Roman"/>
            </a:endParaRPr>
          </a:p>
          <a:p>
            <a:pPr marL="450850">
              <a:lnSpc>
                <a:spcPct val="100000"/>
              </a:lnSpc>
            </a:pPr>
            <a:r>
              <a:rPr sz="2000" b="1" spc="-10" dirty="0">
                <a:latin typeface="Courier New"/>
                <a:cs typeface="Courier New"/>
              </a:rPr>
              <a:t>email</a:t>
            </a:r>
            <a:endParaRPr sz="2000" dirty="0">
              <a:latin typeface="Courier New"/>
              <a:cs typeface="Courier New"/>
            </a:endParaRPr>
          </a:p>
        </p:txBody>
      </p:sp>
      <p:sp>
        <p:nvSpPr>
          <p:cNvPr id="17" name="object 17"/>
          <p:cNvSpPr/>
          <p:nvPr/>
        </p:nvSpPr>
        <p:spPr>
          <a:xfrm>
            <a:off x="6191250" y="2856738"/>
            <a:ext cx="1717675" cy="3101340"/>
          </a:xfrm>
          <a:custGeom>
            <a:avLst/>
            <a:gdLst/>
            <a:ahLst/>
            <a:cxnLst/>
            <a:rect l="l" t="t" r="r" b="b"/>
            <a:pathLst>
              <a:path w="1717675" h="3101340">
                <a:moveTo>
                  <a:pt x="0" y="0"/>
                </a:moveTo>
                <a:lnTo>
                  <a:pt x="1717675" y="0"/>
                </a:lnTo>
                <a:lnTo>
                  <a:pt x="1717675" y="3101340"/>
                </a:lnTo>
                <a:lnTo>
                  <a:pt x="0" y="3101340"/>
                </a:lnTo>
                <a:lnTo>
                  <a:pt x="0" y="0"/>
                </a:lnTo>
                <a:close/>
              </a:path>
            </a:pathLst>
          </a:custGeom>
          <a:ln w="38099">
            <a:solidFill>
              <a:srgbClr val="A42E10"/>
            </a:solidFill>
          </a:ln>
        </p:spPr>
        <p:txBody>
          <a:bodyPr wrap="square" lIns="0" tIns="0" rIns="0" bIns="0" rtlCol="0"/>
          <a:lstStyle/>
          <a:p>
            <a:endParaRPr/>
          </a:p>
        </p:txBody>
      </p:sp>
      <p:sp>
        <p:nvSpPr>
          <p:cNvPr id="18" name="object 18"/>
          <p:cNvSpPr txBox="1"/>
          <p:nvPr/>
        </p:nvSpPr>
        <p:spPr>
          <a:xfrm>
            <a:off x="6210300" y="3108236"/>
            <a:ext cx="1679575" cy="513080"/>
          </a:xfrm>
          <a:prstGeom prst="rect">
            <a:avLst/>
          </a:prstGeom>
        </p:spPr>
        <p:txBody>
          <a:bodyPr vert="horz" wrap="square" lIns="0" tIns="12700" rIns="0" bIns="0" rtlCol="0">
            <a:spAutoFit/>
          </a:bodyPr>
          <a:lstStyle/>
          <a:p>
            <a:pPr marL="46355" algn="ctr">
              <a:lnSpc>
                <a:spcPct val="100000"/>
              </a:lnSpc>
              <a:spcBef>
                <a:spcPts val="100"/>
              </a:spcBef>
            </a:pPr>
            <a:r>
              <a:rPr sz="3200" b="1" spc="-50" dirty="0">
                <a:solidFill>
                  <a:srgbClr val="FFFFFF"/>
                </a:solidFill>
                <a:latin typeface="Trebuchet MS"/>
                <a:cs typeface="Trebuchet MS"/>
              </a:rPr>
              <a:t>3</a:t>
            </a:r>
            <a:endParaRPr sz="3200">
              <a:latin typeface="Trebuchet MS"/>
              <a:cs typeface="Trebuchet MS"/>
            </a:endParaRPr>
          </a:p>
        </p:txBody>
      </p:sp>
      <p:sp>
        <p:nvSpPr>
          <p:cNvPr id="19" name="object 19"/>
          <p:cNvSpPr txBox="1"/>
          <p:nvPr/>
        </p:nvSpPr>
        <p:spPr>
          <a:xfrm>
            <a:off x="6210300" y="4488179"/>
            <a:ext cx="1679575" cy="1450975"/>
          </a:xfrm>
          <a:prstGeom prst="rect">
            <a:avLst/>
          </a:prstGeom>
          <a:solidFill>
            <a:srgbClr val="FFFFFF"/>
          </a:solidFill>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spcBef>
                <a:spcPts val="645"/>
              </a:spcBef>
            </a:pPr>
            <a:endParaRPr sz="2000">
              <a:latin typeface="Times New Roman"/>
              <a:cs typeface="Times New Roman"/>
            </a:endParaRPr>
          </a:p>
          <a:p>
            <a:pPr marL="86995">
              <a:lnSpc>
                <a:spcPct val="100000"/>
              </a:lnSpc>
            </a:pPr>
            <a:r>
              <a:rPr sz="2000" b="1" spc="-10" dirty="0">
                <a:latin typeface="Courier New"/>
                <a:cs typeface="Courier New"/>
              </a:rPr>
              <a:t>Flask-</a:t>
            </a:r>
            <a:r>
              <a:rPr sz="2000" b="1" spc="-20" dirty="0">
                <a:latin typeface="Courier New"/>
                <a:cs typeface="Courier New"/>
              </a:rPr>
              <a:t>Mail</a:t>
            </a:r>
            <a:endParaRPr sz="2000">
              <a:latin typeface="Courier New"/>
              <a:cs typeface="Courier New"/>
            </a:endParaRPr>
          </a:p>
        </p:txBody>
      </p:sp>
      <p:sp>
        <p:nvSpPr>
          <p:cNvPr id="20" name="object 20"/>
          <p:cNvSpPr/>
          <p:nvPr/>
        </p:nvSpPr>
        <p:spPr>
          <a:xfrm>
            <a:off x="8013954" y="2856738"/>
            <a:ext cx="1717675" cy="3101340"/>
          </a:xfrm>
          <a:custGeom>
            <a:avLst/>
            <a:gdLst/>
            <a:ahLst/>
            <a:cxnLst/>
            <a:rect l="l" t="t" r="r" b="b"/>
            <a:pathLst>
              <a:path w="1717675" h="3101340">
                <a:moveTo>
                  <a:pt x="0" y="0"/>
                </a:moveTo>
                <a:lnTo>
                  <a:pt x="1717675" y="0"/>
                </a:lnTo>
                <a:lnTo>
                  <a:pt x="1717675" y="3101340"/>
                </a:lnTo>
                <a:lnTo>
                  <a:pt x="0" y="3101340"/>
                </a:lnTo>
                <a:lnTo>
                  <a:pt x="0" y="0"/>
                </a:lnTo>
                <a:close/>
              </a:path>
            </a:pathLst>
          </a:custGeom>
          <a:ln w="38099">
            <a:solidFill>
              <a:srgbClr val="9F8351"/>
            </a:solidFill>
          </a:ln>
        </p:spPr>
        <p:txBody>
          <a:bodyPr wrap="square" lIns="0" tIns="0" rIns="0" bIns="0" rtlCol="0"/>
          <a:lstStyle/>
          <a:p>
            <a:endParaRPr/>
          </a:p>
        </p:txBody>
      </p:sp>
      <p:sp>
        <p:nvSpPr>
          <p:cNvPr id="21" name="object 21"/>
          <p:cNvSpPr txBox="1"/>
          <p:nvPr/>
        </p:nvSpPr>
        <p:spPr>
          <a:xfrm>
            <a:off x="8033004" y="3108236"/>
            <a:ext cx="1679575" cy="513080"/>
          </a:xfrm>
          <a:prstGeom prst="rect">
            <a:avLst/>
          </a:prstGeom>
        </p:spPr>
        <p:txBody>
          <a:bodyPr vert="horz" wrap="square" lIns="0" tIns="12700" rIns="0" bIns="0" rtlCol="0">
            <a:spAutoFit/>
          </a:bodyPr>
          <a:lstStyle/>
          <a:p>
            <a:pPr marL="1905" algn="ctr">
              <a:lnSpc>
                <a:spcPct val="100000"/>
              </a:lnSpc>
              <a:spcBef>
                <a:spcPts val="100"/>
              </a:spcBef>
            </a:pPr>
            <a:r>
              <a:rPr sz="3200" b="1" spc="-50" dirty="0">
                <a:solidFill>
                  <a:srgbClr val="FFFFFF"/>
                </a:solidFill>
                <a:latin typeface="Trebuchet MS"/>
                <a:cs typeface="Trebuchet MS"/>
              </a:rPr>
              <a:t>4</a:t>
            </a:r>
            <a:endParaRPr sz="3200">
              <a:latin typeface="Trebuchet MS"/>
              <a:cs typeface="Trebuchet MS"/>
            </a:endParaRPr>
          </a:p>
        </p:txBody>
      </p:sp>
      <p:sp>
        <p:nvSpPr>
          <p:cNvPr id="22" name="object 22"/>
          <p:cNvSpPr txBox="1"/>
          <p:nvPr/>
        </p:nvSpPr>
        <p:spPr>
          <a:xfrm>
            <a:off x="8033004" y="4488179"/>
            <a:ext cx="1679575" cy="1450975"/>
          </a:xfrm>
          <a:prstGeom prst="rect">
            <a:avLst/>
          </a:prstGeom>
          <a:solidFill>
            <a:srgbClr val="FFFFFF"/>
          </a:solidFill>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spcBef>
                <a:spcPts val="645"/>
              </a:spcBef>
            </a:pPr>
            <a:endParaRPr sz="2000">
              <a:latin typeface="Times New Roman"/>
              <a:cs typeface="Times New Roman"/>
            </a:endParaRPr>
          </a:p>
          <a:p>
            <a:pPr marL="451484">
              <a:lnSpc>
                <a:spcPct val="100000"/>
              </a:lnSpc>
            </a:pPr>
            <a:r>
              <a:rPr sz="2000" b="1" spc="-10" dirty="0">
                <a:latin typeface="Courier New"/>
                <a:cs typeface="Courier New"/>
              </a:rPr>
              <a:t>imbox</a:t>
            </a:r>
            <a:endParaRPr sz="2000">
              <a:latin typeface="Courier New"/>
              <a:cs typeface="Courier New"/>
            </a:endParaRPr>
          </a:p>
        </p:txBody>
      </p:sp>
      <p:sp>
        <p:nvSpPr>
          <p:cNvPr id="23" name="object 23"/>
          <p:cNvSpPr/>
          <p:nvPr/>
        </p:nvSpPr>
        <p:spPr>
          <a:xfrm>
            <a:off x="9836657" y="2856738"/>
            <a:ext cx="1717675" cy="3101340"/>
          </a:xfrm>
          <a:custGeom>
            <a:avLst/>
            <a:gdLst/>
            <a:ahLst/>
            <a:cxnLst/>
            <a:rect l="l" t="t" r="r" b="b"/>
            <a:pathLst>
              <a:path w="1717675" h="3101340">
                <a:moveTo>
                  <a:pt x="0" y="0"/>
                </a:moveTo>
                <a:lnTo>
                  <a:pt x="1717675" y="0"/>
                </a:lnTo>
                <a:lnTo>
                  <a:pt x="1717675" y="3101340"/>
                </a:lnTo>
                <a:lnTo>
                  <a:pt x="0" y="3101340"/>
                </a:lnTo>
                <a:lnTo>
                  <a:pt x="0" y="0"/>
                </a:lnTo>
                <a:close/>
              </a:path>
            </a:pathLst>
          </a:custGeom>
          <a:ln w="38099">
            <a:solidFill>
              <a:srgbClr val="92AA4B"/>
            </a:solidFill>
          </a:ln>
        </p:spPr>
        <p:txBody>
          <a:bodyPr wrap="square" lIns="0" tIns="0" rIns="0" bIns="0" rtlCol="0"/>
          <a:lstStyle/>
          <a:p>
            <a:endParaRPr/>
          </a:p>
        </p:txBody>
      </p:sp>
      <p:sp>
        <p:nvSpPr>
          <p:cNvPr id="24" name="object 24"/>
          <p:cNvSpPr txBox="1"/>
          <p:nvPr/>
        </p:nvSpPr>
        <p:spPr>
          <a:xfrm>
            <a:off x="9855707" y="3108236"/>
            <a:ext cx="1679575" cy="513080"/>
          </a:xfrm>
          <a:prstGeom prst="rect">
            <a:avLst/>
          </a:prstGeom>
        </p:spPr>
        <p:txBody>
          <a:bodyPr vert="horz" wrap="square" lIns="0" tIns="12700" rIns="0" bIns="0" rtlCol="0">
            <a:spAutoFit/>
          </a:bodyPr>
          <a:lstStyle/>
          <a:p>
            <a:pPr marL="2540" algn="ctr">
              <a:lnSpc>
                <a:spcPct val="100000"/>
              </a:lnSpc>
              <a:spcBef>
                <a:spcPts val="100"/>
              </a:spcBef>
            </a:pPr>
            <a:r>
              <a:rPr sz="3200" b="1" spc="-50" dirty="0">
                <a:solidFill>
                  <a:srgbClr val="FFFFFF"/>
                </a:solidFill>
                <a:latin typeface="Trebuchet MS"/>
                <a:cs typeface="Trebuchet MS"/>
              </a:rPr>
              <a:t>5</a:t>
            </a:r>
            <a:endParaRPr sz="3200">
              <a:latin typeface="Trebuchet MS"/>
              <a:cs typeface="Trebuchet MS"/>
            </a:endParaRPr>
          </a:p>
        </p:txBody>
      </p:sp>
      <p:sp>
        <p:nvSpPr>
          <p:cNvPr id="25" name="object 25"/>
          <p:cNvSpPr txBox="1"/>
          <p:nvPr/>
        </p:nvSpPr>
        <p:spPr>
          <a:xfrm>
            <a:off x="9855707" y="4488179"/>
            <a:ext cx="1679575" cy="1450975"/>
          </a:xfrm>
          <a:prstGeom prst="rect">
            <a:avLst/>
          </a:prstGeom>
          <a:solidFill>
            <a:srgbClr val="FFFFFF"/>
          </a:solidFill>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spcBef>
                <a:spcPts val="1019"/>
              </a:spcBef>
            </a:pPr>
            <a:endParaRPr sz="2000">
              <a:latin typeface="Times New Roman"/>
              <a:cs typeface="Times New Roman"/>
            </a:endParaRPr>
          </a:p>
          <a:p>
            <a:pPr marL="319405">
              <a:lnSpc>
                <a:spcPct val="100000"/>
              </a:lnSpc>
            </a:pPr>
            <a:r>
              <a:rPr sz="2000" b="1" spc="-10" dirty="0">
                <a:latin typeface="Trebuchet MS"/>
                <a:cs typeface="Trebuchet MS"/>
              </a:rPr>
              <a:t>Postman</a:t>
            </a:r>
            <a:endParaRPr sz="2000">
              <a:latin typeface="Trebuchet MS"/>
              <a:cs typeface="Trebuchet MS"/>
            </a:endParaRPr>
          </a:p>
        </p:txBody>
      </p:sp>
      <p:pic>
        <p:nvPicPr>
          <p:cNvPr id="26" name="object 26"/>
          <p:cNvPicPr/>
          <p:nvPr/>
        </p:nvPicPr>
        <p:blipFill>
          <a:blip r:embed="rId5" cstate="print"/>
          <a:stretch>
            <a:fillRect/>
          </a:stretch>
        </p:blipFill>
        <p:spPr>
          <a:xfrm>
            <a:off x="10468330" y="-137714"/>
            <a:ext cx="1972055" cy="1972055"/>
          </a:xfrm>
          <a:prstGeom prst="rect">
            <a:avLst/>
          </a:prstGeom>
        </p:spPr>
      </p:pic>
      <p:pic>
        <p:nvPicPr>
          <p:cNvPr id="1026" name="Picture 2" descr="Kết nối với Máy chủ SMTP bằng Python | Gửi email qua SMTP | Python Lib">
            <a:extLst>
              <a:ext uri="{FF2B5EF4-FFF2-40B4-BE49-F238E27FC236}">
                <a16:creationId xmlns:a16="http://schemas.microsoft.com/office/drawing/2014/main" id="{4AEBCC0B-C652-F938-388B-3BC4DB8397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04642" y="1847764"/>
            <a:ext cx="1638300" cy="9365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1D38C0A-FCE8-7F0B-D82D-92CFAC1B5B8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11075" y="2101772"/>
            <a:ext cx="831343" cy="6235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lask Send Email: Tutorial with Code Snippets [2025]">
            <a:extLst>
              <a:ext uri="{FF2B5EF4-FFF2-40B4-BE49-F238E27FC236}">
                <a16:creationId xmlns:a16="http://schemas.microsoft.com/office/drawing/2014/main" id="{551EFA90-2036-2C81-6576-FE8371048BC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65900" y="1861536"/>
            <a:ext cx="1904595" cy="9890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Box Technologies">
            <a:extLst>
              <a:ext uri="{FF2B5EF4-FFF2-40B4-BE49-F238E27FC236}">
                <a16:creationId xmlns:a16="http://schemas.microsoft.com/office/drawing/2014/main" id="{39E4515A-A3CA-E603-7EE4-CF9DBD655C9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17075" y="1958596"/>
            <a:ext cx="902178" cy="9021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10F6F2E4-F2EF-847F-6E8A-B99901618D5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823933" y="2058407"/>
            <a:ext cx="1665180" cy="5053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6200" y="-19050"/>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1697355" y="695705"/>
            <a:ext cx="3005455" cy="574040"/>
          </a:xfrm>
          <a:prstGeom prst="rect">
            <a:avLst/>
          </a:prstGeom>
        </p:spPr>
        <p:txBody>
          <a:bodyPr vert="horz" wrap="square" lIns="0" tIns="12700" rIns="0" bIns="0" rtlCol="0">
            <a:spAutoFit/>
          </a:bodyPr>
          <a:lstStyle/>
          <a:p>
            <a:pPr marL="12700">
              <a:lnSpc>
                <a:spcPct val="100000"/>
              </a:lnSpc>
              <a:spcBef>
                <a:spcPts val="100"/>
              </a:spcBef>
              <a:tabLst>
                <a:tab pos="2021839" algn="l"/>
              </a:tabLst>
            </a:pPr>
            <a:r>
              <a:rPr lang="vi-VN" spc="-10" dirty="0"/>
              <a:t>Ví dụ</a:t>
            </a:r>
            <a:endParaRPr spc="-25" dirty="0"/>
          </a:p>
        </p:txBody>
      </p:sp>
      <p:sp>
        <p:nvSpPr>
          <p:cNvPr id="23" name="TextBox 22">
            <a:extLst>
              <a:ext uri="{FF2B5EF4-FFF2-40B4-BE49-F238E27FC236}">
                <a16:creationId xmlns:a16="http://schemas.microsoft.com/office/drawing/2014/main" id="{525703A8-E2BD-26D7-9FA6-6E3A0CB1BCA6}"/>
              </a:ext>
            </a:extLst>
          </p:cNvPr>
          <p:cNvSpPr txBox="1"/>
          <p:nvPr/>
        </p:nvSpPr>
        <p:spPr>
          <a:xfrm>
            <a:off x="1697354" y="1524000"/>
            <a:ext cx="8513445" cy="923330"/>
          </a:xfrm>
          <a:prstGeom prst="rect">
            <a:avLst/>
          </a:prstGeom>
          <a:noFill/>
        </p:spPr>
        <p:txBody>
          <a:bodyPr wrap="square">
            <a:spAutoFit/>
          </a:bodyPr>
          <a:lstStyle/>
          <a:p>
            <a:r>
              <a:rPr lang="vi-VN" b="0" dirty="0" err="1">
                <a:solidFill>
                  <a:srgbClr val="0000FF"/>
                </a:solidFill>
                <a:effectLst/>
                <a:latin typeface="Google Sans Code" panose="020B0509030502040204" pitchFamily="49" charset="0"/>
              </a:rPr>
              <a:t>import</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smtplib</a:t>
            </a:r>
            <a:endParaRPr lang="vi-VN" b="0" dirty="0">
              <a:solidFill>
                <a:srgbClr val="000000"/>
              </a:solidFill>
              <a:effectLst/>
              <a:latin typeface="Google Sans Code" panose="020B0509030502040204" pitchFamily="49" charset="0"/>
            </a:endParaRPr>
          </a:p>
          <a:p>
            <a:r>
              <a:rPr lang="vi-VN" b="0" dirty="0" err="1">
                <a:solidFill>
                  <a:srgbClr val="0000FF"/>
                </a:solidFill>
                <a:effectLst/>
                <a:latin typeface="Google Sans Code" panose="020B0509030502040204" pitchFamily="49" charset="0"/>
              </a:rPr>
              <a:t>from</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email.mime.text</a:t>
            </a:r>
            <a:r>
              <a:rPr lang="vi-VN" b="0" dirty="0">
                <a:solidFill>
                  <a:srgbClr val="000000"/>
                </a:solidFill>
                <a:effectLst/>
                <a:latin typeface="Google Sans Code" panose="020B0509030502040204" pitchFamily="49" charset="0"/>
              </a:rPr>
              <a:t> </a:t>
            </a:r>
            <a:r>
              <a:rPr lang="vi-VN" b="0" dirty="0" err="1">
                <a:solidFill>
                  <a:srgbClr val="0000FF"/>
                </a:solidFill>
                <a:effectLst/>
                <a:latin typeface="Google Sans Code" panose="020B0509030502040204" pitchFamily="49" charset="0"/>
              </a:rPr>
              <a:t>import</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MIMEText</a:t>
            </a:r>
            <a:endParaRPr lang="vi-VN" b="0" dirty="0">
              <a:solidFill>
                <a:srgbClr val="000000"/>
              </a:solidFill>
              <a:effectLst/>
              <a:latin typeface="Google Sans Code" panose="020B0509030502040204" pitchFamily="49" charset="0"/>
            </a:endParaRPr>
          </a:p>
          <a:p>
            <a:r>
              <a:rPr lang="vi-VN" b="0" dirty="0" err="1">
                <a:solidFill>
                  <a:srgbClr val="0000FF"/>
                </a:solidFill>
                <a:effectLst/>
                <a:latin typeface="Google Sans Code" panose="020B0509030502040204" pitchFamily="49" charset="0"/>
              </a:rPr>
              <a:t>from</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email.mime.multipart</a:t>
            </a:r>
            <a:r>
              <a:rPr lang="vi-VN" b="0" dirty="0">
                <a:solidFill>
                  <a:srgbClr val="000000"/>
                </a:solidFill>
                <a:effectLst/>
                <a:latin typeface="Google Sans Code" panose="020B0509030502040204" pitchFamily="49" charset="0"/>
              </a:rPr>
              <a:t> </a:t>
            </a:r>
            <a:r>
              <a:rPr lang="vi-VN" b="0" dirty="0" err="1">
                <a:solidFill>
                  <a:srgbClr val="0000FF"/>
                </a:solidFill>
                <a:effectLst/>
                <a:latin typeface="Google Sans Code" panose="020B0509030502040204" pitchFamily="49" charset="0"/>
              </a:rPr>
              <a:t>import</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MIMEMultipart</a:t>
            </a:r>
            <a:endParaRPr lang="vi-VN" b="0" dirty="0">
              <a:solidFill>
                <a:srgbClr val="000000"/>
              </a:solidFill>
              <a:effectLst/>
              <a:latin typeface="Google Sans Code" panose="020B0509030502040204" pitchFamily="49" charset="0"/>
            </a:endParaRPr>
          </a:p>
        </p:txBody>
      </p:sp>
      <p:sp>
        <p:nvSpPr>
          <p:cNvPr id="25" name="TextBox 24">
            <a:extLst>
              <a:ext uri="{FF2B5EF4-FFF2-40B4-BE49-F238E27FC236}">
                <a16:creationId xmlns:a16="http://schemas.microsoft.com/office/drawing/2014/main" id="{EB52767F-6930-457E-294C-720CEAB15205}"/>
              </a:ext>
            </a:extLst>
          </p:cNvPr>
          <p:cNvSpPr txBox="1"/>
          <p:nvPr/>
        </p:nvSpPr>
        <p:spPr>
          <a:xfrm>
            <a:off x="1687828" y="2690336"/>
            <a:ext cx="10504171" cy="1477328"/>
          </a:xfrm>
          <a:prstGeom prst="rect">
            <a:avLst/>
          </a:prstGeom>
          <a:noFill/>
        </p:spPr>
        <p:txBody>
          <a:bodyPr wrap="square">
            <a:spAutoFit/>
          </a:bodyPr>
          <a:lstStyle/>
          <a:p>
            <a:r>
              <a:rPr lang="vi-VN" b="0" dirty="0">
                <a:solidFill>
                  <a:srgbClr val="008000"/>
                </a:solidFill>
                <a:effectLst/>
                <a:latin typeface="Google Sans Code" panose="020B0509030502040204" pitchFamily="49" charset="0"/>
              </a:rPr>
              <a:t># Thông tin người gửi và người nhận</a:t>
            </a:r>
            <a:endParaRPr lang="vi-VN" b="0" dirty="0">
              <a:solidFill>
                <a:srgbClr val="000000"/>
              </a:solidFill>
              <a:effectLst/>
              <a:latin typeface="Google Sans Code" panose="020B0509030502040204" pitchFamily="49" charset="0"/>
            </a:endParaRPr>
          </a:p>
          <a:p>
            <a:r>
              <a:rPr lang="vi-VN" b="0" dirty="0" err="1">
                <a:solidFill>
                  <a:srgbClr val="000000"/>
                </a:solidFill>
                <a:effectLst/>
                <a:latin typeface="Google Sans Code" panose="020B0509030502040204" pitchFamily="49" charset="0"/>
              </a:rPr>
              <a:t>sender</a:t>
            </a:r>
            <a:r>
              <a:rPr lang="vi-VN" b="0" dirty="0">
                <a:solidFill>
                  <a:srgbClr val="000000"/>
                </a:solidFill>
                <a:effectLst/>
                <a:latin typeface="Google Sans Code" panose="020B0509030502040204" pitchFamily="49" charset="0"/>
              </a:rPr>
              <a:t> = </a:t>
            </a:r>
            <a:r>
              <a:rPr lang="vi-VN" b="0" dirty="0" err="1">
                <a:solidFill>
                  <a:srgbClr val="000000"/>
                </a:solidFill>
                <a:effectLst/>
                <a:latin typeface="Google Sans Code" panose="020B0509030502040204" pitchFamily="49" charset="0"/>
              </a:rPr>
              <a:t>input</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a:t>
            </a:r>
            <a:r>
              <a:rPr lang="vi-VN" b="0" dirty="0" err="1">
                <a:solidFill>
                  <a:srgbClr val="A31515"/>
                </a:solidFill>
                <a:effectLst/>
                <a:latin typeface="Google Sans Code" panose="020B0509030502040204" pitchFamily="49" charset="0"/>
              </a:rPr>
              <a:t>Email</a:t>
            </a:r>
            <a:r>
              <a:rPr lang="vi-VN" b="0" dirty="0">
                <a:solidFill>
                  <a:srgbClr val="A31515"/>
                </a:solidFill>
                <a:effectLst/>
                <a:latin typeface="Google Sans Code" panose="020B0509030502040204" pitchFamily="49" charset="0"/>
              </a:rPr>
              <a:t> người gửi: "</a:t>
            </a:r>
            <a:r>
              <a:rPr lang="vi-VN" b="0" dirty="0">
                <a:solidFill>
                  <a:srgbClr val="000000"/>
                </a:solidFill>
                <a:effectLst/>
                <a:latin typeface="Google Sans Code" panose="020B0509030502040204" pitchFamily="49" charset="0"/>
              </a:rPr>
              <a:t>)</a:t>
            </a:r>
          </a:p>
          <a:p>
            <a:r>
              <a:rPr lang="vi-VN" b="0" dirty="0" err="1">
                <a:solidFill>
                  <a:srgbClr val="000000"/>
                </a:solidFill>
                <a:effectLst/>
                <a:latin typeface="Google Sans Code" panose="020B0509030502040204" pitchFamily="49" charset="0"/>
              </a:rPr>
              <a:t>password</a:t>
            </a:r>
            <a:r>
              <a:rPr lang="vi-VN" b="0" dirty="0">
                <a:solidFill>
                  <a:srgbClr val="000000"/>
                </a:solidFill>
                <a:effectLst/>
                <a:latin typeface="Google Sans Code" panose="020B0509030502040204" pitchFamily="49" charset="0"/>
              </a:rPr>
              <a:t> = </a:t>
            </a:r>
            <a:r>
              <a:rPr lang="vi-VN" b="0" dirty="0">
                <a:solidFill>
                  <a:srgbClr val="A31515"/>
                </a:solidFill>
                <a:effectLst/>
                <a:latin typeface="Google Sans Code" panose="020B0509030502040204" pitchFamily="49" charset="0"/>
              </a:rPr>
              <a:t>"</a:t>
            </a:r>
            <a:r>
              <a:rPr lang="vi-VN" b="0" dirty="0" err="1">
                <a:solidFill>
                  <a:srgbClr val="A31515"/>
                </a:solidFill>
                <a:effectLst/>
                <a:latin typeface="Google Sans Code" panose="020B0509030502040204" pitchFamily="49" charset="0"/>
              </a:rPr>
              <a:t>rpqa</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trna</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ffqa</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hyia</a:t>
            </a:r>
            <a:r>
              <a:rPr lang="vi-VN" b="0" dirty="0">
                <a:solidFill>
                  <a:srgbClr val="A31515"/>
                </a:solidFill>
                <a:effectLst/>
                <a:latin typeface="Google Sans Code" panose="020B0509030502040204" pitchFamily="49" charset="0"/>
              </a:rPr>
              <a:t>"</a:t>
            </a:r>
            <a:r>
              <a:rPr lang="vi-VN" b="0" dirty="0">
                <a:solidFill>
                  <a:srgbClr val="000000"/>
                </a:solidFill>
                <a:effectLst/>
                <a:latin typeface="Google Sans Code" panose="020B0509030502040204" pitchFamily="49" charset="0"/>
              </a:rPr>
              <a:t>  </a:t>
            </a:r>
            <a:r>
              <a:rPr lang="vi-VN" b="0" dirty="0">
                <a:solidFill>
                  <a:srgbClr val="008000"/>
                </a:solidFill>
                <a:effectLst/>
                <a:latin typeface="Google Sans Code" panose="020B0509030502040204" pitchFamily="49" charset="0"/>
              </a:rPr>
              <a:t># dùng </a:t>
            </a:r>
            <a:r>
              <a:rPr lang="vi-VN" b="0" dirty="0" err="1">
                <a:solidFill>
                  <a:srgbClr val="008000"/>
                </a:solidFill>
                <a:effectLst/>
                <a:latin typeface="Google Sans Code" panose="020B0509030502040204" pitchFamily="49" charset="0"/>
              </a:rPr>
              <a:t>App</a:t>
            </a:r>
            <a:r>
              <a:rPr lang="vi-VN" b="0" dirty="0">
                <a:solidFill>
                  <a:srgbClr val="008000"/>
                </a:solidFill>
                <a:effectLst/>
                <a:latin typeface="Google Sans Code" panose="020B0509030502040204" pitchFamily="49" charset="0"/>
              </a:rPr>
              <a:t> </a:t>
            </a:r>
            <a:r>
              <a:rPr lang="vi-VN" b="0" dirty="0" err="1">
                <a:solidFill>
                  <a:srgbClr val="008000"/>
                </a:solidFill>
                <a:effectLst/>
                <a:latin typeface="Google Sans Code" panose="020B0509030502040204" pitchFamily="49" charset="0"/>
              </a:rPr>
              <a:t>Password</a:t>
            </a:r>
            <a:r>
              <a:rPr lang="vi-VN" b="0" dirty="0">
                <a:solidFill>
                  <a:srgbClr val="008000"/>
                </a:solidFill>
                <a:effectLst/>
                <a:latin typeface="Google Sans Code" panose="020B0509030502040204" pitchFamily="49" charset="0"/>
              </a:rPr>
              <a:t>, KHÔNG dùng mật khẩu thật</a:t>
            </a:r>
            <a:endParaRPr lang="vi-VN" b="0" dirty="0">
              <a:solidFill>
                <a:srgbClr val="000000"/>
              </a:solidFill>
              <a:effectLst/>
              <a:latin typeface="Google Sans Code" panose="020B0509030502040204" pitchFamily="49" charset="0"/>
            </a:endParaRPr>
          </a:p>
          <a:p>
            <a:r>
              <a:rPr lang="vi-VN" b="0" dirty="0" err="1">
                <a:solidFill>
                  <a:srgbClr val="000000"/>
                </a:solidFill>
                <a:effectLst/>
                <a:latin typeface="Google Sans Code" panose="020B0509030502040204" pitchFamily="49" charset="0"/>
              </a:rPr>
              <a:t>receiver</a:t>
            </a:r>
            <a:r>
              <a:rPr lang="vi-VN" b="0" dirty="0">
                <a:solidFill>
                  <a:srgbClr val="000000"/>
                </a:solidFill>
                <a:effectLst/>
                <a:latin typeface="Google Sans Code" panose="020B0509030502040204" pitchFamily="49" charset="0"/>
              </a:rPr>
              <a:t> = </a:t>
            </a:r>
            <a:r>
              <a:rPr lang="vi-VN" b="0" dirty="0" err="1">
                <a:solidFill>
                  <a:srgbClr val="000000"/>
                </a:solidFill>
                <a:effectLst/>
                <a:latin typeface="Google Sans Code" panose="020B0509030502040204" pitchFamily="49" charset="0"/>
              </a:rPr>
              <a:t>input</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a:t>
            </a:r>
            <a:r>
              <a:rPr lang="vi-VN" b="0" dirty="0" err="1">
                <a:solidFill>
                  <a:srgbClr val="A31515"/>
                </a:solidFill>
                <a:effectLst/>
                <a:latin typeface="Google Sans Code" panose="020B0509030502040204" pitchFamily="49" charset="0"/>
              </a:rPr>
              <a:t>Email</a:t>
            </a:r>
            <a:r>
              <a:rPr lang="vi-VN" b="0" dirty="0">
                <a:solidFill>
                  <a:srgbClr val="A31515"/>
                </a:solidFill>
                <a:effectLst/>
                <a:latin typeface="Google Sans Code" panose="020B0509030502040204" pitchFamily="49" charset="0"/>
              </a:rPr>
              <a:t> người nhận: "</a:t>
            </a:r>
            <a:r>
              <a:rPr lang="vi-VN" b="0" dirty="0">
                <a:solidFill>
                  <a:srgbClr val="000000"/>
                </a:solidFill>
                <a:effectLst/>
                <a:latin typeface="Google Sans Code" panose="020B0509030502040204" pitchFamily="49" charset="0"/>
              </a:rPr>
              <a:t>)</a:t>
            </a:r>
          </a:p>
        </p:txBody>
      </p:sp>
      <p:sp>
        <p:nvSpPr>
          <p:cNvPr id="27" name="TextBox 26">
            <a:extLst>
              <a:ext uri="{FF2B5EF4-FFF2-40B4-BE49-F238E27FC236}">
                <a16:creationId xmlns:a16="http://schemas.microsoft.com/office/drawing/2014/main" id="{E05476E4-F030-B1AC-BE31-B5173B1CD29A}"/>
              </a:ext>
            </a:extLst>
          </p:cNvPr>
          <p:cNvSpPr txBox="1"/>
          <p:nvPr/>
        </p:nvSpPr>
        <p:spPr>
          <a:xfrm>
            <a:off x="1697354" y="4303739"/>
            <a:ext cx="6134100" cy="1200329"/>
          </a:xfrm>
          <a:prstGeom prst="rect">
            <a:avLst/>
          </a:prstGeom>
          <a:noFill/>
        </p:spPr>
        <p:txBody>
          <a:bodyPr wrap="square">
            <a:spAutoFit/>
          </a:bodyPr>
          <a:lstStyle/>
          <a:p>
            <a:r>
              <a:rPr lang="vi-VN" b="0" dirty="0" err="1">
                <a:solidFill>
                  <a:srgbClr val="000000"/>
                </a:solidFill>
                <a:effectLst/>
                <a:latin typeface="Google Sans Code" panose="020B0509030502040204" pitchFamily="49" charset="0"/>
              </a:rPr>
              <a:t>msg</a:t>
            </a:r>
            <a:r>
              <a:rPr lang="vi-VN" b="0" dirty="0">
                <a:solidFill>
                  <a:srgbClr val="000000"/>
                </a:solidFill>
                <a:effectLst/>
                <a:latin typeface="Google Sans Code" panose="020B0509030502040204" pitchFamily="49" charset="0"/>
              </a:rPr>
              <a:t> = </a:t>
            </a:r>
            <a:r>
              <a:rPr lang="vi-VN" b="0" dirty="0" err="1">
                <a:solidFill>
                  <a:srgbClr val="000000"/>
                </a:solidFill>
                <a:effectLst/>
                <a:latin typeface="Google Sans Code" panose="020B0509030502040204" pitchFamily="49" charset="0"/>
              </a:rPr>
              <a:t>MIMEMultipart</a:t>
            </a:r>
            <a:r>
              <a:rPr lang="vi-VN" b="0" dirty="0">
                <a:solidFill>
                  <a:srgbClr val="000000"/>
                </a:solidFill>
                <a:effectLst/>
                <a:latin typeface="Google Sans Code" panose="020B0509030502040204" pitchFamily="49" charset="0"/>
              </a:rPr>
              <a:t>()</a:t>
            </a:r>
          </a:p>
          <a:p>
            <a:r>
              <a:rPr lang="vi-VN" b="0" dirty="0" err="1">
                <a:solidFill>
                  <a:srgbClr val="000000"/>
                </a:solidFill>
                <a:effectLst/>
                <a:latin typeface="Google Sans Code" panose="020B0509030502040204" pitchFamily="49" charset="0"/>
              </a:rPr>
              <a:t>msg</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a:t>
            </a:r>
            <a:r>
              <a:rPr lang="vi-VN" b="0" dirty="0" err="1">
                <a:solidFill>
                  <a:srgbClr val="A31515"/>
                </a:solidFill>
                <a:effectLst/>
                <a:latin typeface="Google Sans Code" panose="020B0509030502040204" pitchFamily="49" charset="0"/>
              </a:rPr>
              <a:t>From</a:t>
            </a:r>
            <a:r>
              <a:rPr lang="vi-VN" b="0" dirty="0">
                <a:solidFill>
                  <a:srgbClr val="A31515"/>
                </a:solidFill>
                <a:effectLst/>
                <a:latin typeface="Google Sans Code" panose="020B0509030502040204" pitchFamily="49" charset="0"/>
              </a:rPr>
              <a:t>"</a:t>
            </a:r>
            <a:r>
              <a:rPr lang="vi-VN" b="0" dirty="0">
                <a:solidFill>
                  <a:srgbClr val="000000"/>
                </a:solidFill>
                <a:effectLst/>
                <a:latin typeface="Google Sans Code" panose="020B0509030502040204" pitchFamily="49" charset="0"/>
              </a:rPr>
              <a:t>] = </a:t>
            </a:r>
            <a:r>
              <a:rPr lang="vi-VN" b="0" dirty="0" err="1">
                <a:solidFill>
                  <a:srgbClr val="000000"/>
                </a:solidFill>
                <a:effectLst/>
                <a:latin typeface="Google Sans Code" panose="020B0509030502040204" pitchFamily="49" charset="0"/>
              </a:rPr>
              <a:t>sender</a:t>
            </a:r>
            <a:endParaRPr lang="vi-VN" b="0" dirty="0">
              <a:solidFill>
                <a:srgbClr val="000000"/>
              </a:solidFill>
              <a:effectLst/>
              <a:latin typeface="Google Sans Code" panose="020B0509030502040204" pitchFamily="49" charset="0"/>
            </a:endParaRPr>
          </a:p>
          <a:p>
            <a:r>
              <a:rPr lang="vi-VN" b="0" dirty="0" err="1">
                <a:solidFill>
                  <a:srgbClr val="000000"/>
                </a:solidFill>
                <a:effectLst/>
                <a:latin typeface="Google Sans Code" panose="020B0509030502040204" pitchFamily="49" charset="0"/>
              </a:rPr>
              <a:t>msg</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"To"</a:t>
            </a:r>
            <a:r>
              <a:rPr lang="vi-VN" b="0" dirty="0">
                <a:solidFill>
                  <a:srgbClr val="000000"/>
                </a:solidFill>
                <a:effectLst/>
                <a:latin typeface="Google Sans Code" panose="020B0509030502040204" pitchFamily="49" charset="0"/>
              </a:rPr>
              <a:t>] = </a:t>
            </a:r>
            <a:r>
              <a:rPr lang="vi-VN" b="0" dirty="0" err="1">
                <a:solidFill>
                  <a:srgbClr val="000000"/>
                </a:solidFill>
                <a:effectLst/>
                <a:latin typeface="Google Sans Code" panose="020B0509030502040204" pitchFamily="49" charset="0"/>
              </a:rPr>
              <a:t>receiver</a:t>
            </a:r>
            <a:endParaRPr lang="vi-VN" b="0" dirty="0">
              <a:solidFill>
                <a:srgbClr val="000000"/>
              </a:solidFill>
              <a:effectLst/>
              <a:latin typeface="Google Sans Code" panose="020B0509030502040204" pitchFamily="49" charset="0"/>
            </a:endParaRPr>
          </a:p>
          <a:p>
            <a:r>
              <a:rPr lang="vi-VN" b="0" dirty="0" err="1">
                <a:solidFill>
                  <a:srgbClr val="000000"/>
                </a:solidFill>
                <a:effectLst/>
                <a:latin typeface="Google Sans Code" panose="020B0509030502040204" pitchFamily="49" charset="0"/>
              </a:rPr>
              <a:t>msg</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a:t>
            </a:r>
            <a:r>
              <a:rPr lang="vi-VN" b="0" dirty="0" err="1">
                <a:solidFill>
                  <a:srgbClr val="A31515"/>
                </a:solidFill>
                <a:effectLst/>
                <a:latin typeface="Google Sans Code" panose="020B0509030502040204" pitchFamily="49" charset="0"/>
              </a:rPr>
              <a:t>Subject</a:t>
            </a:r>
            <a:r>
              <a:rPr lang="vi-VN" b="0" dirty="0">
                <a:solidFill>
                  <a:srgbClr val="A31515"/>
                </a:solidFill>
                <a:effectLst/>
                <a:latin typeface="Google Sans Code" panose="020B0509030502040204" pitchFamily="49" charset="0"/>
              </a:rPr>
              <a:t>"</a:t>
            </a:r>
            <a:r>
              <a:rPr lang="vi-VN" b="0" dirty="0">
                <a:solidFill>
                  <a:srgbClr val="000000"/>
                </a:solidFill>
                <a:effectLst/>
                <a:latin typeface="Google Sans Code" panose="020B0509030502040204" pitchFamily="49" charset="0"/>
              </a:rPr>
              <a:t>] = </a:t>
            </a:r>
            <a:r>
              <a:rPr lang="vi-VN" b="0" dirty="0" err="1">
                <a:solidFill>
                  <a:srgbClr val="000000"/>
                </a:solidFill>
                <a:effectLst/>
                <a:latin typeface="Google Sans Code" panose="020B0509030502040204" pitchFamily="49" charset="0"/>
              </a:rPr>
              <a:t>input</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"Tiêu đề </a:t>
            </a:r>
            <a:r>
              <a:rPr lang="vi-VN" b="0" dirty="0" err="1">
                <a:solidFill>
                  <a:srgbClr val="A31515"/>
                </a:solidFill>
                <a:effectLst/>
                <a:latin typeface="Google Sans Code" panose="020B0509030502040204" pitchFamily="49" charset="0"/>
              </a:rPr>
              <a:t>email</a:t>
            </a:r>
            <a:r>
              <a:rPr lang="vi-VN" b="0" dirty="0">
                <a:solidFill>
                  <a:srgbClr val="A31515"/>
                </a:solidFill>
                <a:effectLst/>
                <a:latin typeface="Google Sans Code" panose="020B0509030502040204" pitchFamily="49" charset="0"/>
              </a:rPr>
              <a:t>: "</a:t>
            </a:r>
            <a:r>
              <a:rPr lang="vi-VN" b="0" dirty="0">
                <a:solidFill>
                  <a:srgbClr val="000000"/>
                </a:solidFill>
                <a:effectLst/>
                <a:latin typeface="Google Sans Code" panose="020B0509030502040204" pitchFamily="49" charset="0"/>
              </a:rPr>
              <a:t>)</a:t>
            </a:r>
          </a:p>
        </p:txBody>
      </p:sp>
      <p:sp>
        <p:nvSpPr>
          <p:cNvPr id="29" name="TextBox 28">
            <a:extLst>
              <a:ext uri="{FF2B5EF4-FFF2-40B4-BE49-F238E27FC236}">
                <a16:creationId xmlns:a16="http://schemas.microsoft.com/office/drawing/2014/main" id="{D2BA0628-1C98-9DB0-9FE5-8DBD7DDD57D7}"/>
              </a:ext>
            </a:extLst>
          </p:cNvPr>
          <p:cNvSpPr txBox="1"/>
          <p:nvPr/>
        </p:nvSpPr>
        <p:spPr>
          <a:xfrm>
            <a:off x="1635760" y="5715000"/>
            <a:ext cx="10251440" cy="923330"/>
          </a:xfrm>
          <a:prstGeom prst="rect">
            <a:avLst/>
          </a:prstGeom>
          <a:noFill/>
        </p:spPr>
        <p:txBody>
          <a:bodyPr wrap="square">
            <a:spAutoFit/>
          </a:bodyPr>
          <a:lstStyle/>
          <a:p>
            <a:r>
              <a:rPr lang="en-US" b="0" dirty="0">
                <a:solidFill>
                  <a:srgbClr val="000000"/>
                </a:solidFill>
                <a:effectLst/>
                <a:latin typeface="Google Sans Code" panose="020B0509030502040204" pitchFamily="49" charset="0"/>
              </a:rPr>
              <a:t>body = input(</a:t>
            </a:r>
            <a:r>
              <a:rPr lang="en-US" b="0" dirty="0">
                <a:solidFill>
                  <a:srgbClr val="A31515"/>
                </a:solidFill>
                <a:effectLst/>
                <a:latin typeface="Google Sans Code" panose="020B0509030502040204" pitchFamily="49" charset="0"/>
              </a:rPr>
              <a:t>"</a:t>
            </a:r>
            <a:r>
              <a:rPr lang="en-US" b="0" dirty="0" err="1">
                <a:solidFill>
                  <a:srgbClr val="A31515"/>
                </a:solidFill>
                <a:effectLst/>
                <a:latin typeface="Google Sans Code" panose="020B0509030502040204" pitchFamily="49" charset="0"/>
              </a:rPr>
              <a:t>Nội</a:t>
            </a:r>
            <a:r>
              <a:rPr lang="en-US" b="0" dirty="0">
                <a:solidFill>
                  <a:srgbClr val="A31515"/>
                </a:solidFill>
                <a:effectLst/>
                <a:latin typeface="Google Sans Code" panose="020B0509030502040204" pitchFamily="49" charset="0"/>
              </a:rPr>
              <a:t> dung email: "</a:t>
            </a:r>
            <a:r>
              <a:rPr lang="en-US" b="0" dirty="0">
                <a:solidFill>
                  <a:srgbClr val="000000"/>
                </a:solidFill>
                <a:effectLst/>
                <a:latin typeface="Google Sans Code" panose="020B0509030502040204" pitchFamily="49" charset="0"/>
              </a:rPr>
              <a:t>)</a:t>
            </a:r>
          </a:p>
          <a:p>
            <a:r>
              <a:rPr lang="en-US" b="0" dirty="0" err="1">
                <a:solidFill>
                  <a:srgbClr val="000000"/>
                </a:solidFill>
                <a:effectLst/>
                <a:latin typeface="Google Sans Code" panose="020B0509030502040204" pitchFamily="49" charset="0"/>
              </a:rPr>
              <a:t>msg.attach</a:t>
            </a:r>
            <a:r>
              <a:rPr lang="en-US" b="0" dirty="0">
                <a:solidFill>
                  <a:srgbClr val="000000"/>
                </a:solidFill>
                <a:effectLst/>
                <a:latin typeface="Google Sans Code" panose="020B0509030502040204" pitchFamily="49" charset="0"/>
              </a:rPr>
              <a:t>(</a:t>
            </a:r>
            <a:r>
              <a:rPr lang="en-US" b="0" dirty="0" err="1">
                <a:solidFill>
                  <a:srgbClr val="000000"/>
                </a:solidFill>
                <a:effectLst/>
                <a:latin typeface="Google Sans Code" panose="020B0509030502040204" pitchFamily="49" charset="0"/>
              </a:rPr>
              <a:t>MIMEText</a:t>
            </a:r>
            <a:r>
              <a:rPr lang="en-US" b="0" dirty="0">
                <a:solidFill>
                  <a:srgbClr val="000000"/>
                </a:solidFill>
                <a:effectLst/>
                <a:latin typeface="Google Sans Code" panose="020B0509030502040204" pitchFamily="49" charset="0"/>
              </a:rPr>
              <a:t>(body, </a:t>
            </a:r>
            <a:r>
              <a:rPr lang="en-US" b="0" dirty="0">
                <a:solidFill>
                  <a:srgbClr val="A31515"/>
                </a:solidFill>
                <a:effectLst/>
                <a:latin typeface="Google Sans Code" panose="020B0509030502040204" pitchFamily="49" charset="0"/>
              </a:rPr>
              <a:t>"plain"</a:t>
            </a:r>
            <a:r>
              <a:rPr lang="en-US" b="0" dirty="0">
                <a:solidFill>
                  <a:srgbClr val="000000"/>
                </a:solidFill>
                <a:effectLst/>
                <a:latin typeface="Google Sans Code" panose="020B0509030502040204" pitchFamily="49" charset="0"/>
              </a:rPr>
              <a:t>)) #</a:t>
            </a:r>
            <a:r>
              <a:rPr lang="vi-VN" b="0" dirty="0">
                <a:solidFill>
                  <a:srgbClr val="00B050"/>
                </a:solidFill>
                <a:effectLst/>
                <a:latin typeface="Google Sans Code" panose="020B0509030502040204" pitchFamily="49" charset="0"/>
              </a:rPr>
              <a:t>gắn phần nội dung văn bản vào trong </a:t>
            </a:r>
            <a:r>
              <a:rPr lang="vi-VN" b="0" dirty="0" err="1">
                <a:solidFill>
                  <a:srgbClr val="00B050"/>
                </a:solidFill>
                <a:effectLst/>
                <a:latin typeface="Google Sans Code" panose="020B0509030502040204" pitchFamily="49" charset="0"/>
              </a:rPr>
              <a:t>email</a:t>
            </a:r>
            <a:r>
              <a:rPr lang="vi-VN" b="0" dirty="0">
                <a:solidFill>
                  <a:srgbClr val="00B050"/>
                </a:solidFill>
                <a:effectLst/>
                <a:latin typeface="Google Sans Code" panose="020B0509030502040204" pitchFamily="49" charset="0"/>
              </a:rPr>
              <a:t> với định dạng văn bản thuần túy</a:t>
            </a:r>
            <a:endParaRPr lang="en-US" b="0" dirty="0">
              <a:solidFill>
                <a:srgbClr val="00B050"/>
              </a:solidFill>
              <a:effectLst/>
              <a:latin typeface="Google Sans Code" panose="020B0509030502040204" pitchFamily="49" charset="0"/>
            </a:endParaRPr>
          </a:p>
        </p:txBody>
      </p:sp>
      <p:sp>
        <p:nvSpPr>
          <p:cNvPr id="32" name="TextBox 31">
            <a:extLst>
              <a:ext uri="{FF2B5EF4-FFF2-40B4-BE49-F238E27FC236}">
                <a16:creationId xmlns:a16="http://schemas.microsoft.com/office/drawing/2014/main" id="{19F0154B-6D39-E33C-AF0B-70639F44BD1D}"/>
              </a:ext>
            </a:extLst>
          </p:cNvPr>
          <p:cNvSpPr txBox="1"/>
          <p:nvPr/>
        </p:nvSpPr>
        <p:spPr>
          <a:xfrm>
            <a:off x="2879979" y="382560"/>
            <a:ext cx="8691080" cy="1200329"/>
          </a:xfrm>
          <a:prstGeom prst="rect">
            <a:avLst/>
          </a:prstGeom>
          <a:noFill/>
        </p:spPr>
        <p:txBody>
          <a:bodyPr wrap="square">
            <a:spAutoFit/>
          </a:bodyPr>
          <a:lstStyle/>
          <a:p>
            <a:r>
              <a:rPr lang="vi-VN" sz="1200" dirty="0" err="1"/>
              <a:t>Emai.mime</a:t>
            </a:r>
            <a:r>
              <a:rPr lang="vi-VN" sz="1200" dirty="0"/>
              <a:t> là một  thư viện sẵn để soạn, đọc và phân tích nội dung </a:t>
            </a:r>
            <a:r>
              <a:rPr lang="vi-VN" sz="1200" dirty="0" err="1"/>
              <a:t>email</a:t>
            </a:r>
            <a:r>
              <a:rPr lang="vi-VN" sz="1200" dirty="0"/>
              <a:t>.</a:t>
            </a:r>
          </a:p>
          <a:p>
            <a:r>
              <a:rPr lang="vi-VN" sz="1200" dirty="0"/>
              <a:t>Hỗ trợ các định dạng MIME (</a:t>
            </a:r>
            <a:r>
              <a:rPr lang="vi-VN" sz="1200" dirty="0" err="1"/>
              <a:t>Multipurpose</a:t>
            </a:r>
            <a:r>
              <a:rPr lang="vi-VN" sz="1200" dirty="0"/>
              <a:t> </a:t>
            </a:r>
            <a:r>
              <a:rPr lang="vi-VN" sz="1200" dirty="0" err="1"/>
              <a:t>Internet</a:t>
            </a:r>
            <a:r>
              <a:rPr lang="vi-VN" sz="1200" dirty="0"/>
              <a:t> </a:t>
            </a:r>
            <a:r>
              <a:rPr lang="vi-VN" sz="1200" dirty="0" err="1"/>
              <a:t>Mail</a:t>
            </a:r>
            <a:r>
              <a:rPr lang="vi-VN" sz="1200" dirty="0"/>
              <a:t> </a:t>
            </a:r>
            <a:r>
              <a:rPr lang="vi-VN" sz="1200" dirty="0" err="1"/>
              <a:t>Extensions</a:t>
            </a:r>
            <a:r>
              <a:rPr lang="vi-VN" sz="1200" dirty="0"/>
              <a:t>) — là chuẩn để gửi </a:t>
            </a:r>
            <a:r>
              <a:rPr lang="vi-VN" sz="1200" dirty="0" err="1"/>
              <a:t>email</a:t>
            </a:r>
            <a:r>
              <a:rPr lang="vi-VN" sz="1200" dirty="0"/>
              <a:t> chứa nhiều loại dữ liệu như</a:t>
            </a:r>
          </a:p>
          <a:p>
            <a:r>
              <a:rPr lang="vi-VN" sz="1200" i="1" dirty="0"/>
              <a:t>Văn bản (</a:t>
            </a:r>
            <a:r>
              <a:rPr lang="vi-VN" sz="1200" i="1" dirty="0" err="1"/>
              <a:t>text</a:t>
            </a:r>
            <a:r>
              <a:rPr lang="vi-VN" sz="1200" i="1" dirty="0"/>
              <a:t>/</a:t>
            </a:r>
            <a:r>
              <a:rPr lang="vi-VN" sz="1200" i="1" dirty="0" err="1"/>
              <a:t>plain</a:t>
            </a:r>
            <a:r>
              <a:rPr lang="vi-VN" sz="1200" i="1" dirty="0"/>
              <a:t>, </a:t>
            </a:r>
            <a:r>
              <a:rPr lang="vi-VN" sz="1200" i="1" dirty="0" err="1"/>
              <a:t>text</a:t>
            </a:r>
            <a:r>
              <a:rPr lang="vi-VN" sz="1200" i="1" dirty="0"/>
              <a:t>/</a:t>
            </a:r>
            <a:r>
              <a:rPr lang="vi-VN" sz="1200" i="1" dirty="0" err="1"/>
              <a:t>html</a:t>
            </a:r>
            <a:r>
              <a:rPr lang="vi-VN" sz="1200" i="1" dirty="0"/>
              <a:t>)</a:t>
            </a:r>
          </a:p>
          <a:p>
            <a:r>
              <a:rPr lang="vi-VN" sz="1200" i="1" dirty="0"/>
              <a:t>Hình ảnh, âm thanh</a:t>
            </a:r>
          </a:p>
          <a:p>
            <a:r>
              <a:rPr lang="vi-VN" sz="1200" i="1" dirty="0" err="1"/>
              <a:t>File</a:t>
            </a:r>
            <a:r>
              <a:rPr lang="vi-VN" sz="1200" i="1" dirty="0"/>
              <a:t> đính kèm (PDF, DOCX, ZIP…)</a:t>
            </a:r>
          </a:p>
          <a:p>
            <a:r>
              <a:rPr lang="vi-VN" sz="1200" dirty="0" err="1"/>
              <a:t>mime</a:t>
            </a:r>
            <a:r>
              <a:rPr lang="vi-VN" sz="1200" dirty="0"/>
              <a:t> là viết tắt của </a:t>
            </a:r>
            <a:r>
              <a:rPr lang="vi-VN" sz="1200" b="1" dirty="0" err="1"/>
              <a:t>Multipurpose</a:t>
            </a:r>
            <a:r>
              <a:rPr lang="vi-VN" sz="1200" b="1" dirty="0"/>
              <a:t> </a:t>
            </a:r>
            <a:r>
              <a:rPr lang="vi-VN" sz="1200" b="1" dirty="0" err="1"/>
              <a:t>Internet</a:t>
            </a:r>
            <a:r>
              <a:rPr lang="vi-VN" sz="1200" b="1" dirty="0"/>
              <a:t> </a:t>
            </a:r>
            <a:r>
              <a:rPr lang="vi-VN" sz="1200" b="1" dirty="0" err="1"/>
              <a:t>Mail</a:t>
            </a:r>
            <a:r>
              <a:rPr lang="vi-VN" sz="1200" b="1" dirty="0"/>
              <a:t> </a:t>
            </a:r>
            <a:r>
              <a:rPr lang="vi-VN" sz="1200" b="1" dirty="0" err="1"/>
              <a:t>Extensions</a:t>
            </a:r>
            <a:r>
              <a:rPr lang="vi-VN" sz="1200" dirty="0"/>
              <a:t>, nghĩa là phần mở rộng cho phép </a:t>
            </a:r>
            <a:r>
              <a:rPr lang="vi-VN" sz="1200" dirty="0" err="1"/>
              <a:t>email</a:t>
            </a:r>
            <a:r>
              <a:rPr lang="vi-VN" sz="1200" dirty="0"/>
              <a:t> chứa nhiều loại nội dung</a:t>
            </a:r>
          </a:p>
        </p:txBody>
      </p:sp>
    </p:spTree>
    <p:extLst>
      <p:ext uri="{BB962C8B-B14F-4D97-AF65-F5344CB8AC3E}">
        <p14:creationId xmlns:p14="http://schemas.microsoft.com/office/powerpoint/2010/main" val="24532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7" grpId="0"/>
      <p:bldP spid="29" grpId="0"/>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905"/>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1697355" y="695705"/>
            <a:ext cx="3005455" cy="574040"/>
          </a:xfrm>
          <a:prstGeom prst="rect">
            <a:avLst/>
          </a:prstGeom>
        </p:spPr>
        <p:txBody>
          <a:bodyPr vert="horz" wrap="square" lIns="0" tIns="12700" rIns="0" bIns="0" rtlCol="0">
            <a:spAutoFit/>
          </a:bodyPr>
          <a:lstStyle/>
          <a:p>
            <a:pPr marL="12700">
              <a:lnSpc>
                <a:spcPct val="100000"/>
              </a:lnSpc>
              <a:spcBef>
                <a:spcPts val="100"/>
              </a:spcBef>
              <a:tabLst>
                <a:tab pos="2021839" algn="l"/>
              </a:tabLst>
            </a:pPr>
            <a:r>
              <a:rPr lang="vi-VN" spc="-10" dirty="0"/>
              <a:t>Ví dụ 1</a:t>
            </a:r>
            <a:endParaRPr spc="-25" dirty="0"/>
          </a:p>
        </p:txBody>
      </p:sp>
      <p:sp>
        <p:nvSpPr>
          <p:cNvPr id="11" name="TextBox 10">
            <a:extLst>
              <a:ext uri="{FF2B5EF4-FFF2-40B4-BE49-F238E27FC236}">
                <a16:creationId xmlns:a16="http://schemas.microsoft.com/office/drawing/2014/main" id="{D2FAB1C2-8BB4-163A-0711-2B5FE9D9B20E}"/>
              </a:ext>
            </a:extLst>
          </p:cNvPr>
          <p:cNvSpPr txBox="1"/>
          <p:nvPr/>
        </p:nvSpPr>
        <p:spPr>
          <a:xfrm>
            <a:off x="1219200" y="1828800"/>
            <a:ext cx="8001000" cy="2585323"/>
          </a:xfrm>
          <a:prstGeom prst="rect">
            <a:avLst/>
          </a:prstGeom>
          <a:noFill/>
        </p:spPr>
        <p:txBody>
          <a:bodyPr wrap="square">
            <a:spAutoFit/>
          </a:bodyPr>
          <a:lstStyle/>
          <a:p>
            <a:r>
              <a:rPr lang="vi-VN" b="0" dirty="0">
                <a:solidFill>
                  <a:srgbClr val="008000"/>
                </a:solidFill>
                <a:effectLst/>
                <a:latin typeface="Google Sans Code" panose="020B0509030502040204" pitchFamily="49" charset="0"/>
              </a:rPr>
              <a:t># Gửi </a:t>
            </a:r>
            <a:r>
              <a:rPr lang="vi-VN" b="0" dirty="0" err="1">
                <a:solidFill>
                  <a:srgbClr val="008000"/>
                </a:solidFill>
                <a:effectLst/>
                <a:latin typeface="Google Sans Code" panose="020B0509030502040204" pitchFamily="49" charset="0"/>
              </a:rPr>
              <a:t>mail</a:t>
            </a:r>
            <a:endParaRPr lang="vi-VN" b="0" dirty="0">
              <a:solidFill>
                <a:srgbClr val="000000"/>
              </a:solidFill>
              <a:effectLst/>
              <a:latin typeface="Google Sans Code" panose="020B0509030502040204" pitchFamily="49" charset="0"/>
            </a:endParaRPr>
          </a:p>
          <a:p>
            <a:r>
              <a:rPr lang="vi-VN" b="0" dirty="0" err="1">
                <a:solidFill>
                  <a:srgbClr val="0000FF"/>
                </a:solidFill>
                <a:effectLst/>
                <a:latin typeface="Google Sans Code" panose="020B0509030502040204" pitchFamily="49" charset="0"/>
              </a:rPr>
              <a:t>try</a:t>
            </a:r>
            <a:r>
              <a:rPr lang="vi-VN" b="0" dirty="0">
                <a:solidFill>
                  <a:srgbClr val="000000"/>
                </a:solidFill>
                <a:effectLst/>
                <a:latin typeface="Google Sans Code" panose="020B0509030502040204" pitchFamily="49" charset="0"/>
              </a:rPr>
              <a:t>:</a:t>
            </a:r>
          </a:p>
          <a:p>
            <a:r>
              <a:rPr lang="vi-VN" b="0" dirty="0">
                <a:solidFill>
                  <a:srgbClr val="000000"/>
                </a:solidFill>
                <a:effectLst/>
                <a:latin typeface="Google Sans Code" panose="020B0509030502040204" pitchFamily="49" charset="0"/>
              </a:rPr>
              <a:t>    </a:t>
            </a:r>
            <a:r>
              <a:rPr lang="vi-VN" b="0" dirty="0" err="1">
                <a:solidFill>
                  <a:srgbClr val="0000FF"/>
                </a:solidFill>
                <a:effectLst/>
                <a:latin typeface="Google Sans Code" panose="020B0509030502040204" pitchFamily="49" charset="0"/>
              </a:rPr>
              <a:t>with</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smtplib.SMTP</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"smtp.gmail.com"</a:t>
            </a:r>
            <a:r>
              <a:rPr lang="vi-VN" b="0" dirty="0">
                <a:solidFill>
                  <a:srgbClr val="000000"/>
                </a:solidFill>
                <a:effectLst/>
                <a:latin typeface="Google Sans Code" panose="020B0509030502040204" pitchFamily="49" charset="0"/>
              </a:rPr>
              <a:t>, </a:t>
            </a:r>
            <a:r>
              <a:rPr lang="vi-VN" b="0" dirty="0">
                <a:solidFill>
                  <a:srgbClr val="098658"/>
                </a:solidFill>
                <a:effectLst/>
                <a:latin typeface="Google Sans Code" panose="020B0509030502040204" pitchFamily="49" charset="0"/>
              </a:rPr>
              <a:t>587</a:t>
            </a:r>
            <a:r>
              <a:rPr lang="vi-VN" b="0" dirty="0">
                <a:solidFill>
                  <a:srgbClr val="000000"/>
                </a:solidFill>
                <a:effectLst/>
                <a:latin typeface="Google Sans Code" panose="020B0509030502040204" pitchFamily="49" charset="0"/>
              </a:rPr>
              <a:t>) </a:t>
            </a:r>
            <a:r>
              <a:rPr lang="vi-VN" b="0" dirty="0" err="1">
                <a:solidFill>
                  <a:srgbClr val="0000FF"/>
                </a:solidFill>
                <a:effectLst/>
                <a:latin typeface="Google Sans Code" panose="020B0509030502040204" pitchFamily="49" charset="0"/>
              </a:rPr>
              <a:t>as</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server</a:t>
            </a:r>
            <a:r>
              <a:rPr lang="vi-VN" b="0" dirty="0">
                <a:solidFill>
                  <a:srgbClr val="000000"/>
                </a:solidFill>
                <a:effectLst/>
                <a:latin typeface="Google Sans Code" panose="020B0509030502040204" pitchFamily="49" charset="0"/>
              </a:rPr>
              <a:t>:</a:t>
            </a:r>
          </a:p>
          <a:p>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server.starttls</a:t>
            </a:r>
            <a:r>
              <a:rPr lang="vi-VN" b="0" dirty="0">
                <a:solidFill>
                  <a:srgbClr val="000000"/>
                </a:solidFill>
                <a:effectLst/>
                <a:latin typeface="Google Sans Code" panose="020B0509030502040204" pitchFamily="49" charset="0"/>
              </a:rPr>
              <a:t>() </a:t>
            </a:r>
            <a:r>
              <a:rPr lang="vi-VN" b="0" dirty="0">
                <a:solidFill>
                  <a:srgbClr val="00B050"/>
                </a:solidFill>
                <a:effectLst/>
                <a:latin typeface="Google Sans Code" panose="020B0509030502040204" pitchFamily="49" charset="0"/>
              </a:rPr>
              <a:t>#bật mã hóa bảo mật</a:t>
            </a:r>
          </a:p>
          <a:p>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server.login</a:t>
            </a:r>
            <a:r>
              <a:rPr lang="vi-VN" b="0" dirty="0">
                <a:solidFill>
                  <a:srgbClr val="000000"/>
                </a:solidFill>
                <a:effectLst/>
                <a:latin typeface="Google Sans Code" panose="020B0509030502040204" pitchFamily="49" charset="0"/>
              </a:rPr>
              <a:t>(</a:t>
            </a:r>
            <a:r>
              <a:rPr lang="vi-VN" b="0" dirty="0" err="1">
                <a:solidFill>
                  <a:srgbClr val="000000"/>
                </a:solidFill>
                <a:effectLst/>
                <a:latin typeface="Google Sans Code" panose="020B0509030502040204" pitchFamily="49" charset="0"/>
              </a:rPr>
              <a:t>sender</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password</a:t>
            </a:r>
            <a:r>
              <a:rPr lang="vi-VN" b="0" dirty="0">
                <a:solidFill>
                  <a:srgbClr val="000000"/>
                </a:solidFill>
                <a:effectLst/>
                <a:latin typeface="Google Sans Code" panose="020B0509030502040204" pitchFamily="49" charset="0"/>
              </a:rPr>
              <a:t>) </a:t>
            </a:r>
            <a:r>
              <a:rPr lang="vi-VN" b="0" dirty="0">
                <a:solidFill>
                  <a:srgbClr val="00B050"/>
                </a:solidFill>
                <a:effectLst/>
                <a:latin typeface="Google Sans Code" panose="020B0509030502040204" pitchFamily="49" charset="0"/>
              </a:rPr>
              <a:t># đăng nhập</a:t>
            </a:r>
          </a:p>
          <a:p>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server.send_message</a:t>
            </a:r>
            <a:r>
              <a:rPr lang="vi-VN" b="0" dirty="0">
                <a:solidFill>
                  <a:srgbClr val="000000"/>
                </a:solidFill>
                <a:effectLst/>
                <a:latin typeface="Google Sans Code" panose="020B0509030502040204" pitchFamily="49" charset="0"/>
              </a:rPr>
              <a:t>(</a:t>
            </a:r>
            <a:r>
              <a:rPr lang="vi-VN" b="0" dirty="0" err="1">
                <a:solidFill>
                  <a:srgbClr val="000000"/>
                </a:solidFill>
                <a:effectLst/>
                <a:latin typeface="Google Sans Code" panose="020B0509030502040204" pitchFamily="49" charset="0"/>
              </a:rPr>
              <a:t>msg</a:t>
            </a:r>
            <a:r>
              <a:rPr lang="vi-VN" b="0" dirty="0">
                <a:solidFill>
                  <a:srgbClr val="000000"/>
                </a:solidFill>
                <a:effectLst/>
                <a:latin typeface="Google Sans Code" panose="020B0509030502040204" pitchFamily="49" charset="0"/>
              </a:rPr>
              <a:t>) </a:t>
            </a:r>
            <a:r>
              <a:rPr lang="vi-VN" b="0" dirty="0">
                <a:solidFill>
                  <a:srgbClr val="00B050"/>
                </a:solidFill>
                <a:effectLst/>
                <a:latin typeface="Google Sans Code" panose="020B0509030502040204" pitchFamily="49" charset="0"/>
              </a:rPr>
              <a:t># gửi tin nhắn</a:t>
            </a:r>
          </a:p>
          <a:p>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print</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Email</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sent</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successfully</a:t>
            </a:r>
            <a:r>
              <a:rPr lang="vi-VN" b="0" dirty="0">
                <a:solidFill>
                  <a:srgbClr val="A31515"/>
                </a:solidFill>
                <a:effectLst/>
                <a:latin typeface="Google Sans Code" panose="020B0509030502040204" pitchFamily="49" charset="0"/>
              </a:rPr>
              <a:t>!"</a:t>
            </a:r>
            <a:r>
              <a:rPr lang="vi-VN" b="0" dirty="0">
                <a:solidFill>
                  <a:srgbClr val="000000"/>
                </a:solidFill>
                <a:effectLst/>
                <a:latin typeface="Google Sans Code" panose="020B0509030502040204" pitchFamily="49" charset="0"/>
              </a:rPr>
              <a:t>)</a:t>
            </a:r>
          </a:p>
          <a:p>
            <a:r>
              <a:rPr lang="vi-VN" b="0" dirty="0" err="1">
                <a:solidFill>
                  <a:srgbClr val="0000FF"/>
                </a:solidFill>
                <a:effectLst/>
                <a:latin typeface="Google Sans Code" panose="020B0509030502040204" pitchFamily="49" charset="0"/>
              </a:rPr>
              <a:t>except</a:t>
            </a:r>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Exception</a:t>
            </a:r>
            <a:r>
              <a:rPr lang="vi-VN" b="0" dirty="0">
                <a:solidFill>
                  <a:srgbClr val="000000"/>
                </a:solidFill>
                <a:effectLst/>
                <a:latin typeface="Google Sans Code" panose="020B0509030502040204" pitchFamily="49" charset="0"/>
              </a:rPr>
              <a:t> </a:t>
            </a:r>
            <a:r>
              <a:rPr lang="vi-VN" b="0" dirty="0" err="1">
                <a:solidFill>
                  <a:srgbClr val="0000FF"/>
                </a:solidFill>
                <a:effectLst/>
                <a:latin typeface="Google Sans Code" panose="020B0509030502040204" pitchFamily="49" charset="0"/>
              </a:rPr>
              <a:t>as</a:t>
            </a:r>
            <a:r>
              <a:rPr lang="vi-VN" b="0" dirty="0">
                <a:solidFill>
                  <a:srgbClr val="000000"/>
                </a:solidFill>
                <a:effectLst/>
                <a:latin typeface="Google Sans Code" panose="020B0509030502040204" pitchFamily="49" charset="0"/>
              </a:rPr>
              <a:t> e:</a:t>
            </a:r>
          </a:p>
          <a:p>
            <a:r>
              <a:rPr lang="vi-VN" b="0" dirty="0">
                <a:solidFill>
                  <a:srgbClr val="000000"/>
                </a:solidFill>
                <a:effectLst/>
                <a:latin typeface="Google Sans Code" panose="020B0509030502040204" pitchFamily="49" charset="0"/>
              </a:rPr>
              <a:t>    </a:t>
            </a:r>
            <a:r>
              <a:rPr lang="vi-VN" b="0" dirty="0" err="1">
                <a:solidFill>
                  <a:srgbClr val="000000"/>
                </a:solidFill>
                <a:effectLst/>
                <a:latin typeface="Google Sans Code" panose="020B0509030502040204" pitchFamily="49" charset="0"/>
              </a:rPr>
              <a:t>print</a:t>
            </a:r>
            <a:r>
              <a:rPr lang="vi-VN" b="0" dirty="0">
                <a:solidFill>
                  <a:srgbClr val="000000"/>
                </a:solidFill>
                <a:effectLst/>
                <a:latin typeface="Google Sans Code" panose="020B0509030502040204" pitchFamily="49" charset="0"/>
              </a:rPr>
              <a:t>(</a:t>
            </a:r>
            <a:r>
              <a:rPr lang="vi-VN" b="0" dirty="0">
                <a:solidFill>
                  <a:srgbClr val="A31515"/>
                </a:solidFill>
                <a:effectLst/>
                <a:latin typeface="Google Sans Code" panose="020B0509030502040204" pitchFamily="49" charset="0"/>
              </a:rPr>
              <a:t>"❌ </a:t>
            </a:r>
            <a:r>
              <a:rPr lang="vi-VN" b="0" dirty="0" err="1">
                <a:solidFill>
                  <a:srgbClr val="A31515"/>
                </a:solidFill>
                <a:effectLst/>
                <a:latin typeface="Google Sans Code" panose="020B0509030502040204" pitchFamily="49" charset="0"/>
              </a:rPr>
              <a:t>Error</a:t>
            </a:r>
            <a:r>
              <a:rPr lang="vi-VN" b="0" dirty="0">
                <a:solidFill>
                  <a:srgbClr val="A31515"/>
                </a:solidFill>
                <a:effectLst/>
                <a:latin typeface="Google Sans Code" panose="020B0509030502040204" pitchFamily="49" charset="0"/>
              </a:rPr>
              <a:t>:"</a:t>
            </a:r>
            <a:r>
              <a:rPr lang="vi-VN" b="0" dirty="0">
                <a:solidFill>
                  <a:srgbClr val="000000"/>
                </a:solidFill>
                <a:effectLst/>
                <a:latin typeface="Google Sans Code" panose="020B0509030502040204" pitchFamily="49" charset="0"/>
              </a:rPr>
              <a:t>, e)</a:t>
            </a:r>
          </a:p>
        </p:txBody>
      </p:sp>
      <p:sp>
        <p:nvSpPr>
          <p:cNvPr id="13" name="TextBox 12">
            <a:extLst>
              <a:ext uri="{FF2B5EF4-FFF2-40B4-BE49-F238E27FC236}">
                <a16:creationId xmlns:a16="http://schemas.microsoft.com/office/drawing/2014/main" id="{E853C418-B6E8-958B-4D70-ED1945B496E5}"/>
              </a:ext>
            </a:extLst>
          </p:cNvPr>
          <p:cNvSpPr txBox="1"/>
          <p:nvPr/>
        </p:nvSpPr>
        <p:spPr>
          <a:xfrm>
            <a:off x="1349502" y="4697002"/>
            <a:ext cx="9970770" cy="646331"/>
          </a:xfrm>
          <a:prstGeom prst="rect">
            <a:avLst/>
          </a:prstGeom>
          <a:noFill/>
        </p:spPr>
        <p:txBody>
          <a:bodyPr wrap="square">
            <a:spAutoFit/>
          </a:bodyPr>
          <a:lstStyle/>
          <a:p>
            <a:r>
              <a:rPr lang="vi-VN" b="1" dirty="0"/>
              <a:t>587</a:t>
            </a:r>
            <a:r>
              <a:rPr lang="vi-VN" dirty="0"/>
              <a:t> là </a:t>
            </a:r>
            <a:r>
              <a:rPr lang="vi-VN" b="1" dirty="0"/>
              <a:t>số cổng (</a:t>
            </a:r>
            <a:r>
              <a:rPr lang="vi-VN" b="1" dirty="0" err="1"/>
              <a:t>port</a:t>
            </a:r>
            <a:r>
              <a:rPr lang="vi-VN" b="1" dirty="0"/>
              <a:t> </a:t>
            </a:r>
            <a:r>
              <a:rPr lang="vi-VN" b="1" dirty="0" err="1"/>
              <a:t>number</a:t>
            </a:r>
            <a:r>
              <a:rPr lang="vi-VN" b="1" dirty="0"/>
              <a:t>)</a:t>
            </a:r>
            <a:r>
              <a:rPr lang="vi-VN" dirty="0"/>
              <a:t> mà máy chủ </a:t>
            </a:r>
            <a:r>
              <a:rPr lang="vi-VN" dirty="0" err="1"/>
              <a:t>Gmail</a:t>
            </a:r>
            <a:r>
              <a:rPr lang="vi-VN" dirty="0"/>
              <a:t> dùng để </a:t>
            </a:r>
            <a:r>
              <a:rPr lang="vi-VN" b="1" dirty="0"/>
              <a:t>gửi </a:t>
            </a:r>
            <a:r>
              <a:rPr lang="vi-VN" b="1" dirty="0" err="1"/>
              <a:t>email</a:t>
            </a:r>
            <a:r>
              <a:rPr lang="vi-VN" b="1" dirty="0"/>
              <a:t> thông qua giao thức SMTP với bảo mật TLS (STARTTLS)</a:t>
            </a:r>
            <a:r>
              <a:rPr lang="vi-VN" dirty="0"/>
              <a:t>.</a:t>
            </a:r>
          </a:p>
        </p:txBody>
      </p:sp>
      <p:graphicFrame>
        <p:nvGraphicFramePr>
          <p:cNvPr id="16" name="Table 15">
            <a:extLst>
              <a:ext uri="{FF2B5EF4-FFF2-40B4-BE49-F238E27FC236}">
                <a16:creationId xmlns:a16="http://schemas.microsoft.com/office/drawing/2014/main" id="{98F28662-F337-3371-D749-F4BCCD9C9B5E}"/>
              </a:ext>
            </a:extLst>
          </p:cNvPr>
          <p:cNvGraphicFramePr>
            <a:graphicFrameLocks noGrp="1"/>
          </p:cNvGraphicFramePr>
          <p:nvPr/>
        </p:nvGraphicFramePr>
        <p:xfrm>
          <a:off x="1951800" y="5543263"/>
          <a:ext cx="8766174" cy="365760"/>
        </p:xfrm>
        <a:graphic>
          <a:graphicData uri="http://schemas.openxmlformats.org/drawingml/2006/table">
            <a:tbl>
              <a:tblPr/>
              <a:tblGrid>
                <a:gridCol w="4383087">
                  <a:extLst>
                    <a:ext uri="{9D8B030D-6E8A-4147-A177-3AD203B41FA5}">
                      <a16:colId xmlns:a16="http://schemas.microsoft.com/office/drawing/2014/main" val="1855056589"/>
                    </a:ext>
                  </a:extLst>
                </a:gridCol>
                <a:gridCol w="4383087">
                  <a:extLst>
                    <a:ext uri="{9D8B030D-6E8A-4147-A177-3AD203B41FA5}">
                      <a16:colId xmlns:a16="http://schemas.microsoft.com/office/drawing/2014/main" val="3761361516"/>
                    </a:ext>
                  </a:extLst>
                </a:gridCol>
              </a:tblGrid>
              <a:tr h="365760">
                <a:tc>
                  <a:txBody>
                    <a:bodyPr/>
                    <a:lstStyle/>
                    <a:p>
                      <a:r>
                        <a:rPr lang="vi-VN" sz="1800"/>
                        <a:t>Tên máy chủ (server name)</a:t>
                      </a:r>
                    </a:p>
                  </a:txBody>
                  <a:tcPr anchor="ctr">
                    <a:lnL>
                      <a:noFill/>
                    </a:lnL>
                    <a:lnR>
                      <a:noFill/>
                    </a:lnR>
                    <a:lnT>
                      <a:noFill/>
                    </a:lnT>
                    <a:lnB>
                      <a:noFill/>
                    </a:lnB>
                    <a:noFill/>
                  </a:tcPr>
                </a:tc>
                <a:tc>
                  <a:txBody>
                    <a:bodyPr/>
                    <a:lstStyle/>
                    <a:p>
                      <a:r>
                        <a:rPr lang="vi-VN" sz="1800" dirty="0"/>
                        <a:t>smtp.gmail.com</a:t>
                      </a:r>
                    </a:p>
                  </a:txBody>
                  <a:tcPr anchor="ctr">
                    <a:lnL>
                      <a:noFill/>
                    </a:lnL>
                    <a:lnR>
                      <a:noFill/>
                    </a:lnR>
                    <a:lnT>
                      <a:noFill/>
                    </a:lnT>
                    <a:lnB>
                      <a:noFill/>
                    </a:lnB>
                    <a:noFill/>
                  </a:tcPr>
                </a:tc>
                <a:extLst>
                  <a:ext uri="{0D108BD9-81ED-4DB2-BD59-A6C34878D82A}">
                    <a16:rowId xmlns:a16="http://schemas.microsoft.com/office/drawing/2014/main" val="992773679"/>
                  </a:ext>
                </a:extLst>
              </a:tr>
            </a:tbl>
          </a:graphicData>
        </a:graphic>
      </p:graphicFrame>
      <p:graphicFrame>
        <p:nvGraphicFramePr>
          <p:cNvPr id="17" name="Table 16">
            <a:extLst>
              <a:ext uri="{FF2B5EF4-FFF2-40B4-BE49-F238E27FC236}">
                <a16:creationId xmlns:a16="http://schemas.microsoft.com/office/drawing/2014/main" id="{D785E5B1-5052-9C01-5F97-10F2920AC86B}"/>
              </a:ext>
            </a:extLst>
          </p:cNvPr>
          <p:cNvGraphicFramePr>
            <a:graphicFrameLocks noGrp="1"/>
          </p:cNvGraphicFramePr>
          <p:nvPr/>
        </p:nvGraphicFramePr>
        <p:xfrm>
          <a:off x="1951800" y="5979415"/>
          <a:ext cx="8766174" cy="365760"/>
        </p:xfrm>
        <a:graphic>
          <a:graphicData uri="http://schemas.openxmlformats.org/drawingml/2006/table">
            <a:tbl>
              <a:tblPr/>
              <a:tblGrid>
                <a:gridCol w="4383087">
                  <a:extLst>
                    <a:ext uri="{9D8B030D-6E8A-4147-A177-3AD203B41FA5}">
                      <a16:colId xmlns:a16="http://schemas.microsoft.com/office/drawing/2014/main" val="1483859113"/>
                    </a:ext>
                  </a:extLst>
                </a:gridCol>
                <a:gridCol w="4383087">
                  <a:extLst>
                    <a:ext uri="{9D8B030D-6E8A-4147-A177-3AD203B41FA5}">
                      <a16:colId xmlns:a16="http://schemas.microsoft.com/office/drawing/2014/main" val="2933022447"/>
                    </a:ext>
                  </a:extLst>
                </a:gridCol>
              </a:tblGrid>
              <a:tr h="365760">
                <a:tc>
                  <a:txBody>
                    <a:bodyPr/>
                    <a:lstStyle/>
                    <a:p>
                      <a:r>
                        <a:rPr lang="vi-VN" sz="1800"/>
                        <a:t>Số cổng (port number)</a:t>
                      </a:r>
                    </a:p>
                  </a:txBody>
                  <a:tcPr anchor="ctr">
                    <a:lnL>
                      <a:noFill/>
                    </a:lnL>
                    <a:lnR>
                      <a:noFill/>
                    </a:lnR>
                    <a:lnT>
                      <a:noFill/>
                    </a:lnT>
                    <a:lnB>
                      <a:noFill/>
                    </a:lnB>
                    <a:noFill/>
                  </a:tcPr>
                </a:tc>
                <a:tc>
                  <a:txBody>
                    <a:bodyPr/>
                    <a:lstStyle/>
                    <a:p>
                      <a:r>
                        <a:rPr lang="vi-VN" sz="1800" dirty="0"/>
                        <a:t>587</a:t>
                      </a:r>
                    </a:p>
                  </a:txBody>
                  <a:tcPr anchor="ctr">
                    <a:lnL>
                      <a:noFill/>
                    </a:lnL>
                    <a:lnR>
                      <a:noFill/>
                    </a:lnR>
                    <a:lnT>
                      <a:noFill/>
                    </a:lnT>
                    <a:lnB>
                      <a:noFill/>
                    </a:lnB>
                    <a:noFill/>
                  </a:tcPr>
                </a:tc>
                <a:extLst>
                  <a:ext uri="{0D108BD9-81ED-4DB2-BD59-A6C34878D82A}">
                    <a16:rowId xmlns:a16="http://schemas.microsoft.com/office/drawing/2014/main" val="2430715433"/>
                  </a:ext>
                </a:extLst>
              </a:tr>
            </a:tbl>
          </a:graphicData>
        </a:graphic>
      </p:graphicFrame>
    </p:spTree>
    <p:extLst>
      <p:ext uri="{BB962C8B-B14F-4D97-AF65-F5344CB8AC3E}">
        <p14:creationId xmlns:p14="http://schemas.microsoft.com/office/powerpoint/2010/main" val="1214321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905"/>
            <a:ext cx="12192000" cy="6859905"/>
            <a:chOff x="0" y="-1522"/>
            <a:chExt cx="12192000" cy="6859905"/>
          </a:xfrm>
        </p:grpSpPr>
        <p:pic>
          <p:nvPicPr>
            <p:cNvPr id="3" name="object 3"/>
            <p:cNvPicPr/>
            <p:nvPr/>
          </p:nvPicPr>
          <p:blipFill>
            <a:blip r:embed="rId3"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1697355" y="695705"/>
            <a:ext cx="3005455" cy="574040"/>
          </a:xfrm>
          <a:prstGeom prst="rect">
            <a:avLst/>
          </a:prstGeom>
        </p:spPr>
        <p:txBody>
          <a:bodyPr vert="horz" wrap="square" lIns="0" tIns="12700" rIns="0" bIns="0" rtlCol="0">
            <a:spAutoFit/>
          </a:bodyPr>
          <a:lstStyle/>
          <a:p>
            <a:pPr marL="12700">
              <a:lnSpc>
                <a:spcPct val="100000"/>
              </a:lnSpc>
              <a:spcBef>
                <a:spcPts val="100"/>
              </a:spcBef>
              <a:tabLst>
                <a:tab pos="2021839" algn="l"/>
              </a:tabLst>
            </a:pPr>
            <a:r>
              <a:rPr lang="vi-VN" spc="-10" dirty="0"/>
              <a:t>Ví dụ 2</a:t>
            </a:r>
            <a:endParaRPr spc="-25" dirty="0"/>
          </a:p>
        </p:txBody>
      </p:sp>
      <p:sp>
        <p:nvSpPr>
          <p:cNvPr id="8" name="TextBox 7">
            <a:extLst>
              <a:ext uri="{FF2B5EF4-FFF2-40B4-BE49-F238E27FC236}">
                <a16:creationId xmlns:a16="http://schemas.microsoft.com/office/drawing/2014/main" id="{E8A5E70A-D8E3-B43A-D5F7-575FC66505D1}"/>
              </a:ext>
            </a:extLst>
          </p:cNvPr>
          <p:cNvSpPr txBox="1"/>
          <p:nvPr/>
        </p:nvSpPr>
        <p:spPr>
          <a:xfrm>
            <a:off x="824865" y="1321024"/>
            <a:ext cx="6096000" cy="584775"/>
          </a:xfrm>
          <a:prstGeom prst="rect">
            <a:avLst/>
          </a:prstGeom>
          <a:noFill/>
        </p:spPr>
        <p:txBody>
          <a:bodyPr wrap="square">
            <a:spAutoFit/>
          </a:bodyPr>
          <a:lstStyle/>
          <a:p>
            <a:r>
              <a:rPr lang="vi-VN" sz="1600" b="0" dirty="0" err="1">
                <a:solidFill>
                  <a:srgbClr val="0000FF"/>
                </a:solidFill>
                <a:effectLst/>
                <a:latin typeface="Google Sans Code" panose="020B0509030502040204" pitchFamily="49" charset="0"/>
              </a:rPr>
              <a:t>import</a:t>
            </a:r>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smtplib</a:t>
            </a:r>
            <a:endParaRPr lang="vi-VN" sz="1600" b="0" dirty="0">
              <a:solidFill>
                <a:srgbClr val="000000"/>
              </a:solidFill>
              <a:effectLst/>
              <a:latin typeface="Google Sans Code" panose="020B0509030502040204" pitchFamily="49" charset="0"/>
            </a:endParaRPr>
          </a:p>
          <a:p>
            <a:r>
              <a:rPr lang="vi-VN" sz="1600" b="0" dirty="0" err="1">
                <a:solidFill>
                  <a:srgbClr val="0000FF"/>
                </a:solidFill>
                <a:effectLst/>
                <a:latin typeface="Google Sans Code" panose="020B0509030502040204" pitchFamily="49" charset="0"/>
              </a:rPr>
              <a:t>from</a:t>
            </a:r>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email.message</a:t>
            </a:r>
            <a:r>
              <a:rPr lang="vi-VN" sz="1600" b="0" dirty="0">
                <a:solidFill>
                  <a:srgbClr val="000000"/>
                </a:solidFill>
                <a:effectLst/>
                <a:latin typeface="Google Sans Code" panose="020B0509030502040204" pitchFamily="49" charset="0"/>
              </a:rPr>
              <a:t> </a:t>
            </a:r>
            <a:r>
              <a:rPr lang="vi-VN" sz="1600" b="0" dirty="0" err="1">
                <a:solidFill>
                  <a:srgbClr val="0000FF"/>
                </a:solidFill>
                <a:effectLst/>
                <a:latin typeface="Google Sans Code" panose="020B0509030502040204" pitchFamily="49" charset="0"/>
              </a:rPr>
              <a:t>import</a:t>
            </a:r>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EmailMessage</a:t>
            </a:r>
            <a:endParaRPr lang="vi-VN" sz="1600" b="0" dirty="0">
              <a:solidFill>
                <a:srgbClr val="000000"/>
              </a:solidFill>
              <a:effectLst/>
              <a:latin typeface="Google Sans Code" panose="020B0509030502040204" pitchFamily="49" charset="0"/>
            </a:endParaRPr>
          </a:p>
        </p:txBody>
      </p:sp>
      <p:sp>
        <p:nvSpPr>
          <p:cNvPr id="10" name="TextBox 9">
            <a:extLst>
              <a:ext uri="{FF2B5EF4-FFF2-40B4-BE49-F238E27FC236}">
                <a16:creationId xmlns:a16="http://schemas.microsoft.com/office/drawing/2014/main" id="{0A5BDE10-2C3E-B080-0D2A-3A1815AD5DBD}"/>
              </a:ext>
            </a:extLst>
          </p:cNvPr>
          <p:cNvSpPr txBox="1"/>
          <p:nvPr/>
        </p:nvSpPr>
        <p:spPr>
          <a:xfrm>
            <a:off x="824865" y="1943390"/>
            <a:ext cx="6096000" cy="830997"/>
          </a:xfrm>
          <a:prstGeom prst="rect">
            <a:avLst/>
          </a:prstGeom>
          <a:noFill/>
        </p:spPr>
        <p:txBody>
          <a:bodyPr wrap="square">
            <a:spAutoFit/>
          </a:bodyPr>
          <a:lstStyle/>
          <a:p>
            <a:r>
              <a:rPr lang="en-US" sz="1600" b="0" dirty="0">
                <a:solidFill>
                  <a:srgbClr val="000000"/>
                </a:solidFill>
                <a:effectLst/>
                <a:latin typeface="Google Sans Code" panose="020B0509030502040204" pitchFamily="49" charset="0"/>
              </a:rPr>
              <a:t>sender = </a:t>
            </a:r>
            <a:r>
              <a:rPr lang="en-US" sz="1600" b="0" dirty="0">
                <a:solidFill>
                  <a:srgbClr val="A31515"/>
                </a:solidFill>
                <a:effectLst/>
                <a:latin typeface="Google Sans Code" panose="020B0509030502040204" pitchFamily="49" charset="0"/>
              </a:rPr>
              <a:t>"your_email@gmail.com"</a:t>
            </a:r>
            <a:endParaRPr lang="en-US" sz="1600" b="0" dirty="0">
              <a:solidFill>
                <a:srgbClr val="000000"/>
              </a:solidFill>
              <a:effectLst/>
              <a:latin typeface="Google Sans Code" panose="020B0509030502040204" pitchFamily="49" charset="0"/>
            </a:endParaRPr>
          </a:p>
          <a:p>
            <a:r>
              <a:rPr lang="en-US" sz="1600" b="0" dirty="0">
                <a:solidFill>
                  <a:srgbClr val="000000"/>
                </a:solidFill>
                <a:effectLst/>
                <a:latin typeface="Google Sans Code" panose="020B0509030502040204" pitchFamily="49" charset="0"/>
              </a:rPr>
              <a:t>password = </a:t>
            </a:r>
            <a:r>
              <a:rPr lang="en-US" sz="1600" b="0" dirty="0">
                <a:solidFill>
                  <a:srgbClr val="A31515"/>
                </a:solidFill>
                <a:effectLst/>
                <a:latin typeface="Google Sans Code" panose="020B0509030502040204" pitchFamily="49" charset="0"/>
              </a:rPr>
              <a:t>"</a:t>
            </a:r>
            <a:r>
              <a:rPr lang="en-US" sz="1600" b="0" dirty="0" err="1">
                <a:solidFill>
                  <a:srgbClr val="A31515"/>
                </a:solidFill>
                <a:effectLst/>
                <a:latin typeface="Google Sans Code" panose="020B0509030502040204" pitchFamily="49" charset="0"/>
              </a:rPr>
              <a:t>your_app_password</a:t>
            </a:r>
            <a:r>
              <a:rPr lang="en-US" sz="1600" b="0" dirty="0">
                <a:solidFill>
                  <a:srgbClr val="A31515"/>
                </a:solidFill>
                <a:effectLst/>
                <a:latin typeface="Google Sans Code" panose="020B0509030502040204" pitchFamily="49" charset="0"/>
              </a:rPr>
              <a:t>"</a:t>
            </a:r>
            <a:endParaRPr lang="en-US" sz="1600" b="0" dirty="0">
              <a:solidFill>
                <a:srgbClr val="000000"/>
              </a:solidFill>
              <a:effectLst/>
              <a:latin typeface="Google Sans Code" panose="020B0509030502040204" pitchFamily="49" charset="0"/>
            </a:endParaRPr>
          </a:p>
          <a:p>
            <a:r>
              <a:rPr lang="en-US" sz="1600" b="0" dirty="0">
                <a:solidFill>
                  <a:srgbClr val="000000"/>
                </a:solidFill>
                <a:effectLst/>
                <a:latin typeface="Google Sans Code" panose="020B0509030502040204" pitchFamily="49" charset="0"/>
              </a:rPr>
              <a:t>receiver = </a:t>
            </a:r>
            <a:r>
              <a:rPr lang="en-US" sz="1600" b="0" dirty="0">
                <a:solidFill>
                  <a:srgbClr val="A31515"/>
                </a:solidFill>
                <a:effectLst/>
                <a:latin typeface="Google Sans Code" panose="020B0509030502040204" pitchFamily="49" charset="0"/>
              </a:rPr>
              <a:t>"recipient@gmail.com"</a:t>
            </a:r>
            <a:endParaRPr lang="en-US" sz="1600" b="0" dirty="0">
              <a:solidFill>
                <a:srgbClr val="000000"/>
              </a:solidFill>
              <a:effectLst/>
              <a:latin typeface="Google Sans Code" panose="020B0509030502040204" pitchFamily="49" charset="0"/>
            </a:endParaRPr>
          </a:p>
        </p:txBody>
      </p:sp>
      <p:sp>
        <p:nvSpPr>
          <p:cNvPr id="14" name="TextBox 13">
            <a:extLst>
              <a:ext uri="{FF2B5EF4-FFF2-40B4-BE49-F238E27FC236}">
                <a16:creationId xmlns:a16="http://schemas.microsoft.com/office/drawing/2014/main" id="{97975262-FDAB-1988-2CC2-5E29EB23C51C}"/>
              </a:ext>
            </a:extLst>
          </p:cNvPr>
          <p:cNvSpPr txBox="1"/>
          <p:nvPr/>
        </p:nvSpPr>
        <p:spPr>
          <a:xfrm>
            <a:off x="796290" y="2904311"/>
            <a:ext cx="5142548" cy="1815882"/>
          </a:xfrm>
          <a:prstGeom prst="rect">
            <a:avLst/>
          </a:prstGeom>
          <a:noFill/>
        </p:spPr>
        <p:txBody>
          <a:bodyPr wrap="square">
            <a:spAutoFit/>
          </a:bodyPr>
          <a:lstStyle/>
          <a:p>
            <a:r>
              <a:rPr lang="vi-VN" sz="1600" b="0" dirty="0" err="1">
                <a:solidFill>
                  <a:srgbClr val="000000"/>
                </a:solidFill>
                <a:effectLst/>
                <a:latin typeface="Google Sans Code" panose="020B0509030502040204" pitchFamily="49" charset="0"/>
              </a:rPr>
              <a:t>msg</a:t>
            </a:r>
            <a:r>
              <a:rPr lang="vi-VN" sz="1600" b="0" dirty="0">
                <a:solidFill>
                  <a:srgbClr val="000000"/>
                </a:solidFill>
                <a:effectLst/>
                <a:latin typeface="Google Sans Code" panose="020B0509030502040204" pitchFamily="49" charset="0"/>
              </a:rPr>
              <a:t> = </a:t>
            </a:r>
            <a:r>
              <a:rPr lang="vi-VN" sz="1600" b="0" dirty="0" err="1">
                <a:solidFill>
                  <a:srgbClr val="000000"/>
                </a:solidFill>
                <a:effectLst/>
                <a:latin typeface="Google Sans Code" panose="020B0509030502040204" pitchFamily="49" charset="0"/>
              </a:rPr>
              <a:t>EmailMessage</a:t>
            </a:r>
            <a:r>
              <a:rPr lang="vi-VN" sz="1600" b="0" dirty="0">
                <a:solidFill>
                  <a:srgbClr val="000000"/>
                </a:solidFill>
                <a:effectLst/>
                <a:latin typeface="Google Sans Code" panose="020B0509030502040204" pitchFamily="49" charset="0"/>
              </a:rPr>
              <a:t>()</a:t>
            </a:r>
          </a:p>
          <a:p>
            <a:r>
              <a:rPr lang="vi-VN" sz="1600" b="0" dirty="0" err="1">
                <a:solidFill>
                  <a:srgbClr val="000000"/>
                </a:solidFill>
                <a:effectLst/>
                <a:latin typeface="Google Sans Code" panose="020B0509030502040204" pitchFamily="49" charset="0"/>
              </a:rPr>
              <a:t>msg</a:t>
            </a:r>
            <a:r>
              <a:rPr lang="vi-VN" sz="1600" b="0" dirty="0">
                <a:solidFill>
                  <a:srgbClr val="000000"/>
                </a:solidFill>
                <a:effectLst/>
                <a:latin typeface="Google Sans Code" panose="020B0509030502040204" pitchFamily="49" charset="0"/>
              </a:rPr>
              <a:t>[</a:t>
            </a:r>
            <a:r>
              <a:rPr lang="vi-VN" sz="1600" b="0" dirty="0">
                <a:solidFill>
                  <a:srgbClr val="A31515"/>
                </a:solidFill>
                <a:effectLst/>
                <a:latin typeface="Google Sans Code" panose="020B0509030502040204" pitchFamily="49" charset="0"/>
              </a:rPr>
              <a:t>"</a:t>
            </a:r>
            <a:r>
              <a:rPr lang="vi-VN" sz="1600" b="0" dirty="0" err="1">
                <a:solidFill>
                  <a:srgbClr val="A31515"/>
                </a:solidFill>
                <a:effectLst/>
                <a:latin typeface="Google Sans Code" panose="020B0509030502040204" pitchFamily="49" charset="0"/>
              </a:rPr>
              <a:t>Subject</a:t>
            </a:r>
            <a:r>
              <a:rPr lang="vi-VN" sz="1600" b="0" dirty="0">
                <a:solidFill>
                  <a:srgbClr val="A31515"/>
                </a:solidFill>
                <a:effectLst/>
                <a:latin typeface="Google Sans Code" panose="020B0509030502040204" pitchFamily="49" charset="0"/>
              </a:rPr>
              <a:t>"</a:t>
            </a:r>
            <a:r>
              <a:rPr lang="vi-VN" sz="1600" b="0" dirty="0">
                <a:solidFill>
                  <a:srgbClr val="000000"/>
                </a:solidFill>
                <a:effectLst/>
                <a:latin typeface="Google Sans Code" panose="020B0509030502040204" pitchFamily="49" charset="0"/>
              </a:rPr>
              <a:t>] = </a:t>
            </a:r>
            <a:r>
              <a:rPr lang="vi-VN" sz="1600" b="0" dirty="0">
                <a:solidFill>
                  <a:srgbClr val="A31515"/>
                </a:solidFill>
                <a:effectLst/>
                <a:latin typeface="Google Sans Code" panose="020B0509030502040204" pitchFamily="49" charset="0"/>
              </a:rPr>
              <a:t>"</a:t>
            </a:r>
            <a:r>
              <a:rPr lang="vi-VN" sz="1600" b="0" dirty="0" err="1">
                <a:solidFill>
                  <a:srgbClr val="A31515"/>
                </a:solidFill>
                <a:effectLst/>
                <a:latin typeface="Google Sans Code" panose="020B0509030502040204" pitchFamily="49" charset="0"/>
              </a:rPr>
              <a:t>Test</a:t>
            </a:r>
            <a:r>
              <a:rPr lang="vi-VN" sz="1600" b="0" dirty="0">
                <a:solidFill>
                  <a:srgbClr val="A31515"/>
                </a:solidFill>
                <a:effectLst/>
                <a:latin typeface="Google Sans Code" panose="020B0509030502040204" pitchFamily="49" charset="0"/>
              </a:rPr>
              <a:t> </a:t>
            </a:r>
            <a:r>
              <a:rPr lang="vi-VN" sz="1600" b="0" dirty="0" err="1">
                <a:solidFill>
                  <a:srgbClr val="A31515"/>
                </a:solidFill>
                <a:effectLst/>
                <a:latin typeface="Google Sans Code" panose="020B0509030502040204" pitchFamily="49" charset="0"/>
              </a:rPr>
              <a:t>Email</a:t>
            </a:r>
            <a:r>
              <a:rPr lang="vi-VN" sz="1600" b="0" dirty="0">
                <a:solidFill>
                  <a:srgbClr val="A31515"/>
                </a:solidFill>
                <a:effectLst/>
                <a:latin typeface="Google Sans Code" panose="020B0509030502040204" pitchFamily="49" charset="0"/>
              </a:rPr>
              <a:t>"</a:t>
            </a:r>
            <a:endParaRPr lang="vi-VN" sz="1600" b="0" dirty="0">
              <a:solidFill>
                <a:srgbClr val="000000"/>
              </a:solidFill>
              <a:effectLst/>
              <a:latin typeface="Google Sans Code" panose="020B0509030502040204" pitchFamily="49" charset="0"/>
            </a:endParaRPr>
          </a:p>
          <a:p>
            <a:r>
              <a:rPr lang="vi-VN" sz="1600" b="0" dirty="0" err="1">
                <a:solidFill>
                  <a:srgbClr val="000000"/>
                </a:solidFill>
                <a:effectLst/>
                <a:latin typeface="Google Sans Code" panose="020B0509030502040204" pitchFamily="49" charset="0"/>
              </a:rPr>
              <a:t>msg</a:t>
            </a:r>
            <a:r>
              <a:rPr lang="vi-VN" sz="1600" b="0" dirty="0">
                <a:solidFill>
                  <a:srgbClr val="000000"/>
                </a:solidFill>
                <a:effectLst/>
                <a:latin typeface="Google Sans Code" panose="020B0509030502040204" pitchFamily="49" charset="0"/>
              </a:rPr>
              <a:t>[</a:t>
            </a:r>
            <a:r>
              <a:rPr lang="vi-VN" sz="1600" b="0" dirty="0">
                <a:solidFill>
                  <a:srgbClr val="A31515"/>
                </a:solidFill>
                <a:effectLst/>
                <a:latin typeface="Google Sans Code" panose="020B0509030502040204" pitchFamily="49" charset="0"/>
              </a:rPr>
              <a:t>"</a:t>
            </a:r>
            <a:r>
              <a:rPr lang="vi-VN" sz="1600" b="0" dirty="0" err="1">
                <a:solidFill>
                  <a:srgbClr val="A31515"/>
                </a:solidFill>
                <a:effectLst/>
                <a:latin typeface="Google Sans Code" panose="020B0509030502040204" pitchFamily="49" charset="0"/>
              </a:rPr>
              <a:t>From</a:t>
            </a:r>
            <a:r>
              <a:rPr lang="vi-VN" sz="1600" b="0" dirty="0">
                <a:solidFill>
                  <a:srgbClr val="A31515"/>
                </a:solidFill>
                <a:effectLst/>
                <a:latin typeface="Google Sans Code" panose="020B0509030502040204" pitchFamily="49" charset="0"/>
              </a:rPr>
              <a:t>"</a:t>
            </a:r>
            <a:r>
              <a:rPr lang="vi-VN" sz="1600" b="0" dirty="0">
                <a:solidFill>
                  <a:srgbClr val="000000"/>
                </a:solidFill>
                <a:effectLst/>
                <a:latin typeface="Google Sans Code" panose="020B0509030502040204" pitchFamily="49" charset="0"/>
              </a:rPr>
              <a:t>] = </a:t>
            </a:r>
            <a:r>
              <a:rPr lang="vi-VN" sz="1600" b="0" dirty="0" err="1">
                <a:solidFill>
                  <a:srgbClr val="000000"/>
                </a:solidFill>
                <a:effectLst/>
                <a:latin typeface="Google Sans Code" panose="020B0509030502040204" pitchFamily="49" charset="0"/>
              </a:rPr>
              <a:t>sender</a:t>
            </a:r>
            <a:endParaRPr lang="vi-VN" sz="1600" b="0" dirty="0">
              <a:solidFill>
                <a:srgbClr val="000000"/>
              </a:solidFill>
              <a:effectLst/>
              <a:latin typeface="Google Sans Code" panose="020B0509030502040204" pitchFamily="49" charset="0"/>
            </a:endParaRPr>
          </a:p>
          <a:p>
            <a:r>
              <a:rPr lang="vi-VN" sz="1600" b="0" dirty="0" err="1">
                <a:solidFill>
                  <a:srgbClr val="000000"/>
                </a:solidFill>
                <a:effectLst/>
                <a:latin typeface="Google Sans Code" panose="020B0509030502040204" pitchFamily="49" charset="0"/>
              </a:rPr>
              <a:t>msg</a:t>
            </a:r>
            <a:r>
              <a:rPr lang="vi-VN" sz="1600" b="0" dirty="0">
                <a:solidFill>
                  <a:srgbClr val="000000"/>
                </a:solidFill>
                <a:effectLst/>
                <a:latin typeface="Google Sans Code" panose="020B0509030502040204" pitchFamily="49" charset="0"/>
              </a:rPr>
              <a:t>[</a:t>
            </a:r>
            <a:r>
              <a:rPr lang="vi-VN" sz="1600" b="0" dirty="0">
                <a:solidFill>
                  <a:srgbClr val="A31515"/>
                </a:solidFill>
                <a:effectLst/>
                <a:latin typeface="Google Sans Code" panose="020B0509030502040204" pitchFamily="49" charset="0"/>
              </a:rPr>
              <a:t>"To"</a:t>
            </a:r>
            <a:r>
              <a:rPr lang="vi-VN" sz="1600" b="0" dirty="0">
                <a:solidFill>
                  <a:srgbClr val="000000"/>
                </a:solidFill>
                <a:effectLst/>
                <a:latin typeface="Google Sans Code" panose="020B0509030502040204" pitchFamily="49" charset="0"/>
              </a:rPr>
              <a:t>] = </a:t>
            </a:r>
            <a:r>
              <a:rPr lang="vi-VN" sz="1600" b="0" dirty="0" err="1">
                <a:solidFill>
                  <a:srgbClr val="000000"/>
                </a:solidFill>
                <a:effectLst/>
                <a:latin typeface="Google Sans Code" panose="020B0509030502040204" pitchFamily="49" charset="0"/>
              </a:rPr>
              <a:t>receiver</a:t>
            </a:r>
            <a:endParaRPr lang="vi-VN" sz="1600" b="0" dirty="0">
              <a:solidFill>
                <a:srgbClr val="000000"/>
              </a:solidFill>
              <a:effectLst/>
              <a:latin typeface="Google Sans Code" panose="020B0509030502040204" pitchFamily="49" charset="0"/>
            </a:endParaRPr>
          </a:p>
          <a:p>
            <a:r>
              <a:rPr lang="vi-VN" sz="1600" b="0" dirty="0" err="1">
                <a:solidFill>
                  <a:srgbClr val="000000"/>
                </a:solidFill>
                <a:effectLst/>
                <a:latin typeface="Google Sans Code" panose="020B0509030502040204" pitchFamily="49" charset="0"/>
              </a:rPr>
              <a:t>msg.set_content</a:t>
            </a:r>
            <a:r>
              <a:rPr lang="vi-VN" sz="1600" b="0" dirty="0">
                <a:solidFill>
                  <a:srgbClr val="000000"/>
                </a:solidFill>
                <a:effectLst/>
                <a:latin typeface="Google Sans Code" panose="020B0509030502040204" pitchFamily="49" charset="0"/>
              </a:rPr>
              <a:t>(</a:t>
            </a:r>
            <a:r>
              <a:rPr lang="vi-VN" sz="1600" b="0" dirty="0">
                <a:solidFill>
                  <a:srgbClr val="A31515"/>
                </a:solidFill>
                <a:effectLst/>
                <a:latin typeface="Google Sans Code" panose="020B0509030502040204" pitchFamily="49" charset="0"/>
              </a:rPr>
              <a:t>"Xin chào!\</a:t>
            </a:r>
            <a:r>
              <a:rPr lang="vi-VN" sz="1600" b="0" dirty="0" err="1">
                <a:solidFill>
                  <a:srgbClr val="A31515"/>
                </a:solidFill>
                <a:effectLst/>
                <a:latin typeface="Google Sans Code" panose="020B0509030502040204" pitchFamily="49" charset="0"/>
              </a:rPr>
              <a:t>nĐây</a:t>
            </a:r>
            <a:r>
              <a:rPr lang="vi-VN" sz="1600" b="0" dirty="0">
                <a:solidFill>
                  <a:srgbClr val="A31515"/>
                </a:solidFill>
                <a:effectLst/>
                <a:latin typeface="Google Sans Code" panose="020B0509030502040204" pitchFamily="49" charset="0"/>
              </a:rPr>
              <a:t> là </a:t>
            </a:r>
            <a:r>
              <a:rPr lang="vi-VN" sz="1600" b="0" dirty="0" err="1">
                <a:solidFill>
                  <a:srgbClr val="A31515"/>
                </a:solidFill>
                <a:effectLst/>
                <a:latin typeface="Google Sans Code" panose="020B0509030502040204" pitchFamily="49" charset="0"/>
              </a:rPr>
              <a:t>email</a:t>
            </a:r>
            <a:r>
              <a:rPr lang="vi-VN" sz="1600" b="0" dirty="0">
                <a:solidFill>
                  <a:srgbClr val="A31515"/>
                </a:solidFill>
                <a:effectLst/>
                <a:latin typeface="Google Sans Code" panose="020B0509030502040204" pitchFamily="49" charset="0"/>
              </a:rPr>
              <a:t> thử nghiệm gửi từ </a:t>
            </a:r>
            <a:r>
              <a:rPr lang="vi-VN" sz="1600" b="0" dirty="0" err="1">
                <a:solidFill>
                  <a:srgbClr val="A31515"/>
                </a:solidFill>
                <a:effectLst/>
                <a:latin typeface="Google Sans Code" panose="020B0509030502040204" pitchFamily="49" charset="0"/>
              </a:rPr>
              <a:t>Python</a:t>
            </a:r>
            <a:r>
              <a:rPr lang="vi-VN" sz="1600" b="0" dirty="0">
                <a:solidFill>
                  <a:srgbClr val="A31515"/>
                </a:solidFill>
                <a:effectLst/>
                <a:latin typeface="Google Sans Code" panose="020B0509030502040204" pitchFamily="49" charset="0"/>
              </a:rPr>
              <a:t>."</a:t>
            </a:r>
            <a:r>
              <a:rPr lang="vi-VN" sz="1600" b="0" dirty="0">
                <a:solidFill>
                  <a:srgbClr val="000000"/>
                </a:solidFill>
                <a:effectLst/>
                <a:latin typeface="Google Sans Code" panose="020B0509030502040204" pitchFamily="49" charset="0"/>
              </a:rPr>
              <a:t>)</a:t>
            </a:r>
          </a:p>
          <a:p>
            <a:r>
              <a:rPr lang="vi-VN" sz="1600" dirty="0">
                <a:solidFill>
                  <a:srgbClr val="00B050"/>
                </a:solidFill>
                <a:latin typeface="Google Sans Code" panose="020B0509030502040204" pitchFamily="49" charset="0"/>
              </a:rPr>
              <a:t>#gắn nội dung văn bản</a:t>
            </a:r>
            <a:endParaRPr lang="vi-VN" sz="1600" b="0" dirty="0">
              <a:solidFill>
                <a:srgbClr val="00B050"/>
              </a:solidFill>
              <a:effectLst/>
              <a:latin typeface="Google Sans Code" panose="020B0509030502040204" pitchFamily="49" charset="0"/>
            </a:endParaRPr>
          </a:p>
        </p:txBody>
      </p:sp>
      <p:sp>
        <p:nvSpPr>
          <p:cNvPr id="18" name="TextBox 17">
            <a:extLst>
              <a:ext uri="{FF2B5EF4-FFF2-40B4-BE49-F238E27FC236}">
                <a16:creationId xmlns:a16="http://schemas.microsoft.com/office/drawing/2014/main" id="{3BDDBE37-9634-34F7-11E2-12D264611B58}"/>
              </a:ext>
            </a:extLst>
          </p:cNvPr>
          <p:cNvSpPr txBox="1"/>
          <p:nvPr/>
        </p:nvSpPr>
        <p:spPr>
          <a:xfrm>
            <a:off x="5938838" y="1532554"/>
            <a:ext cx="6096000" cy="1323439"/>
          </a:xfrm>
          <a:prstGeom prst="rect">
            <a:avLst/>
          </a:prstGeom>
          <a:noFill/>
        </p:spPr>
        <p:txBody>
          <a:bodyPr wrap="square">
            <a:spAutoFit/>
          </a:bodyPr>
          <a:lstStyle/>
          <a:p>
            <a:r>
              <a:rPr lang="vi-VN" sz="1600" b="0" dirty="0" err="1">
                <a:solidFill>
                  <a:srgbClr val="0000FF"/>
                </a:solidFill>
                <a:effectLst/>
                <a:latin typeface="Google Sans Code" panose="020B0509030502040204" pitchFamily="49" charset="0"/>
              </a:rPr>
              <a:t>with</a:t>
            </a:r>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smtplib.SMTP</a:t>
            </a:r>
            <a:r>
              <a:rPr lang="vi-VN" sz="1600" b="0" dirty="0">
                <a:solidFill>
                  <a:srgbClr val="000000"/>
                </a:solidFill>
                <a:effectLst/>
                <a:latin typeface="Google Sans Code" panose="020B0509030502040204" pitchFamily="49" charset="0"/>
              </a:rPr>
              <a:t>(</a:t>
            </a:r>
            <a:r>
              <a:rPr lang="vi-VN" sz="1600" b="0" dirty="0">
                <a:solidFill>
                  <a:srgbClr val="A31515"/>
                </a:solidFill>
                <a:effectLst/>
                <a:latin typeface="Google Sans Code" panose="020B0509030502040204" pitchFamily="49" charset="0"/>
              </a:rPr>
              <a:t>"smtp.gmail.com"</a:t>
            </a:r>
            <a:r>
              <a:rPr lang="vi-VN" sz="1600" b="0" dirty="0">
                <a:solidFill>
                  <a:srgbClr val="000000"/>
                </a:solidFill>
                <a:effectLst/>
                <a:latin typeface="Google Sans Code" panose="020B0509030502040204" pitchFamily="49" charset="0"/>
              </a:rPr>
              <a:t>, </a:t>
            </a:r>
            <a:r>
              <a:rPr lang="vi-VN" sz="1600" b="0" dirty="0">
                <a:solidFill>
                  <a:srgbClr val="098658"/>
                </a:solidFill>
                <a:effectLst/>
                <a:latin typeface="Google Sans Code" panose="020B0509030502040204" pitchFamily="49" charset="0"/>
              </a:rPr>
              <a:t>587</a:t>
            </a:r>
            <a:r>
              <a:rPr lang="vi-VN" sz="1600" b="0" dirty="0">
                <a:solidFill>
                  <a:srgbClr val="000000"/>
                </a:solidFill>
                <a:effectLst/>
                <a:latin typeface="Google Sans Code" panose="020B0509030502040204" pitchFamily="49" charset="0"/>
              </a:rPr>
              <a:t>) </a:t>
            </a:r>
            <a:r>
              <a:rPr lang="vi-VN" sz="1600" b="0" dirty="0" err="1">
                <a:solidFill>
                  <a:srgbClr val="0000FF"/>
                </a:solidFill>
                <a:effectLst/>
                <a:latin typeface="Google Sans Code" panose="020B0509030502040204" pitchFamily="49" charset="0"/>
              </a:rPr>
              <a:t>as</a:t>
            </a:r>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server</a:t>
            </a:r>
            <a:r>
              <a:rPr lang="vi-VN" sz="1600" b="0" dirty="0">
                <a:solidFill>
                  <a:srgbClr val="000000"/>
                </a:solidFill>
                <a:effectLst/>
                <a:latin typeface="Google Sans Code" panose="020B0509030502040204" pitchFamily="49" charset="0"/>
              </a:rPr>
              <a:t>: </a:t>
            </a:r>
            <a:r>
              <a:rPr lang="vi-VN" sz="1600" b="0" dirty="0">
                <a:solidFill>
                  <a:srgbClr val="00B050"/>
                </a:solidFill>
                <a:effectLst/>
                <a:latin typeface="Google Sans Code" panose="020B0509030502040204" pitchFamily="49" charset="0"/>
              </a:rPr>
              <a:t>#Kết nối tới </a:t>
            </a:r>
            <a:r>
              <a:rPr lang="vi-VN" sz="1600" b="0" dirty="0" err="1">
                <a:solidFill>
                  <a:srgbClr val="00B050"/>
                </a:solidFill>
                <a:effectLst/>
                <a:latin typeface="Google Sans Code" panose="020B0509030502040204" pitchFamily="49" charset="0"/>
              </a:rPr>
              <a:t>Gmail</a:t>
            </a:r>
            <a:r>
              <a:rPr lang="vi-VN" sz="1600" b="0" dirty="0">
                <a:solidFill>
                  <a:srgbClr val="00B050"/>
                </a:solidFill>
                <a:effectLst/>
                <a:latin typeface="Google Sans Code" panose="020B0509030502040204" pitchFamily="49" charset="0"/>
              </a:rPr>
              <a:t> SMTP</a:t>
            </a:r>
          </a:p>
          <a:p>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server.starttls</a:t>
            </a:r>
            <a:r>
              <a:rPr lang="vi-VN" sz="1600" b="0" dirty="0">
                <a:solidFill>
                  <a:srgbClr val="000000"/>
                </a:solidFill>
                <a:effectLst/>
                <a:latin typeface="Google Sans Code" panose="020B0509030502040204" pitchFamily="49" charset="0"/>
              </a:rPr>
              <a:t>()</a:t>
            </a:r>
          </a:p>
          <a:p>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server.login</a:t>
            </a:r>
            <a:r>
              <a:rPr lang="vi-VN" sz="1600" b="0" dirty="0">
                <a:solidFill>
                  <a:srgbClr val="000000"/>
                </a:solidFill>
                <a:effectLst/>
                <a:latin typeface="Google Sans Code" panose="020B0509030502040204" pitchFamily="49" charset="0"/>
              </a:rPr>
              <a:t>(</a:t>
            </a:r>
            <a:r>
              <a:rPr lang="vi-VN" sz="1600" b="0" dirty="0" err="1">
                <a:solidFill>
                  <a:srgbClr val="000000"/>
                </a:solidFill>
                <a:effectLst/>
                <a:latin typeface="Google Sans Code" panose="020B0509030502040204" pitchFamily="49" charset="0"/>
              </a:rPr>
              <a:t>sender</a:t>
            </a:r>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password</a:t>
            </a:r>
            <a:r>
              <a:rPr lang="vi-VN" sz="1600" b="0" dirty="0">
                <a:solidFill>
                  <a:srgbClr val="000000"/>
                </a:solidFill>
                <a:effectLst/>
                <a:latin typeface="Google Sans Code" panose="020B0509030502040204" pitchFamily="49" charset="0"/>
              </a:rPr>
              <a:t>)</a:t>
            </a:r>
          </a:p>
          <a:p>
            <a:r>
              <a:rPr lang="vi-VN" sz="1600" b="0" dirty="0">
                <a:solidFill>
                  <a:srgbClr val="000000"/>
                </a:solidFill>
                <a:effectLst/>
                <a:latin typeface="Google Sans Code" panose="020B0509030502040204" pitchFamily="49" charset="0"/>
              </a:rPr>
              <a:t>    </a:t>
            </a:r>
            <a:r>
              <a:rPr lang="vi-VN" sz="1600" b="0" dirty="0" err="1">
                <a:solidFill>
                  <a:srgbClr val="000000"/>
                </a:solidFill>
                <a:effectLst/>
                <a:latin typeface="Google Sans Code" panose="020B0509030502040204" pitchFamily="49" charset="0"/>
              </a:rPr>
              <a:t>server.send_message</a:t>
            </a:r>
            <a:r>
              <a:rPr lang="vi-VN" sz="1600" b="0" dirty="0">
                <a:solidFill>
                  <a:srgbClr val="000000"/>
                </a:solidFill>
                <a:effectLst/>
                <a:latin typeface="Google Sans Code" panose="020B0509030502040204" pitchFamily="49" charset="0"/>
              </a:rPr>
              <a:t>(</a:t>
            </a:r>
            <a:r>
              <a:rPr lang="vi-VN" sz="1600" b="0" dirty="0" err="1">
                <a:solidFill>
                  <a:srgbClr val="000000"/>
                </a:solidFill>
                <a:effectLst/>
                <a:latin typeface="Google Sans Code" panose="020B0509030502040204" pitchFamily="49" charset="0"/>
              </a:rPr>
              <a:t>msg</a:t>
            </a:r>
            <a:r>
              <a:rPr lang="vi-VN" sz="1600" b="0" dirty="0">
                <a:solidFill>
                  <a:srgbClr val="000000"/>
                </a:solidFill>
                <a:effectLst/>
                <a:latin typeface="Google Sans Code" panose="020B0509030502040204" pitchFamily="49" charset="0"/>
              </a:rPr>
              <a:t>)</a:t>
            </a:r>
          </a:p>
        </p:txBody>
      </p:sp>
      <p:sp>
        <p:nvSpPr>
          <p:cNvPr id="20" name="TextBox 19">
            <a:extLst>
              <a:ext uri="{FF2B5EF4-FFF2-40B4-BE49-F238E27FC236}">
                <a16:creationId xmlns:a16="http://schemas.microsoft.com/office/drawing/2014/main" id="{1A22E5B5-D1D1-A02B-BF84-2AD284928566}"/>
              </a:ext>
            </a:extLst>
          </p:cNvPr>
          <p:cNvSpPr txBox="1"/>
          <p:nvPr/>
        </p:nvSpPr>
        <p:spPr>
          <a:xfrm>
            <a:off x="5986463" y="3089302"/>
            <a:ext cx="6215062" cy="338554"/>
          </a:xfrm>
          <a:prstGeom prst="rect">
            <a:avLst/>
          </a:prstGeom>
          <a:noFill/>
        </p:spPr>
        <p:txBody>
          <a:bodyPr wrap="square">
            <a:spAutoFit/>
          </a:bodyPr>
          <a:lstStyle/>
          <a:p>
            <a:r>
              <a:rPr lang="vi-VN" sz="1600" b="0" dirty="0" err="1">
                <a:solidFill>
                  <a:srgbClr val="000000"/>
                </a:solidFill>
                <a:effectLst/>
                <a:latin typeface="Google Sans Code" panose="020B0509030502040204" pitchFamily="49" charset="0"/>
              </a:rPr>
              <a:t>print</a:t>
            </a:r>
            <a:r>
              <a:rPr lang="vi-VN" sz="1600" b="0" dirty="0">
                <a:solidFill>
                  <a:srgbClr val="000000"/>
                </a:solidFill>
                <a:effectLst/>
                <a:latin typeface="Google Sans Code" panose="020B0509030502040204" pitchFamily="49" charset="0"/>
              </a:rPr>
              <a:t>(</a:t>
            </a:r>
            <a:r>
              <a:rPr lang="vi-VN" sz="1600" b="0" dirty="0">
                <a:solidFill>
                  <a:srgbClr val="A31515"/>
                </a:solidFill>
                <a:effectLst/>
                <a:latin typeface="Google Sans Code" panose="020B0509030502040204" pitchFamily="49" charset="0"/>
              </a:rPr>
              <a:t>"✅ </a:t>
            </a:r>
            <a:r>
              <a:rPr lang="vi-VN" sz="1600" b="0" dirty="0" err="1">
                <a:solidFill>
                  <a:srgbClr val="A31515"/>
                </a:solidFill>
                <a:effectLst/>
                <a:latin typeface="Google Sans Code" panose="020B0509030502040204" pitchFamily="49" charset="0"/>
              </a:rPr>
              <a:t>Email</a:t>
            </a:r>
            <a:r>
              <a:rPr lang="vi-VN" sz="1600" b="0" dirty="0">
                <a:solidFill>
                  <a:srgbClr val="A31515"/>
                </a:solidFill>
                <a:effectLst/>
                <a:latin typeface="Google Sans Code" panose="020B0509030502040204" pitchFamily="49" charset="0"/>
              </a:rPr>
              <a:t> </a:t>
            </a:r>
            <a:r>
              <a:rPr lang="vi-VN" sz="1600" b="0" dirty="0" err="1">
                <a:solidFill>
                  <a:srgbClr val="A31515"/>
                </a:solidFill>
                <a:effectLst/>
                <a:latin typeface="Google Sans Code" panose="020B0509030502040204" pitchFamily="49" charset="0"/>
              </a:rPr>
              <a:t>sent</a:t>
            </a:r>
            <a:r>
              <a:rPr lang="vi-VN" sz="1600" b="0" dirty="0">
                <a:solidFill>
                  <a:srgbClr val="A31515"/>
                </a:solidFill>
                <a:effectLst/>
                <a:latin typeface="Google Sans Code" panose="020B0509030502040204" pitchFamily="49" charset="0"/>
              </a:rPr>
              <a:t> </a:t>
            </a:r>
            <a:r>
              <a:rPr lang="vi-VN" sz="1600" b="0" dirty="0" err="1">
                <a:solidFill>
                  <a:srgbClr val="A31515"/>
                </a:solidFill>
                <a:effectLst/>
                <a:latin typeface="Google Sans Code" panose="020B0509030502040204" pitchFamily="49" charset="0"/>
              </a:rPr>
              <a:t>successfully</a:t>
            </a:r>
            <a:r>
              <a:rPr lang="vi-VN" sz="1600" b="0" dirty="0">
                <a:solidFill>
                  <a:srgbClr val="A31515"/>
                </a:solidFill>
                <a:effectLst/>
                <a:latin typeface="Google Sans Code" panose="020B0509030502040204" pitchFamily="49" charset="0"/>
              </a:rPr>
              <a:t>!"</a:t>
            </a:r>
            <a:r>
              <a:rPr lang="vi-VN" sz="1600" b="0" dirty="0">
                <a:solidFill>
                  <a:srgbClr val="000000"/>
                </a:solidFill>
                <a:effectLst/>
                <a:latin typeface="Google Sans Code" panose="020B0509030502040204" pitchFamily="49" charset="0"/>
              </a:rPr>
              <a:t>)</a:t>
            </a:r>
          </a:p>
        </p:txBody>
      </p:sp>
      <p:sp>
        <p:nvSpPr>
          <p:cNvPr id="11" name="TextBox 10">
            <a:extLst>
              <a:ext uri="{FF2B5EF4-FFF2-40B4-BE49-F238E27FC236}">
                <a16:creationId xmlns:a16="http://schemas.microsoft.com/office/drawing/2014/main" id="{D7C62566-2D6E-F85A-02E5-2FAF19360F8E}"/>
              </a:ext>
            </a:extLst>
          </p:cNvPr>
          <p:cNvSpPr txBox="1"/>
          <p:nvPr/>
        </p:nvSpPr>
        <p:spPr>
          <a:xfrm>
            <a:off x="1123289" y="5206975"/>
            <a:ext cx="6098874" cy="923330"/>
          </a:xfrm>
          <a:prstGeom prst="rect">
            <a:avLst/>
          </a:prstGeom>
          <a:noFill/>
        </p:spPr>
        <p:txBody>
          <a:bodyPr wrap="square">
            <a:spAutoFit/>
          </a:bodyPr>
          <a:lstStyle/>
          <a:p>
            <a:r>
              <a:rPr lang="vi-VN" dirty="0"/>
              <a:t>Đây là đoạn </a:t>
            </a:r>
            <a:r>
              <a:rPr lang="vi-VN" dirty="0" err="1"/>
              <a:t>code</a:t>
            </a:r>
            <a:r>
              <a:rPr lang="vi-VN" dirty="0"/>
              <a:t> hoàn chỉnh, ngắn gọn, và hiện đại để gửi </a:t>
            </a:r>
            <a:r>
              <a:rPr lang="vi-VN" dirty="0" err="1"/>
              <a:t>email</a:t>
            </a:r>
            <a:r>
              <a:rPr lang="vi-VN" dirty="0"/>
              <a:t> qua </a:t>
            </a:r>
            <a:r>
              <a:rPr lang="vi-VN" dirty="0" err="1"/>
              <a:t>Gmail</a:t>
            </a:r>
            <a:r>
              <a:rPr lang="vi-VN" dirty="0"/>
              <a:t> bằng </a:t>
            </a:r>
            <a:r>
              <a:rPr lang="vi-VN" dirty="0" err="1"/>
              <a:t>Python.Nó</a:t>
            </a:r>
            <a:r>
              <a:rPr lang="vi-VN" dirty="0"/>
              <a:t> an toàn hơn và dễ đọc hơn so với phiên bản dùng </a:t>
            </a:r>
            <a:r>
              <a:rPr lang="vi-VN" dirty="0" err="1"/>
              <a:t>MIMEMultipart</a:t>
            </a:r>
            <a:r>
              <a:rPr lang="vi-VN" dirty="0"/>
              <a:t>.</a:t>
            </a:r>
          </a:p>
        </p:txBody>
      </p:sp>
    </p:spTree>
    <p:extLst>
      <p:ext uri="{BB962C8B-B14F-4D97-AF65-F5344CB8AC3E}">
        <p14:creationId xmlns:p14="http://schemas.microsoft.com/office/powerpoint/2010/main" val="111827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P spid="18" grpId="0"/>
      <p:bldP spid="2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9265"/>
            <a:ext cx="12192000" cy="6859905"/>
            <a:chOff x="0" y="-1522"/>
            <a:chExt cx="12192000" cy="6859905"/>
          </a:xfrm>
        </p:grpSpPr>
        <p:pic>
          <p:nvPicPr>
            <p:cNvPr id="3" name="object 3"/>
            <p:cNvPicPr/>
            <p:nvPr/>
          </p:nvPicPr>
          <p:blipFill>
            <a:blip r:embed="rId3"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1697355" y="695705"/>
            <a:ext cx="3005455" cy="574040"/>
          </a:xfrm>
          <a:prstGeom prst="rect">
            <a:avLst/>
          </a:prstGeom>
        </p:spPr>
        <p:txBody>
          <a:bodyPr vert="horz" wrap="square" lIns="0" tIns="12700" rIns="0" bIns="0" rtlCol="0">
            <a:spAutoFit/>
          </a:bodyPr>
          <a:lstStyle/>
          <a:p>
            <a:pPr marL="12700">
              <a:lnSpc>
                <a:spcPct val="100000"/>
              </a:lnSpc>
              <a:spcBef>
                <a:spcPts val="100"/>
              </a:spcBef>
              <a:tabLst>
                <a:tab pos="2021839" algn="l"/>
              </a:tabLst>
            </a:pPr>
            <a:r>
              <a:rPr lang="vi-VN" spc="-10" dirty="0"/>
              <a:t>Ví dụ 3</a:t>
            </a:r>
            <a:endParaRPr spc="-25" dirty="0"/>
          </a:p>
        </p:txBody>
      </p:sp>
      <p:sp>
        <p:nvSpPr>
          <p:cNvPr id="15" name="TextBox 14">
            <a:extLst>
              <a:ext uri="{FF2B5EF4-FFF2-40B4-BE49-F238E27FC236}">
                <a16:creationId xmlns:a16="http://schemas.microsoft.com/office/drawing/2014/main" id="{967A5627-15D6-9540-486A-FDDB4BFB03E6}"/>
              </a:ext>
            </a:extLst>
          </p:cNvPr>
          <p:cNvSpPr txBox="1"/>
          <p:nvPr/>
        </p:nvSpPr>
        <p:spPr>
          <a:xfrm>
            <a:off x="1697355" y="1269745"/>
            <a:ext cx="10053637" cy="954107"/>
          </a:xfrm>
          <a:prstGeom prst="rect">
            <a:avLst/>
          </a:prstGeom>
          <a:noFill/>
        </p:spPr>
        <p:txBody>
          <a:bodyPr wrap="square">
            <a:spAutoFit/>
          </a:bodyPr>
          <a:lstStyle/>
          <a:p>
            <a:r>
              <a:rPr lang="vi-VN" sz="1400" b="0" dirty="0" err="1">
                <a:solidFill>
                  <a:srgbClr val="0000FF"/>
                </a:solidFill>
                <a:effectLst/>
                <a:latin typeface="Google Sans Code" panose="020B0509030502040204" pitchFamily="49" charset="0"/>
              </a:rPr>
              <a:t>from</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flask</a:t>
            </a:r>
            <a:r>
              <a:rPr lang="vi-VN" sz="1400" b="0" dirty="0">
                <a:solidFill>
                  <a:srgbClr val="000000"/>
                </a:solidFill>
                <a:effectLst/>
                <a:latin typeface="Google Sans Code" panose="020B0509030502040204" pitchFamily="49" charset="0"/>
              </a:rPr>
              <a:t> </a:t>
            </a:r>
            <a:r>
              <a:rPr lang="vi-VN" sz="1400" b="0" dirty="0" err="1">
                <a:solidFill>
                  <a:srgbClr val="0000FF"/>
                </a:solidFill>
                <a:effectLst/>
                <a:latin typeface="Google Sans Code" panose="020B0509030502040204" pitchFamily="49" charset="0"/>
              </a:rPr>
              <a:t>import</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Flask</a:t>
            </a:r>
            <a:r>
              <a:rPr lang="vi-VN" sz="1400" b="0" dirty="0">
                <a:solidFill>
                  <a:srgbClr val="000000"/>
                </a:solidFill>
                <a:effectLst/>
                <a:latin typeface="Google Sans Code" panose="020B0509030502040204" pitchFamily="49" charset="0"/>
              </a:rPr>
              <a:t> </a:t>
            </a:r>
            <a:r>
              <a:rPr lang="vi-VN" sz="1400" b="0" dirty="0">
                <a:solidFill>
                  <a:srgbClr val="008000"/>
                </a:solidFill>
                <a:effectLst/>
                <a:latin typeface="Google Sans Code" panose="020B0509030502040204" pitchFamily="49" charset="0"/>
              </a:rPr>
              <a:t>#tạo ứng dụng </a:t>
            </a:r>
            <a:r>
              <a:rPr lang="vi-VN" sz="1400" b="0" dirty="0" err="1">
                <a:solidFill>
                  <a:srgbClr val="008000"/>
                </a:solidFill>
                <a:effectLst/>
                <a:latin typeface="Google Sans Code" panose="020B0509030502040204" pitchFamily="49" charset="0"/>
              </a:rPr>
              <a:t>web</a:t>
            </a:r>
            <a:endParaRPr lang="vi-VN" sz="1400" b="0" dirty="0">
              <a:solidFill>
                <a:srgbClr val="000000"/>
              </a:solidFill>
              <a:effectLst/>
              <a:latin typeface="Google Sans Code" panose="020B0509030502040204" pitchFamily="49" charset="0"/>
            </a:endParaRPr>
          </a:p>
          <a:p>
            <a:r>
              <a:rPr lang="vi-VN" sz="1400" b="0" dirty="0" err="1">
                <a:solidFill>
                  <a:srgbClr val="0000FF"/>
                </a:solidFill>
                <a:effectLst/>
                <a:latin typeface="Google Sans Code" panose="020B0509030502040204" pitchFamily="49" charset="0"/>
              </a:rPr>
              <a:t>from</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flask_mail</a:t>
            </a:r>
            <a:r>
              <a:rPr lang="vi-VN" sz="1400" b="0" dirty="0">
                <a:solidFill>
                  <a:srgbClr val="000000"/>
                </a:solidFill>
                <a:effectLst/>
                <a:latin typeface="Google Sans Code" panose="020B0509030502040204" pitchFamily="49" charset="0"/>
              </a:rPr>
              <a:t> </a:t>
            </a:r>
            <a:r>
              <a:rPr lang="vi-VN" sz="1400" b="0" dirty="0" err="1">
                <a:solidFill>
                  <a:srgbClr val="0000FF"/>
                </a:solidFill>
                <a:effectLst/>
                <a:latin typeface="Google Sans Code" panose="020B0509030502040204" pitchFamily="49" charset="0"/>
              </a:rPr>
              <a:t>import</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Mail</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Message</a:t>
            </a:r>
            <a:r>
              <a:rPr lang="vi-VN" sz="1400" b="0" dirty="0">
                <a:solidFill>
                  <a:srgbClr val="000000"/>
                </a:solidFill>
                <a:effectLst/>
                <a:latin typeface="Google Sans Code" panose="020B0509030502040204" pitchFamily="49" charset="0"/>
              </a:rPr>
              <a:t> </a:t>
            </a:r>
            <a:r>
              <a:rPr lang="vi-VN" sz="1400" b="0" dirty="0">
                <a:solidFill>
                  <a:srgbClr val="008000"/>
                </a:solidFill>
                <a:effectLst/>
                <a:latin typeface="Google Sans Code" panose="020B0509030502040204" pitchFamily="49" charset="0"/>
              </a:rPr>
              <a:t>#Đến từ thư viện </a:t>
            </a:r>
            <a:r>
              <a:rPr lang="vi-VN" sz="1400" b="0" dirty="0" err="1">
                <a:solidFill>
                  <a:srgbClr val="008000"/>
                </a:solidFill>
                <a:effectLst/>
                <a:latin typeface="Google Sans Code" panose="020B0509030502040204" pitchFamily="49" charset="0"/>
              </a:rPr>
              <a:t>Flask-Mail</a:t>
            </a:r>
            <a:r>
              <a:rPr lang="vi-VN" sz="1400" b="0" dirty="0">
                <a:solidFill>
                  <a:srgbClr val="008000"/>
                </a:solidFill>
                <a:effectLst/>
                <a:latin typeface="Google Sans Code" panose="020B0509030502040204" pitchFamily="49" charset="0"/>
              </a:rPr>
              <a:t>, giúp gửi </a:t>
            </a:r>
            <a:r>
              <a:rPr lang="vi-VN" sz="1400" b="0" dirty="0" err="1">
                <a:solidFill>
                  <a:srgbClr val="008000"/>
                </a:solidFill>
                <a:effectLst/>
                <a:latin typeface="Google Sans Code" panose="020B0509030502040204" pitchFamily="49" charset="0"/>
              </a:rPr>
              <a:t>email</a:t>
            </a:r>
            <a:r>
              <a:rPr lang="vi-VN" sz="1400" b="0" dirty="0">
                <a:solidFill>
                  <a:srgbClr val="008000"/>
                </a:solidFill>
                <a:effectLst/>
                <a:latin typeface="Google Sans Code" panose="020B0509030502040204" pitchFamily="49" charset="0"/>
              </a:rPr>
              <a:t> dễ dàng trong </a:t>
            </a:r>
            <a:r>
              <a:rPr lang="vi-VN" sz="1400" b="0" dirty="0" err="1">
                <a:solidFill>
                  <a:srgbClr val="008000"/>
                </a:solidFill>
                <a:effectLst/>
                <a:latin typeface="Google Sans Code" panose="020B0509030502040204" pitchFamily="49" charset="0"/>
              </a:rPr>
              <a:t>Flask</a:t>
            </a:r>
            <a:r>
              <a:rPr lang="vi-VN" sz="1400" b="0" dirty="0">
                <a:solidFill>
                  <a:srgbClr val="008000"/>
                </a:solidFill>
                <a:effectLst/>
                <a:latin typeface="Google Sans Code" panose="020B0509030502040204" pitchFamily="49" charset="0"/>
              </a:rPr>
              <a:t>. </a:t>
            </a:r>
            <a:endParaRPr lang="vi-VN" sz="1400" b="0" dirty="0">
              <a:solidFill>
                <a:srgbClr val="000000"/>
              </a:solidFill>
              <a:effectLst/>
              <a:latin typeface="Google Sans Code" panose="020B0509030502040204" pitchFamily="49" charset="0"/>
            </a:endParaRPr>
          </a:p>
          <a:p>
            <a:r>
              <a:rPr lang="vi-VN" sz="1400" b="0" dirty="0" err="1">
                <a:solidFill>
                  <a:srgbClr val="000000"/>
                </a:solidFill>
                <a:effectLst/>
                <a:latin typeface="Google Sans Code" panose="020B0509030502040204" pitchFamily="49" charset="0"/>
              </a:rPr>
              <a:t>app</a:t>
            </a:r>
            <a:r>
              <a:rPr lang="vi-VN" sz="1400" b="0" dirty="0">
                <a:solidFill>
                  <a:srgbClr val="000000"/>
                </a:solidFill>
                <a:effectLst/>
                <a:latin typeface="Google Sans Code" panose="020B0509030502040204" pitchFamily="49" charset="0"/>
              </a:rPr>
              <a:t> = </a:t>
            </a:r>
            <a:r>
              <a:rPr lang="vi-VN" sz="1400" b="0" dirty="0" err="1">
                <a:solidFill>
                  <a:srgbClr val="000000"/>
                </a:solidFill>
                <a:effectLst/>
                <a:latin typeface="Google Sans Code" panose="020B0509030502040204" pitchFamily="49" charset="0"/>
              </a:rPr>
              <a:t>Flask</a:t>
            </a:r>
            <a:r>
              <a:rPr lang="vi-VN" sz="1400" b="0" dirty="0">
                <a:solidFill>
                  <a:srgbClr val="000000"/>
                </a:solidFill>
                <a:effectLst/>
                <a:latin typeface="Google Sans Code" panose="020B0509030502040204" pitchFamily="49" charset="0"/>
              </a:rPr>
              <a:t>(__</a:t>
            </a:r>
            <a:r>
              <a:rPr lang="vi-VN" sz="1400" b="0" dirty="0" err="1">
                <a:solidFill>
                  <a:srgbClr val="000000"/>
                </a:solidFill>
                <a:effectLst/>
                <a:latin typeface="Google Sans Code" panose="020B0509030502040204" pitchFamily="49" charset="0"/>
              </a:rPr>
              <a:t>name</a:t>
            </a:r>
            <a:r>
              <a:rPr lang="vi-VN" sz="1400" b="0" dirty="0">
                <a:solidFill>
                  <a:srgbClr val="000000"/>
                </a:solidFill>
                <a:effectLst/>
                <a:latin typeface="Google Sans Code" panose="020B0509030502040204" pitchFamily="49" charset="0"/>
              </a:rPr>
              <a:t>__) </a:t>
            </a:r>
            <a:r>
              <a:rPr lang="vi-VN" sz="1400" b="0" dirty="0">
                <a:solidFill>
                  <a:srgbClr val="008000"/>
                </a:solidFill>
                <a:effectLst/>
                <a:latin typeface="Google Sans Code" panose="020B0509030502040204" pitchFamily="49" charset="0"/>
              </a:rPr>
              <a:t>#khởi tạo ứng dụng </a:t>
            </a:r>
            <a:r>
              <a:rPr lang="vi-VN" sz="1400" b="0" dirty="0" err="1">
                <a:solidFill>
                  <a:srgbClr val="008000"/>
                </a:solidFill>
                <a:effectLst/>
                <a:latin typeface="Google Sans Code" panose="020B0509030502040204" pitchFamily="49" charset="0"/>
              </a:rPr>
              <a:t>Flask</a:t>
            </a:r>
            <a:endParaRPr lang="vi-VN" sz="1400" b="0" dirty="0">
              <a:solidFill>
                <a:srgbClr val="000000"/>
              </a:solidFill>
              <a:effectLst/>
              <a:latin typeface="Google Sans Code" panose="020B0509030502040204" pitchFamily="49" charset="0"/>
            </a:endParaRPr>
          </a:p>
        </p:txBody>
      </p:sp>
      <p:sp>
        <p:nvSpPr>
          <p:cNvPr id="18" name="TextBox 17">
            <a:extLst>
              <a:ext uri="{FF2B5EF4-FFF2-40B4-BE49-F238E27FC236}">
                <a16:creationId xmlns:a16="http://schemas.microsoft.com/office/drawing/2014/main" id="{5C02CB05-8022-3045-78D2-E4EA19086914}"/>
              </a:ext>
            </a:extLst>
          </p:cNvPr>
          <p:cNvSpPr txBox="1"/>
          <p:nvPr/>
        </p:nvSpPr>
        <p:spPr>
          <a:xfrm>
            <a:off x="1697354" y="2170471"/>
            <a:ext cx="6303645" cy="1600438"/>
          </a:xfrm>
          <a:prstGeom prst="rect">
            <a:avLst/>
          </a:prstGeom>
          <a:noFill/>
        </p:spPr>
        <p:txBody>
          <a:bodyPr wrap="square">
            <a:spAutoFit/>
          </a:bodyPr>
          <a:lstStyle/>
          <a:p>
            <a:r>
              <a:rPr lang="vi-VN" sz="1400" b="0" dirty="0">
                <a:solidFill>
                  <a:srgbClr val="008000"/>
                </a:solidFill>
                <a:effectLst/>
                <a:latin typeface="Google Sans Code" panose="020B0509030502040204" pitchFamily="49" charset="0"/>
              </a:rPr>
              <a:t>#cấu hình thông tin </a:t>
            </a:r>
            <a:r>
              <a:rPr lang="vi-VN" sz="1400" b="0" dirty="0" err="1">
                <a:solidFill>
                  <a:srgbClr val="008000"/>
                </a:solidFill>
                <a:effectLst/>
                <a:latin typeface="Google Sans Code" panose="020B0509030502040204" pitchFamily="49" charset="0"/>
              </a:rPr>
              <a:t>email</a:t>
            </a:r>
            <a:endParaRPr lang="vi-VN" sz="1400" b="0" dirty="0">
              <a:solidFill>
                <a:srgbClr val="000000"/>
              </a:solidFill>
              <a:effectLst/>
              <a:latin typeface="Google Sans Code" panose="020B0509030502040204" pitchFamily="49" charset="0"/>
            </a:endParaRPr>
          </a:p>
          <a:p>
            <a:r>
              <a:rPr lang="vi-VN" sz="1400" b="0" dirty="0" err="1">
                <a:solidFill>
                  <a:srgbClr val="000000"/>
                </a:solidFill>
                <a:effectLst/>
                <a:latin typeface="Google Sans Code" panose="020B0509030502040204" pitchFamily="49" charset="0"/>
              </a:rPr>
              <a:t>app.config</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'MAIL_SERVER'</a:t>
            </a:r>
            <a:r>
              <a:rPr lang="vi-VN" sz="1400" b="0" dirty="0">
                <a:solidFill>
                  <a:srgbClr val="000000"/>
                </a:solidFill>
                <a:effectLst/>
                <a:latin typeface="Google Sans Code" panose="020B0509030502040204" pitchFamily="49" charset="0"/>
              </a:rPr>
              <a:t>] = </a:t>
            </a:r>
            <a:r>
              <a:rPr lang="vi-VN" sz="1400" b="0" dirty="0">
                <a:solidFill>
                  <a:srgbClr val="A31515"/>
                </a:solidFill>
                <a:effectLst/>
                <a:latin typeface="Google Sans Code" panose="020B0509030502040204" pitchFamily="49" charset="0"/>
              </a:rPr>
              <a:t>'smtp.gmail.com'</a:t>
            </a:r>
            <a:r>
              <a:rPr lang="vi-VN" sz="1400" b="0" dirty="0">
                <a:solidFill>
                  <a:srgbClr val="000000"/>
                </a:solidFill>
                <a:effectLst/>
                <a:latin typeface="Google Sans Code" panose="020B0509030502040204" pitchFamily="49" charset="0"/>
              </a:rPr>
              <a:t> </a:t>
            </a:r>
            <a:r>
              <a:rPr lang="vi-VN" sz="1400" b="0" dirty="0">
                <a:solidFill>
                  <a:srgbClr val="008000"/>
                </a:solidFill>
                <a:effectLst/>
                <a:latin typeface="Google Sans Code" panose="020B0509030502040204" pitchFamily="49" charset="0"/>
              </a:rPr>
              <a:t>#máy chủ SMTP của </a:t>
            </a:r>
            <a:r>
              <a:rPr lang="vi-VN" sz="1400" b="0" dirty="0" err="1">
                <a:solidFill>
                  <a:srgbClr val="008000"/>
                </a:solidFill>
                <a:effectLst/>
                <a:latin typeface="Google Sans Code" panose="020B0509030502040204" pitchFamily="49" charset="0"/>
              </a:rPr>
              <a:t>Gmail</a:t>
            </a:r>
            <a:endParaRPr lang="vi-VN" sz="1400" b="0" dirty="0">
              <a:solidFill>
                <a:srgbClr val="000000"/>
              </a:solidFill>
              <a:effectLst/>
              <a:latin typeface="Google Sans Code" panose="020B0509030502040204" pitchFamily="49" charset="0"/>
            </a:endParaRPr>
          </a:p>
          <a:p>
            <a:r>
              <a:rPr lang="vi-VN" sz="1400" b="0" dirty="0" err="1">
                <a:solidFill>
                  <a:srgbClr val="000000"/>
                </a:solidFill>
                <a:effectLst/>
                <a:latin typeface="Google Sans Code" panose="020B0509030502040204" pitchFamily="49" charset="0"/>
              </a:rPr>
              <a:t>app.config</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'MAIL_PORT'</a:t>
            </a:r>
            <a:r>
              <a:rPr lang="vi-VN" sz="1400" b="0" dirty="0">
                <a:solidFill>
                  <a:srgbClr val="000000"/>
                </a:solidFill>
                <a:effectLst/>
                <a:latin typeface="Google Sans Code" panose="020B0509030502040204" pitchFamily="49" charset="0"/>
              </a:rPr>
              <a:t>] = </a:t>
            </a:r>
            <a:r>
              <a:rPr lang="vi-VN" sz="1400" b="0" dirty="0">
                <a:solidFill>
                  <a:srgbClr val="098658"/>
                </a:solidFill>
                <a:effectLst/>
                <a:latin typeface="Google Sans Code" panose="020B0509030502040204" pitchFamily="49" charset="0"/>
              </a:rPr>
              <a:t>587</a:t>
            </a:r>
            <a:r>
              <a:rPr lang="vi-VN" sz="1400" b="0" dirty="0">
                <a:solidFill>
                  <a:srgbClr val="000000"/>
                </a:solidFill>
                <a:effectLst/>
                <a:latin typeface="Google Sans Code" panose="020B0509030502040204" pitchFamily="49" charset="0"/>
              </a:rPr>
              <a:t> </a:t>
            </a:r>
            <a:r>
              <a:rPr lang="vi-VN" sz="1400" b="0" dirty="0">
                <a:solidFill>
                  <a:srgbClr val="008000"/>
                </a:solidFill>
                <a:effectLst/>
                <a:latin typeface="Google Sans Code" panose="020B0509030502040204" pitchFamily="49" charset="0"/>
              </a:rPr>
              <a:t>#cổng gửi </a:t>
            </a:r>
            <a:r>
              <a:rPr lang="vi-VN" sz="1400" b="0" dirty="0" err="1">
                <a:solidFill>
                  <a:srgbClr val="008000"/>
                </a:solidFill>
                <a:effectLst/>
                <a:latin typeface="Google Sans Code" panose="020B0509030502040204" pitchFamily="49" charset="0"/>
              </a:rPr>
              <a:t>mail</a:t>
            </a:r>
            <a:r>
              <a:rPr lang="vi-VN" sz="1400" b="0" dirty="0">
                <a:solidFill>
                  <a:srgbClr val="008000"/>
                </a:solidFill>
                <a:effectLst/>
                <a:latin typeface="Google Sans Code" panose="020B0509030502040204" pitchFamily="49" charset="0"/>
              </a:rPr>
              <a:t> </a:t>
            </a:r>
            <a:endParaRPr lang="vi-VN" sz="1400" b="0" dirty="0">
              <a:solidFill>
                <a:srgbClr val="000000"/>
              </a:solidFill>
              <a:effectLst/>
              <a:latin typeface="Google Sans Code" panose="020B0509030502040204" pitchFamily="49" charset="0"/>
            </a:endParaRPr>
          </a:p>
          <a:p>
            <a:r>
              <a:rPr lang="vi-VN" sz="1400" b="0" dirty="0" err="1">
                <a:solidFill>
                  <a:srgbClr val="000000"/>
                </a:solidFill>
                <a:effectLst/>
                <a:latin typeface="Google Sans Code" panose="020B0509030502040204" pitchFamily="49" charset="0"/>
              </a:rPr>
              <a:t>app.config</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'MAIL_USE_TLS'</a:t>
            </a:r>
            <a:r>
              <a:rPr lang="vi-VN" sz="1400" b="0" dirty="0">
                <a:solidFill>
                  <a:srgbClr val="000000"/>
                </a:solidFill>
                <a:effectLst/>
                <a:latin typeface="Google Sans Code" panose="020B0509030502040204" pitchFamily="49" charset="0"/>
              </a:rPr>
              <a:t>] = </a:t>
            </a:r>
            <a:r>
              <a:rPr lang="vi-VN" sz="1400" b="0" dirty="0" err="1">
                <a:solidFill>
                  <a:srgbClr val="0000FF"/>
                </a:solidFill>
                <a:effectLst/>
                <a:latin typeface="Google Sans Code" panose="020B0509030502040204" pitchFamily="49" charset="0"/>
              </a:rPr>
              <a:t>True</a:t>
            </a:r>
            <a:r>
              <a:rPr lang="vi-VN" sz="1400" b="0" dirty="0">
                <a:solidFill>
                  <a:srgbClr val="000000"/>
                </a:solidFill>
                <a:effectLst/>
                <a:latin typeface="Google Sans Code" panose="020B0509030502040204" pitchFamily="49" charset="0"/>
              </a:rPr>
              <a:t> </a:t>
            </a:r>
            <a:r>
              <a:rPr lang="vi-VN" sz="1400" b="0" dirty="0">
                <a:solidFill>
                  <a:srgbClr val="008000"/>
                </a:solidFill>
                <a:effectLst/>
                <a:latin typeface="Google Sans Code" panose="020B0509030502040204" pitchFamily="49" charset="0"/>
              </a:rPr>
              <a:t>#bật mã hóa TLS</a:t>
            </a:r>
            <a:endParaRPr lang="vi-VN" sz="1400" b="0" dirty="0">
              <a:solidFill>
                <a:srgbClr val="000000"/>
              </a:solidFill>
              <a:effectLst/>
              <a:latin typeface="Google Sans Code" panose="020B0509030502040204" pitchFamily="49" charset="0"/>
            </a:endParaRPr>
          </a:p>
          <a:p>
            <a:r>
              <a:rPr lang="vi-VN" sz="1400" b="0" dirty="0" err="1">
                <a:solidFill>
                  <a:srgbClr val="000000"/>
                </a:solidFill>
                <a:effectLst/>
                <a:latin typeface="Google Sans Code" panose="020B0509030502040204" pitchFamily="49" charset="0"/>
              </a:rPr>
              <a:t>app.config</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'MAIL_USERNAME'</a:t>
            </a:r>
            <a:r>
              <a:rPr lang="vi-VN" sz="1400" b="0" dirty="0">
                <a:solidFill>
                  <a:srgbClr val="000000"/>
                </a:solidFill>
                <a:effectLst/>
                <a:latin typeface="Google Sans Code" panose="020B0509030502040204" pitchFamily="49" charset="0"/>
              </a:rPr>
              <a:t>] = </a:t>
            </a:r>
            <a:r>
              <a:rPr lang="vi-VN" sz="1400" b="0" dirty="0">
                <a:solidFill>
                  <a:srgbClr val="A31515"/>
                </a:solidFill>
                <a:effectLst/>
                <a:latin typeface="Google Sans Code" panose="020B0509030502040204" pitchFamily="49" charset="0"/>
              </a:rPr>
              <a:t>‘</a:t>
            </a:r>
            <a:r>
              <a:rPr lang="vi-VN" sz="1400" b="0" dirty="0" err="1">
                <a:solidFill>
                  <a:srgbClr val="A31515"/>
                </a:solidFill>
                <a:effectLst/>
                <a:latin typeface="Google Sans Code" panose="020B0509030502040204" pitchFamily="49" charset="0"/>
              </a:rPr>
              <a:t>emailcuaban</a:t>
            </a:r>
            <a:r>
              <a:rPr lang="vi-VN" sz="1400" b="0" dirty="0">
                <a:solidFill>
                  <a:srgbClr val="A31515"/>
                </a:solidFill>
                <a:effectLst/>
                <a:latin typeface="Google Sans Code" panose="020B0509030502040204" pitchFamily="49" charset="0"/>
              </a:rPr>
              <a:t>'</a:t>
            </a:r>
            <a:r>
              <a:rPr lang="vi-VN" sz="1400" b="0" dirty="0">
                <a:solidFill>
                  <a:srgbClr val="000000"/>
                </a:solidFill>
                <a:effectLst/>
                <a:latin typeface="Google Sans Code" panose="020B0509030502040204" pitchFamily="49" charset="0"/>
              </a:rPr>
              <a:t> </a:t>
            </a:r>
          </a:p>
          <a:p>
            <a:r>
              <a:rPr lang="vi-VN" sz="1400" b="0" dirty="0" err="1">
                <a:solidFill>
                  <a:srgbClr val="000000"/>
                </a:solidFill>
                <a:effectLst/>
                <a:latin typeface="Google Sans Code" panose="020B0509030502040204" pitchFamily="49" charset="0"/>
              </a:rPr>
              <a:t>app.config</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'MAIL_PASSWORD'</a:t>
            </a:r>
            <a:r>
              <a:rPr lang="vi-VN" sz="1400" b="0" dirty="0">
                <a:solidFill>
                  <a:srgbClr val="000000"/>
                </a:solidFill>
                <a:effectLst/>
                <a:latin typeface="Google Sans Code" panose="020B0509030502040204" pitchFamily="49" charset="0"/>
              </a:rPr>
              <a:t>] = </a:t>
            </a:r>
            <a:r>
              <a:rPr lang="vi-VN" sz="1400" b="0" dirty="0">
                <a:solidFill>
                  <a:srgbClr val="A31515"/>
                </a:solidFill>
                <a:effectLst/>
                <a:latin typeface="Google Sans Code" panose="020B0509030502040204" pitchFamily="49" charset="0"/>
              </a:rPr>
              <a:t>‘</a:t>
            </a:r>
            <a:r>
              <a:rPr lang="vi-VN" sz="1400" b="0" dirty="0" err="1">
                <a:solidFill>
                  <a:srgbClr val="A31515"/>
                </a:solidFill>
                <a:effectLst/>
                <a:latin typeface="Google Sans Code" panose="020B0509030502040204" pitchFamily="49" charset="0"/>
              </a:rPr>
              <a:t>matkhaucuaban</a:t>
            </a:r>
            <a:r>
              <a:rPr lang="vi-VN" sz="1400" b="0" dirty="0">
                <a:solidFill>
                  <a:srgbClr val="A31515"/>
                </a:solidFill>
                <a:effectLst/>
                <a:latin typeface="Google Sans Code" panose="020B0509030502040204" pitchFamily="49" charset="0"/>
              </a:rPr>
              <a:t>'</a:t>
            </a:r>
            <a:endParaRPr lang="vi-VN" sz="1400" b="0" dirty="0">
              <a:solidFill>
                <a:srgbClr val="000000"/>
              </a:solidFill>
              <a:effectLst/>
              <a:latin typeface="Google Sans Code" panose="020B0509030502040204" pitchFamily="49" charset="0"/>
            </a:endParaRPr>
          </a:p>
        </p:txBody>
      </p:sp>
      <p:sp>
        <p:nvSpPr>
          <p:cNvPr id="21" name="TextBox 20">
            <a:extLst>
              <a:ext uri="{FF2B5EF4-FFF2-40B4-BE49-F238E27FC236}">
                <a16:creationId xmlns:a16="http://schemas.microsoft.com/office/drawing/2014/main" id="{BF140CDF-48AC-797F-F063-DFCAB58E0F03}"/>
              </a:ext>
            </a:extLst>
          </p:cNvPr>
          <p:cNvSpPr txBox="1"/>
          <p:nvPr/>
        </p:nvSpPr>
        <p:spPr>
          <a:xfrm>
            <a:off x="1716402" y="3957778"/>
            <a:ext cx="9027797" cy="307777"/>
          </a:xfrm>
          <a:prstGeom prst="rect">
            <a:avLst/>
          </a:prstGeom>
          <a:noFill/>
        </p:spPr>
        <p:txBody>
          <a:bodyPr wrap="square">
            <a:spAutoFit/>
          </a:bodyPr>
          <a:lstStyle/>
          <a:p>
            <a:r>
              <a:rPr lang="vi-VN" sz="1400" b="0" dirty="0" err="1">
                <a:solidFill>
                  <a:srgbClr val="000000"/>
                </a:solidFill>
                <a:effectLst/>
                <a:latin typeface="Google Sans Code" panose="020B0509030502040204" pitchFamily="49" charset="0"/>
              </a:rPr>
              <a:t>mail</a:t>
            </a:r>
            <a:r>
              <a:rPr lang="vi-VN" sz="1400" b="0" dirty="0">
                <a:solidFill>
                  <a:srgbClr val="000000"/>
                </a:solidFill>
                <a:effectLst/>
                <a:latin typeface="Google Sans Code" panose="020B0509030502040204" pitchFamily="49" charset="0"/>
              </a:rPr>
              <a:t> = </a:t>
            </a:r>
            <a:r>
              <a:rPr lang="vi-VN" sz="1400" b="0" dirty="0" err="1">
                <a:solidFill>
                  <a:srgbClr val="000000"/>
                </a:solidFill>
                <a:effectLst/>
                <a:latin typeface="Google Sans Code" panose="020B0509030502040204" pitchFamily="49" charset="0"/>
              </a:rPr>
              <a:t>Mail</a:t>
            </a:r>
            <a:r>
              <a:rPr lang="vi-VN" sz="1400" b="0" dirty="0">
                <a:solidFill>
                  <a:srgbClr val="000000"/>
                </a:solidFill>
                <a:effectLst/>
                <a:latin typeface="Google Sans Code" panose="020B0509030502040204" pitchFamily="49" charset="0"/>
              </a:rPr>
              <a:t>(</a:t>
            </a:r>
            <a:r>
              <a:rPr lang="vi-VN" sz="1400" b="0" dirty="0" err="1">
                <a:solidFill>
                  <a:srgbClr val="000000"/>
                </a:solidFill>
                <a:effectLst/>
                <a:latin typeface="Google Sans Code" panose="020B0509030502040204" pitchFamily="49" charset="0"/>
              </a:rPr>
              <a:t>app</a:t>
            </a:r>
            <a:r>
              <a:rPr lang="vi-VN" sz="1400" b="0" dirty="0">
                <a:solidFill>
                  <a:srgbClr val="000000"/>
                </a:solidFill>
                <a:effectLst/>
                <a:latin typeface="Google Sans Code" panose="020B0509030502040204" pitchFamily="49" charset="0"/>
              </a:rPr>
              <a:t>) </a:t>
            </a:r>
            <a:r>
              <a:rPr lang="vi-VN" sz="1400" b="0" dirty="0">
                <a:solidFill>
                  <a:srgbClr val="008000"/>
                </a:solidFill>
                <a:effectLst/>
                <a:latin typeface="Google Sans Code" panose="020B0509030502040204" pitchFamily="49" charset="0"/>
              </a:rPr>
              <a:t>#liên kết </a:t>
            </a:r>
            <a:r>
              <a:rPr lang="vi-VN" sz="1400" b="0" dirty="0" err="1">
                <a:solidFill>
                  <a:srgbClr val="008000"/>
                </a:solidFill>
                <a:effectLst/>
                <a:latin typeface="Google Sans Code" panose="020B0509030502040204" pitchFamily="49" charset="0"/>
              </a:rPr>
              <a:t>Flask-Mail</a:t>
            </a:r>
            <a:r>
              <a:rPr lang="vi-VN" sz="1400" b="0" dirty="0">
                <a:solidFill>
                  <a:srgbClr val="008000"/>
                </a:solidFill>
                <a:effectLst/>
                <a:latin typeface="Google Sans Code" panose="020B0509030502040204" pitchFamily="49" charset="0"/>
              </a:rPr>
              <a:t> với ứng dụng </a:t>
            </a:r>
            <a:r>
              <a:rPr lang="vi-VN" sz="1400" b="0" dirty="0" err="1">
                <a:solidFill>
                  <a:srgbClr val="008000"/>
                </a:solidFill>
                <a:effectLst/>
                <a:latin typeface="Google Sans Code" panose="020B0509030502040204" pitchFamily="49" charset="0"/>
              </a:rPr>
              <a:t>Flask</a:t>
            </a:r>
            <a:endParaRPr lang="vi-VN" sz="1400" b="0" dirty="0">
              <a:solidFill>
                <a:srgbClr val="000000"/>
              </a:solidFill>
              <a:effectLst/>
              <a:latin typeface="Google Sans Code" panose="020B0509030502040204" pitchFamily="49" charset="0"/>
            </a:endParaRPr>
          </a:p>
        </p:txBody>
      </p:sp>
      <p:sp>
        <p:nvSpPr>
          <p:cNvPr id="29" name="TextBox 28">
            <a:extLst>
              <a:ext uri="{FF2B5EF4-FFF2-40B4-BE49-F238E27FC236}">
                <a16:creationId xmlns:a16="http://schemas.microsoft.com/office/drawing/2014/main" id="{966A4871-290D-310D-2F5F-AAB1D8DF3BE7}"/>
              </a:ext>
            </a:extLst>
          </p:cNvPr>
          <p:cNvSpPr txBox="1"/>
          <p:nvPr/>
        </p:nvSpPr>
        <p:spPr>
          <a:xfrm>
            <a:off x="1712403" y="4265555"/>
            <a:ext cx="10170798" cy="523220"/>
          </a:xfrm>
          <a:prstGeom prst="rect">
            <a:avLst/>
          </a:prstGeom>
          <a:noFill/>
        </p:spPr>
        <p:txBody>
          <a:bodyPr wrap="square">
            <a:spAutoFit/>
          </a:bodyPr>
          <a:lstStyle/>
          <a:p>
            <a:r>
              <a:rPr lang="vi-VN" sz="1400" b="0" dirty="0">
                <a:solidFill>
                  <a:srgbClr val="000000"/>
                </a:solidFill>
                <a:effectLst/>
                <a:latin typeface="Google Sans Code" panose="020B0509030502040204" pitchFamily="49" charset="0"/>
              </a:rPr>
              <a:t>@app.route(</a:t>
            </a:r>
            <a:r>
              <a:rPr lang="vi-VN" sz="1400" b="0" dirty="0">
                <a:solidFill>
                  <a:srgbClr val="A31515"/>
                </a:solidFill>
                <a:effectLst/>
                <a:latin typeface="Google Sans Code" panose="020B0509030502040204" pitchFamily="49" charset="0"/>
              </a:rPr>
              <a:t>'/'</a:t>
            </a:r>
            <a:r>
              <a:rPr lang="vi-VN" sz="1400" b="0" dirty="0">
                <a:solidFill>
                  <a:srgbClr val="000000"/>
                </a:solidFill>
                <a:effectLst/>
                <a:latin typeface="Google Sans Code" panose="020B0509030502040204" pitchFamily="49" charset="0"/>
              </a:rPr>
              <a:t>) </a:t>
            </a:r>
          </a:p>
          <a:p>
            <a:r>
              <a:rPr lang="vi-VN" sz="1400" b="0" dirty="0">
                <a:solidFill>
                  <a:srgbClr val="008000"/>
                </a:solidFill>
                <a:effectLst/>
                <a:latin typeface="Google Sans Code" panose="020B0509030502040204" pitchFamily="49" charset="0"/>
              </a:rPr>
              <a:t>#nếu có ai truy cập vào đường dẫn này, thì hãy chạy hàm này</a:t>
            </a:r>
            <a:endParaRPr lang="vi-VN" sz="1400" b="0" dirty="0">
              <a:solidFill>
                <a:srgbClr val="000000"/>
              </a:solidFill>
              <a:effectLst/>
              <a:latin typeface="Google Sans Code" panose="020B0509030502040204" pitchFamily="49" charset="0"/>
            </a:endParaRPr>
          </a:p>
        </p:txBody>
      </p:sp>
      <p:sp>
        <p:nvSpPr>
          <p:cNvPr id="31" name="TextBox 30">
            <a:extLst>
              <a:ext uri="{FF2B5EF4-FFF2-40B4-BE49-F238E27FC236}">
                <a16:creationId xmlns:a16="http://schemas.microsoft.com/office/drawing/2014/main" id="{27DC9F34-B57C-B209-A8E5-D419F7A581B9}"/>
              </a:ext>
            </a:extLst>
          </p:cNvPr>
          <p:cNvSpPr txBox="1"/>
          <p:nvPr/>
        </p:nvSpPr>
        <p:spPr>
          <a:xfrm>
            <a:off x="1697354" y="4788775"/>
            <a:ext cx="6096000" cy="1384995"/>
          </a:xfrm>
          <a:prstGeom prst="rect">
            <a:avLst/>
          </a:prstGeom>
          <a:noFill/>
        </p:spPr>
        <p:txBody>
          <a:bodyPr wrap="square">
            <a:spAutoFit/>
          </a:bodyPr>
          <a:lstStyle/>
          <a:p>
            <a:r>
              <a:rPr lang="vi-VN" sz="1400" b="0" dirty="0" err="1">
                <a:solidFill>
                  <a:srgbClr val="0000FF"/>
                </a:solidFill>
                <a:effectLst/>
                <a:latin typeface="Google Sans Code" panose="020B0509030502040204" pitchFamily="49" charset="0"/>
              </a:rPr>
              <a:t>def</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send_email</a:t>
            </a:r>
            <a:r>
              <a:rPr lang="vi-VN" sz="1400" b="0" dirty="0">
                <a:solidFill>
                  <a:srgbClr val="000000"/>
                </a:solidFill>
                <a:effectLst/>
                <a:latin typeface="Google Sans Code" panose="020B0509030502040204" pitchFamily="49" charset="0"/>
              </a:rPr>
              <a:t>(): </a:t>
            </a:r>
          </a:p>
          <a:p>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msg</a:t>
            </a:r>
            <a:r>
              <a:rPr lang="vi-VN" sz="1400" b="0" dirty="0">
                <a:solidFill>
                  <a:srgbClr val="000000"/>
                </a:solidFill>
                <a:effectLst/>
                <a:latin typeface="Google Sans Code" panose="020B0509030502040204" pitchFamily="49" charset="0"/>
              </a:rPr>
              <a:t> = </a:t>
            </a:r>
            <a:r>
              <a:rPr lang="vi-VN" sz="1400" b="0" dirty="0" err="1">
                <a:solidFill>
                  <a:srgbClr val="000000"/>
                </a:solidFill>
                <a:effectLst/>
                <a:latin typeface="Google Sans Code" panose="020B0509030502040204" pitchFamily="49" charset="0"/>
              </a:rPr>
              <a:t>Message</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a:t>
            </a:r>
            <a:r>
              <a:rPr lang="vi-VN" sz="1400" b="0" dirty="0" err="1">
                <a:solidFill>
                  <a:srgbClr val="A31515"/>
                </a:solidFill>
                <a:effectLst/>
                <a:latin typeface="Google Sans Code" panose="020B0509030502040204" pitchFamily="49" charset="0"/>
              </a:rPr>
              <a:t>diemdanh</a:t>
            </a:r>
            <a:r>
              <a:rPr lang="vi-VN" sz="1400" b="0" dirty="0">
                <a:solidFill>
                  <a:srgbClr val="A31515"/>
                </a:solidFill>
                <a:effectLst/>
                <a:latin typeface="Google Sans Code" panose="020B0509030502040204" pitchFamily="49" charset="0"/>
              </a:rPr>
              <a:t>'</a:t>
            </a:r>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sender</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a:t>
            </a:r>
            <a:r>
              <a:rPr lang="vi-VN" sz="1400" b="0" dirty="0" err="1">
                <a:solidFill>
                  <a:srgbClr val="A31515"/>
                </a:solidFill>
                <a:effectLst/>
                <a:latin typeface="Google Sans Code" panose="020B0509030502040204" pitchFamily="49" charset="0"/>
              </a:rPr>
              <a:t>emailcuaban</a:t>
            </a:r>
            <a:r>
              <a:rPr lang="vi-VN" sz="1400" b="0" dirty="0">
                <a:solidFill>
                  <a:srgbClr val="A31515"/>
                </a:solidFill>
                <a:effectLst/>
                <a:latin typeface="Google Sans Code" panose="020B0509030502040204" pitchFamily="49" charset="0"/>
              </a:rPr>
              <a:t>'</a:t>
            </a:r>
            <a:r>
              <a:rPr lang="vi-VN" sz="1400" b="0" dirty="0">
                <a:solidFill>
                  <a:srgbClr val="000000"/>
                </a:solidFill>
                <a:effectLst/>
                <a:latin typeface="Google Sans Code" panose="020B0509030502040204" pitchFamily="49" charset="0"/>
              </a:rPr>
              <a:t>, </a:t>
            </a:r>
          </a:p>
          <a:p>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recipients</a:t>
            </a:r>
            <a:r>
              <a:rPr lang="vi-VN" sz="1400" b="0" dirty="0">
                <a:solidFill>
                  <a:srgbClr val="000000"/>
                </a:solidFill>
                <a:effectLst/>
                <a:latin typeface="Google Sans Code" panose="020B0509030502040204" pitchFamily="49" charset="0"/>
              </a:rPr>
              <a:t>=[</a:t>
            </a:r>
            <a:r>
              <a:rPr lang="vi-VN" sz="1400" b="0" dirty="0">
                <a:solidFill>
                  <a:srgbClr val="A31515"/>
                </a:solidFill>
                <a:effectLst/>
                <a:latin typeface="Google Sans Code" panose="020B0509030502040204" pitchFamily="49" charset="0"/>
              </a:rPr>
              <a:t>‘hngo0131@gmail.com'</a:t>
            </a:r>
            <a:r>
              <a:rPr lang="vi-VN" sz="1400" b="0" dirty="0">
                <a:solidFill>
                  <a:srgbClr val="000000"/>
                </a:solidFill>
                <a:effectLst/>
                <a:latin typeface="Google Sans Code" panose="020B0509030502040204" pitchFamily="49" charset="0"/>
              </a:rPr>
              <a:t>]) </a:t>
            </a:r>
          </a:p>
          <a:p>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msg.body</a:t>
            </a:r>
            <a:r>
              <a:rPr lang="vi-VN" sz="1400" b="0" dirty="0">
                <a:solidFill>
                  <a:srgbClr val="000000"/>
                </a:solidFill>
                <a:effectLst/>
                <a:latin typeface="Google Sans Code" panose="020B0509030502040204" pitchFamily="49" charset="0"/>
              </a:rPr>
              <a:t> = </a:t>
            </a:r>
            <a:r>
              <a:rPr lang="vi-VN" sz="1400" b="0" dirty="0">
                <a:solidFill>
                  <a:srgbClr val="A31515"/>
                </a:solidFill>
                <a:effectLst/>
                <a:latin typeface="Google Sans Code" panose="020B0509030502040204" pitchFamily="49" charset="0"/>
              </a:rPr>
              <a:t>‘</a:t>
            </a:r>
            <a:r>
              <a:rPr lang="vi-VN" sz="1400" dirty="0">
                <a:solidFill>
                  <a:srgbClr val="A31515"/>
                </a:solidFill>
                <a:latin typeface="Google Sans Code" panose="020B0509030502040204" pitchFamily="49" charset="0"/>
              </a:rPr>
              <a:t>họ và tên</a:t>
            </a:r>
            <a:r>
              <a:rPr lang="vi-VN" sz="1400" b="0" dirty="0">
                <a:solidFill>
                  <a:srgbClr val="A31515"/>
                </a:solidFill>
                <a:effectLst/>
                <a:latin typeface="Google Sans Code" panose="020B0509030502040204" pitchFamily="49" charset="0"/>
              </a:rPr>
              <a:t>'</a:t>
            </a:r>
            <a:r>
              <a:rPr lang="vi-VN" sz="1400" b="0" dirty="0">
                <a:solidFill>
                  <a:srgbClr val="000000"/>
                </a:solidFill>
                <a:effectLst/>
                <a:latin typeface="Google Sans Code" panose="020B0509030502040204" pitchFamily="49" charset="0"/>
              </a:rPr>
              <a:t> </a:t>
            </a:r>
          </a:p>
          <a:p>
            <a:r>
              <a:rPr lang="vi-VN" sz="1400" b="0" dirty="0">
                <a:solidFill>
                  <a:srgbClr val="000000"/>
                </a:solidFill>
                <a:effectLst/>
                <a:latin typeface="Google Sans Code" panose="020B0509030502040204" pitchFamily="49" charset="0"/>
              </a:rPr>
              <a:t>    </a:t>
            </a:r>
            <a:r>
              <a:rPr lang="vi-VN" sz="1400" b="0" dirty="0" err="1">
                <a:solidFill>
                  <a:srgbClr val="000000"/>
                </a:solidFill>
                <a:effectLst/>
                <a:latin typeface="Google Sans Code" panose="020B0509030502040204" pitchFamily="49" charset="0"/>
              </a:rPr>
              <a:t>mail.send</a:t>
            </a:r>
            <a:r>
              <a:rPr lang="vi-VN" sz="1400" b="0" dirty="0">
                <a:solidFill>
                  <a:srgbClr val="000000"/>
                </a:solidFill>
                <a:effectLst/>
                <a:latin typeface="Google Sans Code" panose="020B0509030502040204" pitchFamily="49" charset="0"/>
              </a:rPr>
              <a:t>(</a:t>
            </a:r>
            <a:r>
              <a:rPr lang="vi-VN" sz="1400" b="0" dirty="0" err="1">
                <a:solidFill>
                  <a:srgbClr val="000000"/>
                </a:solidFill>
                <a:effectLst/>
                <a:latin typeface="Google Sans Code" panose="020B0509030502040204" pitchFamily="49" charset="0"/>
              </a:rPr>
              <a:t>msg</a:t>
            </a:r>
            <a:r>
              <a:rPr lang="vi-VN" sz="1400" b="0" dirty="0">
                <a:solidFill>
                  <a:srgbClr val="000000"/>
                </a:solidFill>
                <a:effectLst/>
                <a:latin typeface="Google Sans Code" panose="020B0509030502040204" pitchFamily="49" charset="0"/>
              </a:rPr>
              <a:t>) </a:t>
            </a:r>
          </a:p>
          <a:p>
            <a:r>
              <a:rPr lang="vi-VN" sz="1400" b="0" dirty="0">
                <a:solidFill>
                  <a:srgbClr val="000000"/>
                </a:solidFill>
                <a:effectLst/>
                <a:latin typeface="Google Sans Code" panose="020B0509030502040204" pitchFamily="49" charset="0"/>
              </a:rPr>
              <a:t>    </a:t>
            </a:r>
            <a:r>
              <a:rPr lang="vi-VN" sz="1400" b="0" dirty="0" err="1">
                <a:solidFill>
                  <a:srgbClr val="0000FF"/>
                </a:solidFill>
                <a:effectLst/>
                <a:latin typeface="Google Sans Code" panose="020B0509030502040204" pitchFamily="49" charset="0"/>
              </a:rPr>
              <a:t>return</a:t>
            </a:r>
            <a:r>
              <a:rPr lang="vi-VN" sz="1400" b="0" dirty="0">
                <a:solidFill>
                  <a:srgbClr val="000000"/>
                </a:solidFill>
                <a:effectLst/>
                <a:latin typeface="Google Sans Code" panose="020B0509030502040204" pitchFamily="49" charset="0"/>
              </a:rPr>
              <a:t> </a:t>
            </a:r>
            <a:r>
              <a:rPr lang="vi-VN" sz="1400" b="0" dirty="0">
                <a:solidFill>
                  <a:srgbClr val="A31515"/>
                </a:solidFill>
                <a:effectLst/>
                <a:latin typeface="Google Sans Code" panose="020B0509030502040204" pitchFamily="49" charset="0"/>
              </a:rPr>
              <a:t>'</a:t>
            </a:r>
            <a:r>
              <a:rPr lang="vi-VN" sz="1400" b="0" dirty="0" err="1">
                <a:solidFill>
                  <a:srgbClr val="A31515"/>
                </a:solidFill>
                <a:effectLst/>
                <a:latin typeface="Google Sans Code" panose="020B0509030502040204" pitchFamily="49" charset="0"/>
              </a:rPr>
              <a:t>Email</a:t>
            </a:r>
            <a:r>
              <a:rPr lang="vi-VN" sz="1400" b="0" dirty="0">
                <a:solidFill>
                  <a:srgbClr val="A31515"/>
                </a:solidFill>
                <a:effectLst/>
                <a:latin typeface="Google Sans Code" panose="020B0509030502040204" pitchFamily="49" charset="0"/>
              </a:rPr>
              <a:t> </a:t>
            </a:r>
            <a:r>
              <a:rPr lang="vi-VN" sz="1400" b="0" dirty="0" err="1">
                <a:solidFill>
                  <a:srgbClr val="A31515"/>
                </a:solidFill>
                <a:effectLst/>
                <a:latin typeface="Google Sans Code" panose="020B0509030502040204" pitchFamily="49" charset="0"/>
              </a:rPr>
              <a:t>sent</a:t>
            </a:r>
            <a:r>
              <a:rPr lang="vi-VN" sz="1400" b="0" dirty="0">
                <a:solidFill>
                  <a:srgbClr val="A31515"/>
                </a:solidFill>
                <a:effectLst/>
                <a:latin typeface="Google Sans Code" panose="020B0509030502040204" pitchFamily="49" charset="0"/>
              </a:rPr>
              <a:t>'</a:t>
            </a:r>
            <a:r>
              <a:rPr lang="vi-VN" sz="1400" b="0" dirty="0">
                <a:solidFill>
                  <a:srgbClr val="000000"/>
                </a:solidFill>
                <a:effectLst/>
                <a:latin typeface="Google Sans Code" panose="020B0509030502040204" pitchFamily="49" charset="0"/>
              </a:rPr>
              <a:t> </a:t>
            </a:r>
          </a:p>
        </p:txBody>
      </p:sp>
    </p:spTree>
    <p:extLst>
      <p:ext uri="{BB962C8B-B14F-4D97-AF65-F5344CB8AC3E}">
        <p14:creationId xmlns:p14="http://schemas.microsoft.com/office/powerpoint/2010/main" val="126508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9"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22"/>
            <a:ext cx="12192000" cy="6859905"/>
            <a:chOff x="0" y="-1522"/>
            <a:chExt cx="12192000" cy="6859905"/>
          </a:xfrm>
        </p:grpSpPr>
        <p:pic>
          <p:nvPicPr>
            <p:cNvPr id="3" name="object 3"/>
            <p:cNvPicPr/>
            <p:nvPr/>
          </p:nvPicPr>
          <p:blipFill>
            <a:blip r:embed="rId2" cstate="print"/>
            <a:stretch>
              <a:fillRect/>
            </a:stretch>
          </p:blipFill>
          <p:spPr>
            <a:xfrm>
              <a:off x="0" y="-1522"/>
              <a:ext cx="2851404" cy="6859523"/>
            </a:xfrm>
            <a:prstGeom prst="rect">
              <a:avLst/>
            </a:prstGeom>
          </p:spPr>
        </p:pic>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gr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2671647" y="630809"/>
            <a:ext cx="3881553" cy="566822"/>
          </a:xfrm>
          <a:prstGeom prst="rect">
            <a:avLst/>
          </a:prstGeom>
        </p:spPr>
        <p:txBody>
          <a:bodyPr vert="horz" wrap="square" lIns="0" tIns="12700" rIns="0" bIns="0" rtlCol="0">
            <a:spAutoFit/>
          </a:bodyPr>
          <a:lstStyle/>
          <a:p>
            <a:pPr marL="12700">
              <a:lnSpc>
                <a:spcPct val="100000"/>
              </a:lnSpc>
              <a:spcBef>
                <a:spcPts val="100"/>
              </a:spcBef>
              <a:tabLst>
                <a:tab pos="2021839" algn="l"/>
              </a:tabLst>
            </a:pPr>
            <a:r>
              <a:rPr lang="vi-VN" b="1" spc="-10" dirty="0"/>
              <a:t>Tổng kết</a:t>
            </a:r>
            <a:r>
              <a:rPr b="1" dirty="0"/>
              <a:t>	</a:t>
            </a:r>
            <a:r>
              <a:rPr b="1" spc="-40" dirty="0"/>
              <a:t>[1-</a:t>
            </a:r>
            <a:r>
              <a:rPr b="1" spc="-25" dirty="0"/>
              <a:t>2]</a:t>
            </a:r>
          </a:p>
        </p:txBody>
      </p:sp>
      <p:sp>
        <p:nvSpPr>
          <p:cNvPr id="27" name="TextBox 26">
            <a:extLst>
              <a:ext uri="{FF2B5EF4-FFF2-40B4-BE49-F238E27FC236}">
                <a16:creationId xmlns:a16="http://schemas.microsoft.com/office/drawing/2014/main" id="{F12F2494-E5F0-DB9C-E48D-EC2EFE45FDE1}"/>
              </a:ext>
            </a:extLst>
          </p:cNvPr>
          <p:cNvSpPr txBox="1"/>
          <p:nvPr/>
        </p:nvSpPr>
        <p:spPr>
          <a:xfrm>
            <a:off x="1295400" y="1752600"/>
            <a:ext cx="10363200" cy="3970318"/>
          </a:xfrm>
          <a:prstGeom prst="rect">
            <a:avLst/>
          </a:prstGeom>
          <a:noFill/>
        </p:spPr>
        <p:txBody>
          <a:bodyPr wrap="square">
            <a:spAutoFit/>
          </a:bodyPr>
          <a:lstStyle/>
          <a:p>
            <a:pPr marL="285750" indent="-285750">
              <a:buFont typeface="Wingdings" panose="05000000000000000000" pitchFamily="2" charset="2"/>
              <a:buChar char="§"/>
            </a:pPr>
            <a:r>
              <a:rPr lang="vi-VN" b="1" dirty="0"/>
              <a:t>Thư viện </a:t>
            </a:r>
            <a:r>
              <a:rPr lang="vi-VN" b="1" dirty="0" err="1"/>
              <a:t>poplib</a:t>
            </a:r>
            <a:r>
              <a:rPr lang="vi-VN" b="1" dirty="0"/>
              <a:t> trong </a:t>
            </a:r>
            <a:r>
              <a:rPr lang="vi-VN" b="1" dirty="0" err="1"/>
              <a:t>Python</a:t>
            </a:r>
            <a:r>
              <a:rPr lang="vi-VN" b="1" dirty="0"/>
              <a:t> cung cấp một cách đơn giản để lấy tin nhắn </a:t>
            </a:r>
            <a:r>
              <a:rPr lang="vi-VN" b="1" dirty="0" err="1"/>
              <a:t>email</a:t>
            </a:r>
            <a:r>
              <a:rPr lang="vi-VN" b="1" dirty="0"/>
              <a:t> bằng POP.</a:t>
            </a:r>
          </a:p>
          <a:p>
            <a:pPr marL="285750" indent="-285750">
              <a:buFont typeface="Wingdings" panose="05000000000000000000" pitchFamily="2" charset="2"/>
              <a:buChar char="§"/>
            </a:pPr>
            <a:endParaRPr lang="vi-VN" b="1" dirty="0"/>
          </a:p>
          <a:p>
            <a:pPr marL="285750" indent="-285750">
              <a:buFont typeface="Wingdings" panose="05000000000000000000" pitchFamily="2" charset="2"/>
              <a:buChar char="§"/>
            </a:pPr>
            <a:r>
              <a:rPr lang="vi-VN" b="1" dirty="0" err="1"/>
              <a:t>Python</a:t>
            </a:r>
            <a:r>
              <a:rPr lang="vi-VN" b="1" dirty="0"/>
              <a:t> cũng cung cấp các công cụ như </a:t>
            </a:r>
            <a:r>
              <a:rPr lang="vi-VN" b="1" dirty="0" err="1"/>
              <a:t>Thunderbird</a:t>
            </a:r>
            <a:r>
              <a:rPr lang="vi-VN" b="1" dirty="0"/>
              <a:t>, </a:t>
            </a:r>
            <a:r>
              <a:rPr lang="vi-VN" b="1" dirty="0" err="1"/>
              <a:t>Hiri</a:t>
            </a:r>
            <a:r>
              <a:rPr lang="vi-VN" b="1" dirty="0"/>
              <a:t>, </a:t>
            </a:r>
            <a:r>
              <a:rPr lang="vi-VN" b="1" dirty="0" err="1"/>
              <a:t>Boomerang</a:t>
            </a:r>
            <a:r>
              <a:rPr lang="vi-VN" b="1" dirty="0"/>
              <a:t> cho </a:t>
            </a:r>
            <a:r>
              <a:rPr lang="vi-VN" b="1" dirty="0" err="1"/>
              <a:t>Gmail</a:t>
            </a:r>
            <a:r>
              <a:rPr lang="vi-VN" b="1" dirty="0"/>
              <a:t>, </a:t>
            </a:r>
            <a:r>
              <a:rPr lang="vi-VN" b="1" dirty="0" err="1"/>
              <a:t>Mailbird</a:t>
            </a:r>
            <a:r>
              <a:rPr lang="vi-VN" b="1" dirty="0"/>
              <a:t> và </a:t>
            </a:r>
            <a:r>
              <a:rPr lang="vi-VN" b="1" dirty="0" err="1"/>
              <a:t>Polymail</a:t>
            </a:r>
            <a:r>
              <a:rPr lang="vi-VN" b="1" dirty="0"/>
              <a:t> để quản lý giao tiếp qua </a:t>
            </a:r>
            <a:r>
              <a:rPr lang="vi-VN" b="1" dirty="0" err="1"/>
              <a:t>email</a:t>
            </a:r>
            <a:r>
              <a:rPr lang="vi-VN" b="1" dirty="0"/>
              <a:t>.</a:t>
            </a:r>
          </a:p>
          <a:p>
            <a:pPr marL="285750" indent="-285750">
              <a:buFont typeface="Wingdings" panose="05000000000000000000" pitchFamily="2" charset="2"/>
              <a:buChar char="§"/>
            </a:pPr>
            <a:endParaRPr lang="vi-VN" b="1" dirty="0"/>
          </a:p>
          <a:p>
            <a:pPr marL="285750" indent="-285750">
              <a:buFont typeface="Wingdings" panose="05000000000000000000" pitchFamily="2" charset="2"/>
              <a:buChar char="§"/>
            </a:pPr>
            <a:r>
              <a:rPr lang="vi-VN" b="1" dirty="0"/>
              <a:t>Khi làm việc với thư </a:t>
            </a:r>
            <a:r>
              <a:rPr lang="vi-VN" b="1" dirty="0" err="1"/>
              <a:t>email</a:t>
            </a:r>
            <a:r>
              <a:rPr lang="vi-VN" b="1" dirty="0"/>
              <a:t> trong </a:t>
            </a:r>
            <a:r>
              <a:rPr lang="vi-VN" b="1" dirty="0" err="1"/>
              <a:t>Python</a:t>
            </a:r>
            <a:r>
              <a:rPr lang="vi-VN" b="1" dirty="0"/>
              <a:t>, điều quan trọng là phải đảm bảo định dạng và mã hóa phù hợp để tránh các vấn đề liên quan đến việc gửi thư.</a:t>
            </a:r>
          </a:p>
          <a:p>
            <a:pPr marL="285750" indent="-285750">
              <a:buFont typeface="Wingdings" panose="05000000000000000000" pitchFamily="2" charset="2"/>
              <a:buChar char="§"/>
            </a:pPr>
            <a:endParaRPr lang="vi-VN" b="1" dirty="0"/>
          </a:p>
          <a:p>
            <a:pPr marL="285750" indent="-285750">
              <a:buFont typeface="Wingdings" panose="05000000000000000000" pitchFamily="2" charset="2"/>
              <a:buChar char="§"/>
            </a:pPr>
            <a:r>
              <a:rPr lang="vi-VN" b="1" dirty="0" err="1"/>
              <a:t>Python</a:t>
            </a:r>
            <a:r>
              <a:rPr lang="vi-VN" b="1" dirty="0"/>
              <a:t> cũng cung cấp các công cụ như </a:t>
            </a:r>
            <a:r>
              <a:rPr lang="vi-VN" b="1" dirty="0" err="1"/>
              <a:t>Pandas</a:t>
            </a:r>
            <a:r>
              <a:rPr lang="vi-VN" b="1" dirty="0"/>
              <a:t> và </a:t>
            </a:r>
            <a:r>
              <a:rPr lang="vi-VN" b="1" dirty="0" err="1"/>
              <a:t>Numpy</a:t>
            </a:r>
            <a:r>
              <a:rPr lang="vi-VN" b="1" dirty="0"/>
              <a:t> để phân tích và xử lý dữ liệu </a:t>
            </a:r>
            <a:r>
              <a:rPr lang="vi-VN" b="1" dirty="0" err="1"/>
              <a:t>email</a:t>
            </a:r>
            <a:r>
              <a:rPr lang="vi-VN" b="1" dirty="0"/>
              <a:t>.</a:t>
            </a:r>
          </a:p>
          <a:p>
            <a:pPr marL="285750" indent="-285750">
              <a:buFont typeface="Wingdings" panose="05000000000000000000" pitchFamily="2" charset="2"/>
              <a:buChar char="§"/>
            </a:pPr>
            <a:endParaRPr lang="vi-VN" b="1" dirty="0"/>
          </a:p>
          <a:p>
            <a:pPr marL="285750" indent="-285750">
              <a:buFont typeface="Wingdings" panose="05000000000000000000" pitchFamily="2" charset="2"/>
              <a:buChar char="§"/>
            </a:pPr>
            <a:r>
              <a:rPr lang="vi-VN" b="1" dirty="0"/>
              <a:t>Việc sử dụng các thư viện và công cụ </a:t>
            </a:r>
            <a:r>
              <a:rPr lang="vi-VN" b="1" dirty="0" err="1"/>
              <a:t>Python</a:t>
            </a:r>
            <a:r>
              <a:rPr lang="vi-VN" b="1" dirty="0"/>
              <a:t> để gửi </a:t>
            </a:r>
            <a:r>
              <a:rPr lang="vi-VN" b="1" dirty="0" err="1"/>
              <a:t>email</a:t>
            </a:r>
            <a:r>
              <a:rPr lang="vi-VN" b="1" dirty="0"/>
              <a:t> có thể đơn giản hóa đáng kể quy trình giao tiếp qua </a:t>
            </a:r>
            <a:r>
              <a:rPr lang="vi-VN" b="1" dirty="0" err="1"/>
              <a:t>email</a:t>
            </a:r>
            <a:r>
              <a:rPr lang="vi-VN" b="1" dirty="0"/>
              <a:t>, đặc biệt là khi xử lý lượng lớn dữ liệu </a:t>
            </a:r>
            <a:r>
              <a:rPr lang="vi-VN" b="1" dirty="0" err="1"/>
              <a:t>email</a:t>
            </a:r>
            <a:r>
              <a:rPr lang="vi-VN" b="1"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D52"/>
          </a:solidFill>
        </p:spPr>
        <p:txBody>
          <a:bodyPr wrap="square" lIns="0" tIns="0" rIns="0" bIns="0" rtlCol="0"/>
          <a:lstStyle/>
          <a:p>
            <a:endParaRPr/>
          </a:p>
        </p:txBody>
      </p:sp>
      <p:sp>
        <p:nvSpPr>
          <p:cNvPr id="5" name="object 5"/>
          <p:cNvSpPr/>
          <p:nvPr/>
        </p:nvSpPr>
        <p:spPr>
          <a:xfrm>
            <a:off x="0" y="714755"/>
            <a:ext cx="1592580" cy="508000"/>
          </a:xfrm>
          <a:custGeom>
            <a:avLst/>
            <a:gdLst/>
            <a:ahLst/>
            <a:cxnLst/>
            <a:rect l="l" t="t" r="r" b="b"/>
            <a:pathLst>
              <a:path w="1592580" h="508000">
                <a:moveTo>
                  <a:pt x="0" y="0"/>
                </a:moveTo>
                <a:lnTo>
                  <a:pt x="0" y="503948"/>
                </a:lnTo>
                <a:lnTo>
                  <a:pt x="1245843" y="507491"/>
                </a:lnTo>
                <a:lnTo>
                  <a:pt x="1346225" y="507491"/>
                </a:lnTo>
                <a:lnTo>
                  <a:pt x="1352410" y="501103"/>
                </a:lnTo>
                <a:lnTo>
                  <a:pt x="1354302" y="499579"/>
                </a:lnTo>
                <a:lnTo>
                  <a:pt x="1584960" y="268922"/>
                </a:lnTo>
                <a:lnTo>
                  <a:pt x="1590268" y="261759"/>
                </a:lnTo>
                <a:lnTo>
                  <a:pt x="1592046" y="254609"/>
                </a:lnTo>
                <a:lnTo>
                  <a:pt x="1590268" y="247446"/>
                </a:lnTo>
                <a:lnTo>
                  <a:pt x="1584960" y="240296"/>
                </a:lnTo>
                <a:lnTo>
                  <a:pt x="1355852" y="11264"/>
                </a:lnTo>
                <a:lnTo>
                  <a:pt x="1350860" y="11264"/>
                </a:lnTo>
                <a:lnTo>
                  <a:pt x="1350860" y="6502"/>
                </a:lnTo>
                <a:lnTo>
                  <a:pt x="1346225" y="6502"/>
                </a:lnTo>
                <a:lnTo>
                  <a:pt x="1341412" y="1727"/>
                </a:lnTo>
                <a:lnTo>
                  <a:pt x="0" y="0"/>
                </a:lnTo>
                <a:close/>
              </a:path>
            </a:pathLst>
          </a:custGeom>
          <a:solidFill>
            <a:srgbClr val="A42E10"/>
          </a:solidFill>
        </p:spPr>
        <p:txBody>
          <a:bodyPr wrap="square" lIns="0" tIns="0" rIns="0" bIns="0" rtlCol="0"/>
          <a:lstStyle/>
          <a:p>
            <a:endParaRPr/>
          </a:p>
        </p:txBody>
      </p:sp>
      <p:sp>
        <p:nvSpPr>
          <p:cNvPr id="6" name="object 6"/>
          <p:cNvSpPr txBox="1">
            <a:spLocks noGrp="1"/>
          </p:cNvSpPr>
          <p:nvPr>
            <p:ph type="title"/>
          </p:nvPr>
        </p:nvSpPr>
        <p:spPr>
          <a:xfrm>
            <a:off x="2671647" y="630809"/>
            <a:ext cx="3957753" cy="566822"/>
          </a:xfrm>
          <a:prstGeom prst="rect">
            <a:avLst/>
          </a:prstGeom>
        </p:spPr>
        <p:txBody>
          <a:bodyPr vert="horz" wrap="square" lIns="0" tIns="12700" rIns="0" bIns="0" rtlCol="0">
            <a:spAutoFit/>
          </a:bodyPr>
          <a:lstStyle/>
          <a:p>
            <a:pPr marL="12700">
              <a:lnSpc>
                <a:spcPct val="100000"/>
              </a:lnSpc>
              <a:spcBef>
                <a:spcPts val="100"/>
              </a:spcBef>
              <a:tabLst>
                <a:tab pos="2021839" algn="l"/>
              </a:tabLst>
            </a:pPr>
            <a:r>
              <a:rPr lang="vi-VN" b="1" spc="-10" dirty="0"/>
              <a:t>Tổng kết</a:t>
            </a:r>
            <a:r>
              <a:rPr b="1" dirty="0"/>
              <a:t>	</a:t>
            </a:r>
            <a:r>
              <a:rPr b="1" spc="-40" dirty="0"/>
              <a:t>[2-</a:t>
            </a:r>
            <a:r>
              <a:rPr b="1" spc="-25" dirty="0"/>
              <a:t>2]</a:t>
            </a:r>
          </a:p>
        </p:txBody>
      </p:sp>
      <p:sp>
        <p:nvSpPr>
          <p:cNvPr id="7" name="object 7"/>
          <p:cNvSpPr txBox="1"/>
          <p:nvPr/>
        </p:nvSpPr>
        <p:spPr>
          <a:xfrm>
            <a:off x="2539885" y="6317563"/>
            <a:ext cx="137287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rebuchet MS"/>
                <a:cs typeface="Trebuchet MS"/>
              </a:rPr>
              <a:t>Emails</a:t>
            </a:r>
            <a:r>
              <a:rPr sz="1200" b="1" spc="-80" dirty="0">
                <a:latin typeface="Trebuchet MS"/>
                <a:cs typeface="Trebuchet MS"/>
              </a:rPr>
              <a:t> </a:t>
            </a:r>
            <a:r>
              <a:rPr sz="1200" b="1" dirty="0">
                <a:latin typeface="Trebuchet MS"/>
                <a:cs typeface="Trebuchet MS"/>
              </a:rPr>
              <a:t>with</a:t>
            </a:r>
            <a:r>
              <a:rPr sz="1200" b="1" spc="-55" dirty="0">
                <a:latin typeface="Trebuchet MS"/>
                <a:cs typeface="Trebuchet MS"/>
              </a:rPr>
              <a:t> </a:t>
            </a:r>
            <a:r>
              <a:rPr sz="1200" b="1" spc="-10" dirty="0">
                <a:latin typeface="Trebuchet MS"/>
                <a:cs typeface="Trebuchet MS"/>
              </a:rPr>
              <a:t>Python</a:t>
            </a:r>
            <a:endParaRPr sz="1200">
              <a:latin typeface="Trebuchet MS"/>
              <a:cs typeface="Trebuchet MS"/>
            </a:endParaRPr>
          </a:p>
        </p:txBody>
      </p:sp>
      <p:sp>
        <p:nvSpPr>
          <p:cNvPr id="8" name="object 8"/>
          <p:cNvSpPr txBox="1"/>
          <p:nvPr/>
        </p:nvSpPr>
        <p:spPr>
          <a:xfrm>
            <a:off x="6885825" y="6317563"/>
            <a:ext cx="100520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rebuchet MS"/>
                <a:cs typeface="Trebuchet MS"/>
              </a:rPr>
              <a:t>©</a:t>
            </a:r>
            <a:r>
              <a:rPr sz="1200" b="1" spc="-40" dirty="0">
                <a:latin typeface="Trebuchet MS"/>
                <a:cs typeface="Trebuchet MS"/>
              </a:rPr>
              <a:t> </a:t>
            </a:r>
            <a:r>
              <a:rPr sz="1200" b="1" dirty="0">
                <a:latin typeface="Trebuchet MS"/>
                <a:cs typeface="Trebuchet MS"/>
              </a:rPr>
              <a:t>Aptech</a:t>
            </a:r>
            <a:r>
              <a:rPr sz="1200" b="1" spc="-20" dirty="0">
                <a:latin typeface="Trebuchet MS"/>
                <a:cs typeface="Trebuchet MS"/>
              </a:rPr>
              <a:t> Ltd.</a:t>
            </a:r>
            <a:endParaRPr sz="1200">
              <a:latin typeface="Trebuchet MS"/>
              <a:cs typeface="Trebuchet MS"/>
            </a:endParaRPr>
          </a:p>
        </p:txBody>
      </p:sp>
      <p:sp>
        <p:nvSpPr>
          <p:cNvPr id="9" name="object 9"/>
          <p:cNvSpPr txBox="1"/>
          <p:nvPr/>
        </p:nvSpPr>
        <p:spPr>
          <a:xfrm>
            <a:off x="11367046" y="6317563"/>
            <a:ext cx="201295"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Trebuchet MS"/>
                <a:cs typeface="Trebuchet MS"/>
              </a:rPr>
              <a:t>10</a:t>
            </a:r>
            <a:endParaRPr sz="1200">
              <a:latin typeface="Trebuchet MS"/>
              <a:cs typeface="Trebuchet MS"/>
            </a:endParaRPr>
          </a:p>
        </p:txBody>
      </p:sp>
      <p:sp>
        <p:nvSpPr>
          <p:cNvPr id="18" name="TextBox 17">
            <a:extLst>
              <a:ext uri="{FF2B5EF4-FFF2-40B4-BE49-F238E27FC236}">
                <a16:creationId xmlns:a16="http://schemas.microsoft.com/office/drawing/2014/main" id="{6E495A4D-FAE5-BECF-DEC3-7CA53AA282EA}"/>
              </a:ext>
            </a:extLst>
          </p:cNvPr>
          <p:cNvSpPr txBox="1"/>
          <p:nvPr/>
        </p:nvSpPr>
        <p:spPr>
          <a:xfrm>
            <a:off x="952093" y="1286911"/>
            <a:ext cx="10515600" cy="4524315"/>
          </a:xfrm>
          <a:prstGeom prst="rect">
            <a:avLst/>
          </a:prstGeom>
          <a:noFill/>
        </p:spPr>
        <p:txBody>
          <a:bodyPr wrap="square">
            <a:spAutoFit/>
          </a:bodyPr>
          <a:lstStyle/>
          <a:p>
            <a:endParaRPr lang="vi-VN" b="1" dirty="0"/>
          </a:p>
          <a:p>
            <a:r>
              <a:rPr lang="vi-VN" b="1" dirty="0"/>
              <a:t>Khi làm việc với thư </a:t>
            </a:r>
            <a:r>
              <a:rPr lang="vi-VN" b="1" dirty="0" err="1"/>
              <a:t>email</a:t>
            </a:r>
            <a:r>
              <a:rPr lang="vi-VN" b="1" dirty="0"/>
              <a:t> trong </a:t>
            </a:r>
            <a:r>
              <a:rPr lang="vi-VN" b="1" dirty="0" err="1"/>
              <a:t>Python</a:t>
            </a:r>
            <a:r>
              <a:rPr lang="vi-VN" b="1" dirty="0"/>
              <a:t>, điều quan trọng là phải quen thuộc với các giao thức </a:t>
            </a:r>
            <a:r>
              <a:rPr lang="vi-VN" b="1" dirty="0" err="1"/>
              <a:t>email</a:t>
            </a:r>
            <a:r>
              <a:rPr lang="vi-VN" b="1" dirty="0"/>
              <a:t> phổ biến như SMTP, IMAP và POP và hiểu cách sử dụng các giao thức này để tương tác với máy chủ </a:t>
            </a:r>
            <a:r>
              <a:rPr lang="vi-VN" b="1" dirty="0" err="1"/>
              <a:t>email</a:t>
            </a:r>
            <a:r>
              <a:rPr lang="vi-VN" b="1" dirty="0"/>
              <a:t>.</a:t>
            </a:r>
          </a:p>
          <a:p>
            <a:endParaRPr lang="vi-VN" b="1" dirty="0"/>
          </a:p>
          <a:p>
            <a:r>
              <a:rPr lang="vi-VN" b="1" dirty="0" err="1"/>
              <a:t>Python</a:t>
            </a:r>
            <a:r>
              <a:rPr lang="vi-VN" b="1" dirty="0"/>
              <a:t> cũng cung cấp cách tích hợp với các dịch vụ </a:t>
            </a:r>
            <a:r>
              <a:rPr lang="vi-VN" b="1" dirty="0" err="1"/>
              <a:t>email</a:t>
            </a:r>
            <a:r>
              <a:rPr lang="vi-VN" b="1" dirty="0"/>
              <a:t> phổ biến như </a:t>
            </a:r>
            <a:r>
              <a:rPr lang="vi-VN" b="1" dirty="0" err="1"/>
              <a:t>Gmail</a:t>
            </a:r>
            <a:r>
              <a:rPr lang="vi-VN" b="1" dirty="0"/>
              <a:t> và Outlook bằng cách sử dụng các thư viện như thư viện máy khách </a:t>
            </a:r>
            <a:r>
              <a:rPr lang="vi-VN" b="1" dirty="0" err="1"/>
              <a:t>Google</a:t>
            </a:r>
            <a:r>
              <a:rPr lang="vi-VN" b="1" dirty="0"/>
              <a:t> API và Microsoft </a:t>
            </a:r>
            <a:r>
              <a:rPr lang="vi-VN" b="1" dirty="0" err="1"/>
              <a:t>Graph</a:t>
            </a:r>
            <a:r>
              <a:rPr lang="vi-VN" b="1" dirty="0"/>
              <a:t> API.</a:t>
            </a:r>
          </a:p>
          <a:p>
            <a:endParaRPr lang="vi-VN" b="1" dirty="0"/>
          </a:p>
          <a:p>
            <a:r>
              <a:rPr lang="vi-VN" b="1" dirty="0"/>
              <a:t>Khi làm việc với dữ liệu </a:t>
            </a:r>
            <a:r>
              <a:rPr lang="vi-VN" b="1" dirty="0" err="1"/>
              <a:t>email</a:t>
            </a:r>
            <a:r>
              <a:rPr lang="vi-VN" b="1" dirty="0"/>
              <a:t> nhạy cảm, điều quan trọng là phải đảm bảo áp dụng các biện pháp bảo mật phù hợp, chẳng hạn như sử dụng kết nối được mã hóa và triển khai cơ chế xác thực phù hợp.</a:t>
            </a:r>
          </a:p>
          <a:p>
            <a:endParaRPr lang="vi-VN" b="1" dirty="0"/>
          </a:p>
          <a:p>
            <a:r>
              <a:rPr lang="vi-VN" b="1" dirty="0"/>
              <a:t>Việc sử dụng các thư viện và công cụ </a:t>
            </a:r>
            <a:r>
              <a:rPr lang="vi-VN" b="1" dirty="0" err="1"/>
              <a:t>Python</a:t>
            </a:r>
            <a:r>
              <a:rPr lang="vi-VN" b="1" dirty="0"/>
              <a:t> để gửi </a:t>
            </a:r>
            <a:r>
              <a:rPr lang="vi-VN" b="1" dirty="0" err="1"/>
              <a:t>email</a:t>
            </a:r>
            <a:r>
              <a:rPr lang="vi-VN" b="1" dirty="0"/>
              <a:t> không chỉ giới hạn trong giao tiếp </a:t>
            </a:r>
            <a:r>
              <a:rPr lang="vi-VN" b="1" dirty="0" err="1"/>
              <a:t>email</a:t>
            </a:r>
            <a:r>
              <a:rPr lang="vi-VN" b="1" dirty="0"/>
              <a:t> truyền thống. </a:t>
            </a:r>
            <a:r>
              <a:rPr lang="vi-VN" b="1" dirty="0" err="1"/>
              <a:t>Python</a:t>
            </a:r>
            <a:r>
              <a:rPr lang="vi-VN" b="1" dirty="0"/>
              <a:t> cũng có thể được sử dụng cho các hình thức giao tiếp khác, chẳng hạn như gửi tin nhắn SMS hoặc tương tác với các nền tảng nhắn tin như </a:t>
            </a:r>
            <a:r>
              <a:rPr lang="vi-VN" b="1" dirty="0" err="1"/>
              <a:t>Slack</a:t>
            </a:r>
            <a:r>
              <a:rPr lang="vi-VN" b="1" dirty="0"/>
              <a:t> hoặc Microsoft </a:t>
            </a:r>
            <a:r>
              <a:rPr lang="vi-VN" b="1" dirty="0" err="1"/>
              <a:t>Teams</a:t>
            </a:r>
            <a:r>
              <a:rPr lang="vi-VN" b="1" dirty="0"/>
              <a:t>.</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115</TotalTime>
  <Words>1597</Words>
  <Application>Microsoft Office PowerPoint</Application>
  <PresentationFormat>Widescreen</PresentationFormat>
  <Paragraphs>189</Paragraphs>
  <Slides>14</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Aptos</vt:lpstr>
      <vt:lpstr>Arial</vt:lpstr>
      <vt:lpstr>Courier New</vt:lpstr>
      <vt:lpstr>Google Sans Code</vt:lpstr>
      <vt:lpstr>Stencil</vt:lpstr>
      <vt:lpstr>Times New Roman</vt:lpstr>
      <vt:lpstr>Trebuchet MS</vt:lpstr>
      <vt:lpstr>Webdings</vt:lpstr>
      <vt:lpstr>Wingdings</vt:lpstr>
      <vt:lpstr>Wingdings 3</vt:lpstr>
      <vt:lpstr>Facet</vt:lpstr>
      <vt:lpstr>PowerPoint Presentation</vt:lpstr>
      <vt:lpstr>Objectives</vt:lpstr>
      <vt:lpstr>Gửi email là gì?</vt:lpstr>
      <vt:lpstr>Email được sử dụng ở đâu?</vt:lpstr>
      <vt:lpstr>Kỹ năng cơ bản cần thiết để thực hiện tự động hóa email [1-2]</vt:lpstr>
      <vt:lpstr>Kỹ năng cơ bản cần thiết để thực hiện tự động hóa email [2-2]</vt:lpstr>
      <vt:lpstr>Các bước cơ bản để tự động hóa email bằng Python</vt:lpstr>
      <vt:lpstr>Thư viện và công cụ Python để tự động họa email</vt:lpstr>
      <vt:lpstr>Ví dụ</vt:lpstr>
      <vt:lpstr>Ví dụ 1</vt:lpstr>
      <vt:lpstr>Ví dụ 2</vt:lpstr>
      <vt:lpstr>Ví dụ 3</vt:lpstr>
      <vt:lpstr>Tổng kết [1-2]</vt:lpstr>
      <vt:lpstr>Tổng kết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Ngô Văn Hưng</dc:creator>
  <cp:lastModifiedBy>Ngô Văn Hưng</cp:lastModifiedBy>
  <cp:revision>2</cp:revision>
  <dcterms:created xsi:type="dcterms:W3CDTF">2025-11-02T04:35:31Z</dcterms:created>
  <dcterms:modified xsi:type="dcterms:W3CDTF">2025-11-02T08:51:47Z</dcterms:modified>
</cp:coreProperties>
</file>